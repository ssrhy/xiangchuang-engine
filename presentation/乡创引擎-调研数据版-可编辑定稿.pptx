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f83eda5f944b61" /><Relationship Type="http://schemas.openxmlformats.org/officeDocument/2006/relationships/extended-properties" Target="/docProps/app.xml" Id="R283acd597f354d98" /><Relationship Type="http://schemas.openxmlformats.org/officeDocument/2006/relationships/officeDocument" Target="/ppt/presentation.xml" Id="R6a7fab0b2f514a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68e82d88394be4"/>
  </p:sldMasterIdLst>
  <p:notesMasterIdLst>
    <p:notesMasterId xmlns:r="http://schemas.openxmlformats.org/officeDocument/2006/relationships" r:id="R40ec21d7b5b1464c"/>
  </p:notesMasterIdLst>
  <p:sldIdLst>
    <p:sldId xmlns:r="http://schemas.openxmlformats.org/officeDocument/2006/relationships" id="256" r:id="Re64889b71876417d"/>
    <p:sldId xmlns:r="http://schemas.openxmlformats.org/officeDocument/2006/relationships" id="257" r:id="R7b35737407de48ab"/>
    <p:sldId xmlns:r="http://schemas.openxmlformats.org/officeDocument/2006/relationships" id="258" r:id="R5d2e195d20084e22"/>
    <p:sldId xmlns:r="http://schemas.openxmlformats.org/officeDocument/2006/relationships" id="259" r:id="Rd5ed935fdea040b2"/>
    <p:sldId xmlns:r="http://schemas.openxmlformats.org/officeDocument/2006/relationships" id="260" r:id="R70464fed3a0c48fc"/>
    <p:sldId xmlns:r="http://schemas.openxmlformats.org/officeDocument/2006/relationships" id="261" r:id="Ra989a204d5fa4c02"/>
    <p:sldId xmlns:r="http://schemas.openxmlformats.org/officeDocument/2006/relationships" id="262" r:id="R914bf12481f34a23"/>
    <p:sldId xmlns:r="http://schemas.openxmlformats.org/officeDocument/2006/relationships" id="263" r:id="R27bc60c7c1b84adb"/>
    <p:sldId xmlns:r="http://schemas.openxmlformats.org/officeDocument/2006/relationships" id="264" r:id="R8d7dc013380c45d2"/>
    <p:sldId xmlns:r="http://schemas.openxmlformats.org/officeDocument/2006/relationships" id="265" r:id="R67b943d13c044957"/>
    <p:sldId xmlns:r="http://schemas.openxmlformats.org/officeDocument/2006/relationships" id="266" r:id="R34ce4d34e07a4ac7"/>
    <p:sldId xmlns:r="http://schemas.openxmlformats.org/officeDocument/2006/relationships" id="267" r:id="Rb23af2f977544de6"/>
    <p:sldId xmlns:r="http://schemas.openxmlformats.org/officeDocument/2006/relationships" id="268" r:id="R8cac1de216984aff"/>
    <p:sldId xmlns:r="http://schemas.openxmlformats.org/officeDocument/2006/relationships" id="269" r:id="R3f96934c578e4d68"/>
    <p:sldId xmlns:r="http://schemas.openxmlformats.org/officeDocument/2006/relationships" id="270" r:id="Rd70457b1423e46f7"/>
    <p:sldId xmlns:r="http://schemas.openxmlformats.org/officeDocument/2006/relationships" id="271" r:id="R7fef20c9dec649f7"/>
    <p:sldId xmlns:r="http://schemas.openxmlformats.org/officeDocument/2006/relationships" id="272" r:id="R8836a2d9b1424749"/>
    <p:sldId xmlns:r="http://schemas.openxmlformats.org/officeDocument/2006/relationships" id="273" r:id="R104630ce932a49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2ee8a81b2943c5" /><Relationship Type="http://schemas.openxmlformats.org/officeDocument/2006/relationships/slideMaster" Target="/ppt/slideMasters/slideMaster1.xml" Id="R1468e82d88394be4" /><Relationship Type="http://schemas.openxmlformats.org/officeDocument/2006/relationships/notesMaster" Target="/ppt/notesMasters/notesMaster1.xml" Id="R40ec21d7b5b1464c" /><Relationship Type="http://schemas.openxmlformats.org/officeDocument/2006/relationships/presProps" Target="/ppt/presProps.xml" Id="Rf629bc04008a4b01" /><Relationship Type="http://schemas.openxmlformats.org/officeDocument/2006/relationships/tableStyles" Target="/ppt/tableStyles.xml" Id="R84b03372ff3d409e" /><Relationship Type="http://schemas.openxmlformats.org/officeDocument/2006/relationships/slide" Target="/ppt/slides/slide1.xml" Id="Re64889b71876417d" /><Relationship Type="http://schemas.openxmlformats.org/officeDocument/2006/relationships/slide" Target="/ppt/slides/slide2.xml" Id="R7b35737407de48ab" /><Relationship Type="http://schemas.openxmlformats.org/officeDocument/2006/relationships/slide" Target="/ppt/slides/slide3.xml" Id="R5d2e195d20084e22" /><Relationship Type="http://schemas.openxmlformats.org/officeDocument/2006/relationships/slide" Target="/ppt/slides/slide4.xml" Id="Rd5ed935fdea040b2" /><Relationship Type="http://schemas.openxmlformats.org/officeDocument/2006/relationships/slide" Target="/ppt/slides/slide5.xml" Id="R70464fed3a0c48fc" /><Relationship Type="http://schemas.openxmlformats.org/officeDocument/2006/relationships/slide" Target="/ppt/slides/slide6.xml" Id="Ra989a204d5fa4c02" /><Relationship Type="http://schemas.openxmlformats.org/officeDocument/2006/relationships/slide" Target="/ppt/slides/slide7.xml" Id="R914bf12481f34a23" /><Relationship Type="http://schemas.openxmlformats.org/officeDocument/2006/relationships/slide" Target="/ppt/slides/slide8.xml" Id="R27bc60c7c1b84adb" /><Relationship Type="http://schemas.openxmlformats.org/officeDocument/2006/relationships/slide" Target="/ppt/slides/slide9.xml" Id="R8d7dc013380c45d2" /><Relationship Type="http://schemas.openxmlformats.org/officeDocument/2006/relationships/slide" Target="/ppt/slides/slide10.xml" Id="R67b943d13c044957" /><Relationship Type="http://schemas.openxmlformats.org/officeDocument/2006/relationships/slide" Target="/ppt/slides/slide11.xml" Id="R34ce4d34e07a4ac7" /><Relationship Type="http://schemas.openxmlformats.org/officeDocument/2006/relationships/slide" Target="/ppt/slides/slide12.xml" Id="Rb23af2f977544de6" /><Relationship Type="http://schemas.openxmlformats.org/officeDocument/2006/relationships/slide" Target="/ppt/slides/slide13.xml" Id="R8cac1de216984aff" /><Relationship Type="http://schemas.openxmlformats.org/officeDocument/2006/relationships/slide" Target="/ppt/slides/slide14.xml" Id="R3f96934c578e4d68" /><Relationship Type="http://schemas.openxmlformats.org/officeDocument/2006/relationships/slide" Target="/ppt/slides/slide15.xml" Id="Rd70457b1423e46f7" /><Relationship Type="http://schemas.openxmlformats.org/officeDocument/2006/relationships/slide" Target="/ppt/slides/slide16.xml" Id="R7fef20c9dec649f7" /><Relationship Type="http://schemas.openxmlformats.org/officeDocument/2006/relationships/slide" Target="/ppt/slides/slide17.xml" Id="R8836a2d9b1424749" /><Relationship Type="http://schemas.openxmlformats.org/officeDocument/2006/relationships/slide" Target="/ppt/slides/slide18.xml" Id="R104630ce932a49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169befefde4c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2e27ce36be42ea" /><Relationship Type="http://schemas.openxmlformats.org/officeDocument/2006/relationships/notesMaster" Target="/ppt/notesMasters/notesMaster1.xml" Id="R14ef62f052a243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15957700754be1" /><Relationship Type="http://schemas.openxmlformats.org/officeDocument/2006/relationships/notesMaster" Target="/ppt/notesMasters/notesMaster1.xml" Id="Ref0659128c3042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9421a7e489476b" /><Relationship Type="http://schemas.openxmlformats.org/officeDocument/2006/relationships/notesMaster" Target="/ppt/notesMasters/notesMaster1.xml" Id="R928521d311e642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24ff76236b4134" /><Relationship Type="http://schemas.openxmlformats.org/officeDocument/2006/relationships/notesMaster" Target="/ppt/notesMasters/notesMaster1.xml" Id="Rc846214e3a824d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739eca8be44f55" /><Relationship Type="http://schemas.openxmlformats.org/officeDocument/2006/relationships/notesMaster" Target="/ppt/notesMasters/notesMaster1.xml" Id="Rbd2b9fe80f1949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dfbd6768f448e2" /><Relationship Type="http://schemas.openxmlformats.org/officeDocument/2006/relationships/notesMaster" Target="/ppt/notesMasters/notesMaster1.xml" Id="Re3960895628148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aff9710f564892" /><Relationship Type="http://schemas.openxmlformats.org/officeDocument/2006/relationships/notesMaster" Target="/ppt/notesMasters/notesMaster1.xml" Id="R57009d584aad47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a01cbf53364424" /><Relationship Type="http://schemas.openxmlformats.org/officeDocument/2006/relationships/notesMaster" Target="/ppt/notesMasters/notesMaster1.xml" Id="Racb070ace58c4f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ce68682d544d83" /><Relationship Type="http://schemas.openxmlformats.org/officeDocument/2006/relationships/notesMaster" Target="/ppt/notesMasters/notesMaster1.xml" Id="R2cf812ce0fc5429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daa88ef9cd24bc2" /><Relationship Type="http://schemas.openxmlformats.org/officeDocument/2006/relationships/notesMaster" Target="/ppt/notesMasters/notesMaster1.xml" Id="Rea656c518562487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82f6ec0ddf74533" /><Relationship Type="http://schemas.openxmlformats.org/officeDocument/2006/relationships/notesMaster" Target="/ppt/notesMasters/notesMaster1.xml" Id="R52a81b7be8a74cf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6e10198b1524370" /><Relationship Type="http://schemas.openxmlformats.org/officeDocument/2006/relationships/notesMaster" Target="/ppt/notesMasters/notesMaster1.xml" Id="Rdb38c447732c4eb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4ac7f29c70347c8" /><Relationship Type="http://schemas.openxmlformats.org/officeDocument/2006/relationships/notesMaster" Target="/ppt/notesMasters/notesMaster1.xml" Id="R2e17716cd0124cb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7ccffd423ca4f72" /><Relationship Type="http://schemas.openxmlformats.org/officeDocument/2006/relationships/notesMaster" Target="/ppt/notesMasters/notesMaster1.xml" Id="Re4b8eeceb7a7413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87e3ab6f3fe4e3a" /><Relationship Type="http://schemas.openxmlformats.org/officeDocument/2006/relationships/notesMaster" Target="/ppt/notesMasters/notesMaster1.xml" Id="R1b52adcad25644a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caf6e9e23454d96" /><Relationship Type="http://schemas.openxmlformats.org/officeDocument/2006/relationships/notesMaster" Target="/ppt/notesMasters/notesMaster1.xml" Id="R1e2ed94ad5b4403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f1056ec46d443ce" /><Relationship Type="http://schemas.openxmlformats.org/officeDocument/2006/relationships/notesMaster" Target="/ppt/notesMasters/notesMaster1.xml" Id="R769b3b27b2ab4bf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ce82da6341e4690" /><Relationship Type="http://schemas.openxmlformats.org/officeDocument/2006/relationships/notesMaster" Target="/ppt/notesMasters/notesMaster1.xml" Id="Rd9de14f93be149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10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大家好，这是乡创引擎，一个面向农户的 AI 卖货助手。今天跟着肇庆的陈叔，看它怎样围绕一箱贡柑，准备宣传图、营销文案和客户回复。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产品设计中的在线 Agent 负责协调图像、文案、回复和检查工具；本次前端使用 AI 提前创作素材与规则式模拟回复呈现流程，未接在线模型。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资料：项目 README、src/main.tsx、src/state.ts 与 demo-data.json。陈叔和发布页面为情境模拟，图片来源说明见附录。图片稿与可编辑稿由同一份图层记录生成。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20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2025 年，全国农产品网络零售额达到七千八百三十三亿元，同比增长百分之九点九。到年底，农村互联网普及率达到百分之六十九点五。这说明线上销售有现实场景，也有手机触达基础。项目关注的是，农户怎样把第一套卖货内容准备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市场规模是全国农产品网上销售额，并非本项目营收或可获得市场份额。互联网普及率对象为农村居民，并非农户经营能力。</a:t>
            </a:r>
          </a:p>
          <a:p xmlns:a="http://schemas.openxmlformats.org/drawingml/2006/main">
            <a:r>
              <a:t>来源：[1] https://www.xinhuanet.com.cn/20260205/c95fd9a299d84b45a6474dbbd33cd387/c.html</a:t>
            </a:r>
          </a:p>
          <a:p xmlns:a="http://schemas.openxmlformats.org/drawingml/2006/main">
            <a:r>
              <a:t>[2] https://www.mofcom.gov.cn/syxwfb/art/2026/art_f8416017c8e24d1f83160afcf0303e10.html</a:t>
            </a:r>
          </a:p>
          <a:p xmlns:a="http://schemas.openxmlformats.org/drawingml/2006/main">
            <a:r>
              <a:t>[3] https://www.cnnic.net.cn/NMediaFile/2026/0304/MAIN1772588317069TUXN3827X8.pdf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资料：项目 README、src/main.tsx、src/state.ts 与 demo-data.json。陈叔和发布页面为情境模拟，图片来源说明见附录。图片稿与可编辑稿由同一份图层记录生成。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25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网信部门发布的报告显示，农村成年人具备初级及以上数字素养与技能的比例，比城镇低十五点三五个百分点。湘粤地区五百二十八份农户调查研究，也支持数字素养与电商参与之间的联系。因此，我们把简单步骤、具体指引和人工辅导作为设计原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图中数据为 2024 年报告的 18—69 周岁成年人分类比例；全国有效样本为 272 万份，含成年人和未成年人，不能写成农村样本量。城镇 65.92%、农村 50.57%；差值 65.92-50.57=15.35 个百分点。柱形统一 0—100% 比例，用原生图形实现，可编辑数值与条形。</a:t>
            </a:r>
          </a:p>
          <a:p xmlns:a="http://schemas.openxmlformats.org/drawingml/2006/main">
            <a:r>
              <a:t>报告：https://www.cac.gov.cn/rootimages/uploadimg/1731546601041335/1731546601041335.pdf</a:t>
            </a:r>
          </a:p>
          <a:p xmlns:a="http://schemas.openxmlformats.org/drawingml/2006/main">
            <a:r>
              <a:t>湘粤研究：https://skxb.hunau.edu.cn/hnnydxxbsk/article/abstract/202306003?st=search</a:t>
            </a:r>
          </a:p>
          <a:p xmlns:a="http://schemas.openxmlformats.org/drawingml/2006/main">
            <a:r>
              <a:t>2023 年发表，样本 528 份，属于公开二手研究，不是项目团队访谈。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资料：项目 README、src/main.tsx、src/state.ts 与 demo-data.json。陈叔和发布页面为情境模拟，图片来源说明见附录。图片稿与可编辑稿由同一份图层记录生成。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20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把数字能力问题落到一次卖货任务，我们聚焦三件事：照片怎么排成宣传图，商品怎么介绍，客户来了怎么回复。这些是基于公开研究和产品流程提出的任务分析。接下来用陈叔的模拟案例，把每一步做给大家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研究依据：https://skxb.hunau.edu.cn/hnnydxxbsk/article/abstract/202306003?st=search</a:t>
            </a:r>
          </a:p>
          <a:p xmlns:a="http://schemas.openxmlformats.org/drawingml/2006/main">
            <a:r>
              <a:t>该研究支持数字素养、培训与电商参与的关系，并没有直接测量三个具体任务的困难占比。本页引号为任务场景示例，不是真人访谈。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资料：项目 README、src/main.tsx、src/state.ts 与 demo-data.json。陈叔和发布页面为情境模拟，图片来源说明见附录。图片稿与可编辑稿由同一份图层记录生成。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20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陈叔选整体图和细节图，填写贡柑家庭装、广东肇庆、三公斤一盒、五十九元，再说明只做本地自提。不会写营销词没关系，先把知道的信息说清楚。不知道的留待确认，不能靠照片猜出认证和品质。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界面依据现有前端 main.tsx、style.css 和 state.ts 的页面、字段和按钮重排，以便投影阅读；不是浏览器截图。操作标记为讲解叠加层。页面上的填写与勾选为陈叔模拟案例。本页压缩呈现两步填写的关键信息。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资料：项目 README、src/main.tsx、src/state.ts 与 demo-data.json。陈叔和发布页面为情境模拟，图片来源说明见附录。图片稿与可编辑稿由同一份图层记录生成。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25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我们把 Agent 设计成一个卖货任务的协调者。陈叔只表达一次目标，它先确认商品资料，再安排宣传图、文案和回复三个任务。三个任务共用同一份事实：价格是多少、卖给谁、怎么拿。产出后再核对，让农户确认使用。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产品设计中的在线 Agent 负责协调图像、文案、回复和检查工具；本次前端使用 AI 提前创作素材与规则式模拟回复呈现流程，未接在线模型。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资料：项目 README、src/main.tsx、src/state.ts 与 demo-data.json。陈叔和发布页面为情境模拟，图片来源说明见附录。图片稿与可编辑稿由同一份图层记录生成。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20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图。陈叔提供产品照片，内容任务围绕家庭水果盘这个场景，准备一张生活化宣传图，再做小红书封面和朋友圈方图。图上只放顾客需要的重点：贡柑家庭装、三公斤一盒、五十九元、本地自提。真实使用时，要让农户检查画面和实物是否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场景图是项目此前通过 image_gen 提前生成的实际图像，卡片以完整中文字库重新排版。本次前端运行时读取静态 PNG；主封面的文本与图片在 PPT 中另以原生对象重建。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资料：项目 README、src/main.tsx、src/state.ts 与 demo-data.json。陈叔和发布页面为情境模拟，图片来源说明见附录。图片稿与可编辑稿由同一份图层记录生成。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30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案的重点，是替陈叔找到一个自然的开口：“肇庆的邻居，这盒贡柑想留给你。”接着用他会说的话，讲自己吃、和邻居分的场景。后面把规格、价格和取货安排说清楚。我们追求更愿意被读下去的表达，实际传播效果要通过发布实验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页上为已预写 AI 全文的节选；完整稿附交付讲稿。标题不超过 20 字，6 个相关话题。爆款指内容创作方向，不代表已取得阅读量或成交。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资料：项目 README、src/main.tsx、src/state.ts 与 demo-data.json。陈叔和发布页面为情境模拟，图片来源说明见附录。图片稿与可编辑稿由同一份图层记录生成。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25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一箱贡柑，两个渠道各写一篇。小红书先吸引附近可能不认识陈叔的人，再介绍产品；朋友圈更像平时告诉熟人：“家里添盒贡柑的，可以问我。”陈叔保存图片、复制文案，核对之后，在自己的账号里手动发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展示为发布内容预览，不是平台真实发帖或流量记录。具体平台按钮以本人使用的版本为准。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资料：项目 README、src/main.tsx、src/state.ts 与 demo-data.json。陈叔和发布页面为情境模拟，图片来源说明见附录。图片稿与可编辑稿由同一份图层记录生成。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25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客户问五十九是一斤还是一盒，回复就查规格和价格：一盒三公斤，五十九元。问广州能不能寄，就按资料说明目前本地自提。想要两盒明天下午拿，先确认数量、地点和时间。遇到资料里没有的折扣和承诺，要请陈叔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界面依据现有前端 main.tsx、style.css 和 state.ts 的页面、字段和按钮重排，以便投影阅读；不是浏览器截图。操作标记为讲解叠加层。页面上的填写与勾选为陈叔模拟案例。当前模拟客服按关键词和商品快照组织建议；目标 Agent 复用同一份商品事实。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资料：项目 README、src/main.tsx、src/state.ts 与 demo-data.json。陈叔和发布页面为情境模拟，图片来源说明见附录。图片稿与可编辑稿由同一份图层记录生成。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20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这里故意放一个错误：档案是五十九元，正文却写成九十九元。现有规则会提示价格冲突，由陈叔改回，再运行检查。商品本身改价后，旧方案也会提示更新。让图、文、回复都对应当前资料，是整个 Agent 设计的重要约束。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规则检查不等于核验证书真伪或商品品质；当前由用户人工修正。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资料：项目 README、src/main.tsx、src/state.ts 与 demo-data.json。陈叔和发布页面为情境模拟，图片来源说明见附录。图片稿与可编辑稿由同一份图层记录生成。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20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推广从合作社切入。首轮目标是一家合作社、十位农户，带自己的产品完成一次准备。我们记录哪一步要人帮、花多久、改几次、愿不愿意发。合作社订阅与培训作为服务设计，再结合人工审核和未来模型成本验证可持续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试点规模是建议目标；没有虚构签约、使用数据、营业收入或销售增长。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资料：项目 README、src/main.tsx、src/state.ts 与 demo-data.json。陈叔和发布页面为情境模拟，图片来源说明见附录。图片稿与可编辑稿由同一份图层记录生成。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25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一步计划让一家合作社的十位农户，各带真实产品完成同一个任务。记录能否独立完成、用了多久、哪一步求助，以及事实和表达各改了几次。准备效果、发布意愿、实际传播和付费意愿分别验证，不用界面能操作代替真实使用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本页是拟开展的试点与指标设计，没有真实受试农户或结果。独立完成率分子须排除他人代操作，分母与退出情况均需保留。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资料：项目 README、src/main.tsx、src/state.ts 与 demo-data.json。陈叔和发布页面为情境模拟，图片来源说明见附录。图片稿与可编辑稿由同一份图层记录生成。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15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陈叔带来一箱贡柑，最后带走的是能发的图、顺口的文案和回答客户的话。乡创引擎希望用 AI Agent，把这份卖货准备带到更多农户身边。谢谢大家。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资料：项目 README、src/main.tsx、src/state.ts 与 demo-data.json。陈叔和发布页面为情境模拟，图片来源说明见附录。图片稿与可编辑稿由同一份图层记录生成。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答辩备用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按市场规模、互联网触达、数字能力和区域农户研究四类使用。全国和区域研究提供背景与设计依据，陈叔用于模拟讲解，项目试用将补充一手证据。不能把研究样本说成团队访谈，也不能用大市场规模推算未经验证的收费收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[1] 新华社 2026-02-05 据商务部：https://www.xinhuanet.com.cn/20260205/c95fd9a299d84b45a6474dbbd33cd387/c.html</a:t>
            </a:r>
          </a:p>
          <a:p xmlns:a="http://schemas.openxmlformats.org/drawingml/2006/main">
            <a:r>
              <a:t>商务部增速依据：https://www.mofcom.gov.cn/syxwfb/art/2026/art_f8416017c8e24d1f83160afcf0303e10.html</a:t>
            </a:r>
          </a:p>
          <a:p xmlns:a="http://schemas.openxmlformats.org/drawingml/2006/main">
            <a:r>
              <a:t>[2] CNNIC 第 57 次报告：https://www.cnnic.net.cn/NMediaFile/2026/0304/MAIN1772588317069TUXN3827X8.pdf</a:t>
            </a:r>
          </a:p>
          <a:p xmlns:a="http://schemas.openxmlformats.org/drawingml/2006/main">
            <a:r>
              <a:t>[3] 国家网信办信息化发展局指导，2024 年 10 月报告，表 2：https://www.cac.gov.cn/rootimages/uploadimg/1731546601041335/1731546601041335.pdf</a:t>
            </a:r>
          </a:p>
          <a:p xmlns:a="http://schemas.openxmlformats.org/drawingml/2006/main">
            <a:r>
              <a:t>[4] 杨佳利、吴从亮，2023，《湖南农业大学学报（社会科学版）》24(6):23-34，DOI:10.13331/j.cnki.jhau(ss).2023.06.003：https://skxb.hunau.edu.cn/hnnydxxbsk/article/abstract/202306003?st=search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资料：项目 README、src/main.tsx、src/state.ts 与 demo-data.json。陈叔和发布页面为情境模拟，图片来源说明见附录。图片稿与可编辑稿由同一份图层记录生成。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答辩备用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技术设计围绕同一份商品事实与版本展开。Agent 接受目标，协调图像、文案、回复和检查工具；前端让农户核对和修改。当前实现是 React、TypeScript、Vite 的本地原型，内容预写和模拟客服用于演示；在线模型、后端存储和协作调度仍在建设方向中。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产品设计中的在线 Agent 负责协调图像、文案、回复和检查工具；本次前端使用 AI 提前创作素材与规则式模拟回复呈现流程，未接在线模型。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资料：项目 README、src/main.tsx、src/state.ts 与 demo-data.json。陈叔和发布页面为情境模拟，图片来源说明见附录。图片稿与可编辑稿由同一份图层记录生成。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答辩备用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陈叔的全部产品信息来自 demo-data.json 中的贡柑案例。人物和产品视觉由 AI 生成，不是真实农户或品质证明。营销文案来自 AI 提前创作的完整稿。主讲没有真实发布、咨询或成交记录。其他两个案例只说明演示品类范围。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原始生成来源见 public/demo/citrus/ASSETS.md；固定文案见 public/demo/citrus/固定文案.md。主讲宣传封面与 PDF 使用重新排版版本，不等同于旧前端 PNG 的字形显示。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资料：项目 README、src/main.tsx、src/state.ts 与 demo-data.json。陈叔和发布页面为情境模拟，图片来源说明见附录。图片稿与可编辑稿由同一份图层记录生成。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答辩备用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本套保留可追问的实现边界：素材与客服目前按演示方式运行，在线 Agent 是产品建设方案。试点记录任务完成过程和使用意愿，再讨论营销效果与付费。没有真实数据的地方不填结果，不把模型接入计划当作已部署能力。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产品设计中的在线 Agent 负责协调图像、文案、回复和检查工具；本次前端使用 AI 提前创作素材与规则式模拟回复呈现流程，未接在线模型。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资料：项目 README、src/main.tsx、src/state.ts 与 demo-data.json。陈叔和发布页面为情境模拟，图片来源说明见附录。图片稿与可编辑稿由同一份图层记录生成。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46772ad51d4f9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f20eb2643d491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be57556d8d49d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ea8ed883bd448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b8028765d4459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5d819af6cb4b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040038C-8C22-4BF1-AF45-16EDCF6E19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82CBFAE-F664-49AF-B4C7-92E21BA70C4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3224130-B05C-421A-8E9A-EB4C402E84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1E37DE5-399E-4BC8-A11A-E216C4DFB4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8CFFDCE-BE4F-451B-B176-9F6A7B6E33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EFC106D-36B8-4BAD-80A2-FD1ADAE5AF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106D4D6-5A65-4B54-A5FB-9B87219842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FF31FF9-6DD1-4F59-B4AD-2BBEA953BE9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6D5CBB-93C4-49A6-B21E-27F61D7E47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B26BCC7-CA9B-4740-9CE0-9321B77C73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3d07a20fd7450f" /><Relationship Type="http://schemas.openxmlformats.org/officeDocument/2006/relationships/slideLayout" Target="/ppt/slideLayouts/slideLayout1.xml" Id="Rd5fa3ced22a0440b" /><Relationship Type="http://schemas.openxmlformats.org/officeDocument/2006/relationships/slideLayout" Target="/ppt/slideLayouts/slideLayout2.xml" Id="R8edd73cb03314bec" /><Relationship Type="http://schemas.openxmlformats.org/officeDocument/2006/relationships/slideLayout" Target="/ppt/slideLayouts/slideLayout3.xml" Id="R3bcc8865fff145b2" /><Relationship Type="http://schemas.openxmlformats.org/officeDocument/2006/relationships/slideLayout" Target="/ppt/slideLayouts/slideLayout4.xml" Id="Rfca60a5412f34675" /><Relationship Type="http://schemas.openxmlformats.org/officeDocument/2006/relationships/slideLayout" Target="/ppt/slideLayouts/slideLayout5.xml" Id="R3c044c6b06894d44" /><Relationship Type="http://schemas.openxmlformats.org/officeDocument/2006/relationships/slideLayout" Target="/ppt/slideLayouts/slideLayout6.xml" Id="Rac3709bc391d45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fa3ced22a0440b"/>
    <p:sldLayoutId xmlns:r="http://schemas.openxmlformats.org/officeDocument/2006/relationships" id="2147483650" r:id="R8edd73cb03314bec"/>
    <p:sldLayoutId xmlns:r="http://schemas.openxmlformats.org/officeDocument/2006/relationships" id="2147483651" r:id="R3bcc8865fff145b2"/>
    <p:sldLayoutId xmlns:r="http://schemas.openxmlformats.org/officeDocument/2006/relationships" id="2147483652" r:id="Rfca60a5412f34675"/>
    <p:sldLayoutId xmlns:r="http://schemas.openxmlformats.org/officeDocument/2006/relationships" id="2147483653" r:id="R3c044c6b06894d44"/>
    <p:sldLayoutId xmlns:r="http://schemas.openxmlformats.org/officeDocument/2006/relationships" id="2147483654" r:id="Rac3709bc391d45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383f315a6a4630" /><Relationship Type="http://schemas.openxmlformats.org/officeDocument/2006/relationships/image" Target="/ppt/media/image.png" Id="R3483a3544b2a4b76" /><Relationship Type="http://schemas.openxmlformats.org/officeDocument/2006/relationships/image" Target="/ppt/media/image2.png" Id="R106644d38cca46e8" /><Relationship Type="http://schemas.openxmlformats.org/officeDocument/2006/relationships/notesSlide" Target="/ppt/notesSlides/notesSlide1.xml" Id="Re61acac2a2af4c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507b3ad80f43af" /><Relationship Type="http://schemas.openxmlformats.org/officeDocument/2006/relationships/notesSlide" Target="/ppt/notesSlides/notesSlide2.xml" Id="R527a6d14a02b44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ab5215a41a4633" /><Relationship Type="http://schemas.openxmlformats.org/officeDocument/2006/relationships/notesSlide" Target="/ppt/notesSlides/notesSlide3.xml" Id="R92210aff2c914a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49a8657f794621" /><Relationship Type="http://schemas.openxmlformats.org/officeDocument/2006/relationships/notesSlide" Target="/ppt/notesSlides/notesSlide4.xml" Id="R210d46cc2b1c44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9e13c807894e83" /><Relationship Type="http://schemas.openxmlformats.org/officeDocument/2006/relationships/image" Target="/ppt/media/image3.png" Id="R7a95bd48d85f4b4d" /><Relationship Type="http://schemas.openxmlformats.org/officeDocument/2006/relationships/image" Target="/ppt/media/image4.png" Id="R82f4c14cc8024222" /><Relationship Type="http://schemas.openxmlformats.org/officeDocument/2006/relationships/notesSlide" Target="/ppt/notesSlides/notesSlide5.xml" Id="Rac509b234dad44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e55da451c6492a" /><Relationship Type="http://schemas.openxmlformats.org/officeDocument/2006/relationships/notesSlide" Target="/ppt/notesSlides/notesSlide6.xml" Id="R302a2e361a3646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6079c07a834929" /><Relationship Type="http://schemas.openxmlformats.org/officeDocument/2006/relationships/image" Target="/ppt/media/image5.png" Id="R1115ea742033463d" /><Relationship Type="http://schemas.openxmlformats.org/officeDocument/2006/relationships/image" Target="/ppt/media/image6.png" Id="R72c43c3c41a844e4" /><Relationship Type="http://schemas.openxmlformats.org/officeDocument/2006/relationships/image" Target="/ppt/media/image7.png" Id="Rdd3d201b29fa42ea" /><Relationship Type="http://schemas.openxmlformats.org/officeDocument/2006/relationships/notesSlide" Target="/ppt/notesSlides/notesSlide7.xml" Id="R65972325187549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17c4483b0545cc" /><Relationship Type="http://schemas.openxmlformats.org/officeDocument/2006/relationships/notesSlide" Target="/ppt/notesSlides/notesSlide8.xml" Id="R0ce0861fb4ff41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6c8f4e8f3343d9" /><Relationship Type="http://schemas.openxmlformats.org/officeDocument/2006/relationships/image" Target="/ppt/media/image8.png" Id="Ra573414251924066" /><Relationship Type="http://schemas.openxmlformats.org/officeDocument/2006/relationships/image" Target="/ppt/media/image9.png" Id="R98e204e24fff48d0" /><Relationship Type="http://schemas.openxmlformats.org/officeDocument/2006/relationships/notesSlide" Target="/ppt/notesSlides/notesSlide9.xml" Id="R0854589e2bea454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e114772df444fc" /><Relationship Type="http://schemas.openxmlformats.org/officeDocument/2006/relationships/notesSlide" Target="/ppt/notesSlides/notesSlide10.xml" Id="R34b97085536744e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0fff0906cf478c" /><Relationship Type="http://schemas.openxmlformats.org/officeDocument/2006/relationships/notesSlide" Target="/ppt/notesSlides/notesSlide11.xml" Id="Rdaabeb9e0b944dc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93d227ea9d4c39" /><Relationship Type="http://schemas.openxmlformats.org/officeDocument/2006/relationships/notesSlide" Target="/ppt/notesSlides/notesSlide12.xml" Id="Rc3debc05b7fb4be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35287bada04f6d" /><Relationship Type="http://schemas.openxmlformats.org/officeDocument/2006/relationships/notesSlide" Target="/ppt/notesSlides/notesSlide13.xml" Id="R18f9a4e39bab487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177a64515c4c60" /><Relationship Type="http://schemas.openxmlformats.org/officeDocument/2006/relationships/image" Target="/ppt/media/image10.png" Id="Ra4274a562db043c0" /><Relationship Type="http://schemas.openxmlformats.org/officeDocument/2006/relationships/image" Target="/ppt/media/image11.png" Id="R2807920620d24a14" /><Relationship Type="http://schemas.openxmlformats.org/officeDocument/2006/relationships/image" Target="/ppt/media/image12.png" Id="R75209afc6be74a42" /><Relationship Type="http://schemas.openxmlformats.org/officeDocument/2006/relationships/notesSlide" Target="/ppt/notesSlides/notesSlide14.xml" Id="R65a4c6abc7bf428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d503d1715e41ad" /><Relationship Type="http://schemas.openxmlformats.org/officeDocument/2006/relationships/notesSlide" Target="/ppt/notesSlides/notesSlide15.xml" Id="Rf20d78c17de4448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b0da54b7974c64" /><Relationship Type="http://schemas.openxmlformats.org/officeDocument/2006/relationships/notesSlide" Target="/ppt/notesSlides/notesSlide16.xml" Id="R352674b6d09741c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56607cd65746eb" /><Relationship Type="http://schemas.openxmlformats.org/officeDocument/2006/relationships/notesSlide" Target="/ppt/notesSlides/notesSlide17.xml" Id="R4dd8585894214c9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556d69acab47c9" /><Relationship Type="http://schemas.openxmlformats.org/officeDocument/2006/relationships/notesSlide" Target="/ppt/notesSlides/notesSlide18.xml" Id="R15d5c017e9cd4b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45B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5" name="模板 / 页眉页脚"/>
          <p:cNvGrpSpPr/>
          <p:nvPr/>
        </p:nvGrpSpPr>
        <p:grpSpPr>
          <ns1:xfrm xmlns:ns1="http://schemas.openxmlformats.org/drawingml/2006/main">
            <ns1:off x="685800" y="371475"/>
            <ns1:ext cx="10820400" cy="6334887"/>
            <ns1:chOff x="685800" y="371475"/>
            <ns1:chExt cx="10820400" cy="6334887"/>
          </ns1:xfrm>
        </p:grpSpPr>
        <p:sp>
          <p:nvSpPr>
            <p:cNvPr id="14" name="p1-rect-0">
              <a:extLst xmlns:a="http://schemas.openxmlformats.org/drawingml/2006/main">
                <a:ext uri="{FF2B5EF4-FFF2-40B4-BE49-F238E27FC236}">
                  <a16:creationId xmlns:a16="http://schemas.microsoft.com/office/drawing/2014/main" id="{8E4FC5DC-3969-401A-A06D-F4F5D11D424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371475"/>
              <a:ext cx="66675" cy="2190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9A3D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" name="p1-text-1">
              <a:extLst xmlns:a="http://schemas.openxmlformats.org/drawingml/2006/main">
                <a:ext uri="{FF2B5EF4-FFF2-40B4-BE49-F238E27FC236}">
                  <a16:creationId xmlns:a16="http://schemas.microsoft.com/office/drawing/2014/main" id="{04303C72-6981-4227-BE05-FD73AA993E7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85825" y="390525"/>
              <a:ext cx="8239125" cy="20116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00" b="1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200" b="1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200" b="1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200" b="1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200" b="1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200" b="1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200" b="1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200" b="1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200" b="1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200" b="1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200" b="1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00" b="1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rPr>
                <a:t>乡村振兴 / 创新创业项目路演</a:t>
              </a:r>
            </a:p>
          </p:txBody>
        </p:sp>
        <p:sp>
          <p:nvSpPr>
            <p:cNvPr id="3" name="p1-text-2">
              <a:extLst xmlns:a="http://schemas.openxmlformats.org/drawingml/2006/main">
                <a:ext uri="{FF2B5EF4-FFF2-40B4-BE49-F238E27FC236}">
                  <a16:creationId xmlns:a16="http://schemas.microsoft.com/office/drawing/2014/main" id="{CAE7A123-4AE0-4ACC-81B2-AC272E0648B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82200" y="381000"/>
              <a:ext cx="1524000" cy="21374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r">
                <a:defRPr sz="1275" b="1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r">
                <a:defRPr sz="1275" b="1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r">
                <a:defRPr sz="1275" b="1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r">
                <a:defRPr sz="1275" b="1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r">
                <a:defRPr sz="1275" b="1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r">
                <a:defRPr sz="1275" b="1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r">
                <a:defRPr sz="1275" b="1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r">
                <a:defRPr sz="1275" b="1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r">
                <a:defRPr sz="1275" b="1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r">
                <a:defRPr sz="1275" b="1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r">
                <a:defRPr sz="1275" b="1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75" b="1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rPr>
                <a:t>乡创引擎</a:t>
              </a:r>
            </a:p>
          </p:txBody>
        </p:sp>
        <p:sp>
          <p:nvSpPr>
            <p:cNvPr id="4" name="p1-rect-3">
              <a:extLst xmlns:a="http://schemas.openxmlformats.org/drawingml/2006/main">
                <a:ext uri="{FF2B5EF4-FFF2-40B4-BE49-F238E27FC236}">
                  <a16:creationId xmlns:a16="http://schemas.microsoft.com/office/drawing/2014/main" id="{4D2DD165-354A-4F62-80E3-9076A786196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6381750"/>
              <a:ext cx="10820400" cy="9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2745E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5" name="p1-text-4">
              <a:extLst xmlns:a="http://schemas.openxmlformats.org/drawingml/2006/main">
                <a:ext uri="{FF2B5EF4-FFF2-40B4-BE49-F238E27FC236}">
                  <a16:creationId xmlns:a16="http://schemas.microsoft.com/office/drawing/2014/main" id="{C2910919-8A5C-4460-87A7-733E4C44ECA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6505575"/>
              <a:ext cx="9429750" cy="16973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013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013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013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013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013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013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013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013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013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013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013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013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rPr>
                <a:t>农户身边的 AI 卖货助手</a:t>
              </a:r>
            </a:p>
          </p:txBody>
        </p:sp>
        <p:sp>
          <p:nvSpPr>
            <p:cNvPr id="6" name="p1-text-5">
              <a:extLst xmlns:a="http://schemas.openxmlformats.org/drawingml/2006/main">
                <a:ext uri="{FF2B5EF4-FFF2-40B4-BE49-F238E27FC236}">
                  <a16:creationId xmlns:a16="http://schemas.microsoft.com/office/drawing/2014/main" id="{7C5A0017-6285-41AC-A3FE-D677C12367A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029950" y="6467475"/>
              <a:ext cx="476250" cy="23888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r">
                <a:defRPr sz="1425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r">
                <a:defRPr sz="1425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r">
                <a:defRPr sz="1425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r">
                <a:defRPr sz="1425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r">
                <a:defRPr sz="1425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r">
                <a:defRPr sz="1425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r">
                <a:defRPr sz="1425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r">
                <a:defRPr sz="1425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r">
                <a:defRPr sz="1425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r">
                <a:defRPr sz="1425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r">
                <a:defRPr sz="1425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425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rPr>
                <a:t>01</a:t>
              </a:r>
            </a:p>
          </p:txBody>
        </p:sp>
      </p:grpSp>
      <p:grpSp>
        <p:nvGrpSpPr>
          <p:cNvPr id="16" name="演示主体"/>
          <p:cNvGrpSpPr/>
          <p:nvPr/>
        </p:nvGrpSpPr>
        <p:grpSpPr>
          <ns1:xfrm xmlns:ns1="http://schemas.openxmlformats.org/drawingml/2006/main">
            <ns1:off x="723900" y="1066800"/>
            <ns1:ext cx="10782300" cy="4914900"/>
            <ns1:chOff x="723900" y="1066800"/>
            <ns1:chExt cx="10782300" cy="4914900"/>
          </ns1:xfrm>
        </p:grpSpPr>
        <p:sp>
          <p:nvSpPr>
            <p:cNvPr id="7" name="p1-text-6">
              <a:extLst xmlns:a="http://schemas.openxmlformats.org/drawingml/2006/main">
                <a:ext uri="{FF2B5EF4-FFF2-40B4-BE49-F238E27FC236}">
                  <a16:creationId xmlns:a16="http://schemas.microsoft.com/office/drawing/2014/main" id="{09F8DDD4-6F0B-4485-B85B-B07DD1FE075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1123950"/>
              <a:ext cx="5238750" cy="82981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495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495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495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495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495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495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495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495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495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495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495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495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rPr>
                <a:t>乡创引擎</a:t>
              </a:r>
            </a:p>
          </p:txBody>
        </p:sp>
        <p:sp>
          <p:nvSpPr>
            <p:cNvPr id="8" name="p1-text-7">
              <a:extLst xmlns:a="http://schemas.openxmlformats.org/drawingml/2006/main">
                <a:ext uri="{FF2B5EF4-FFF2-40B4-BE49-F238E27FC236}">
                  <a16:creationId xmlns:a16="http://schemas.microsoft.com/office/drawing/2014/main" id="{A43897F5-0C27-4CCB-B475-9CDB732709C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42950" y="2238375"/>
              <a:ext cx="5238750" cy="50292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30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30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30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30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30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30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30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30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30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30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30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30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rPr>
                <a:t>面向小农户的</a:t>
              </a:r>
            </a:p>
          </p:txBody>
        </p:sp>
        <p:sp>
          <p:nvSpPr>
            <p:cNvPr id="9" name="p1-text-8">
              <a:extLst xmlns:a="http://schemas.openxmlformats.org/drawingml/2006/main">
                <a:ext uri="{FF2B5EF4-FFF2-40B4-BE49-F238E27FC236}">
                  <a16:creationId xmlns:a16="http://schemas.microsoft.com/office/drawing/2014/main" id="{1252C278-0708-4029-BA59-9EBC70CB01A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42950" y="2771775"/>
              <a:ext cx="5238750" cy="50292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30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30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30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30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30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30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30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30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30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30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30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30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rPr>
                <a:t>农产品营销 AI Agent</a:t>
              </a:r>
            </a:p>
          </p:txBody>
        </p:sp>
        <p:sp>
          <p:nvSpPr>
            <p:cNvPr id="10" name="p1-text-9">
              <a:extLst xmlns:a="http://schemas.openxmlformats.org/drawingml/2006/main">
                <a:ext uri="{FF2B5EF4-FFF2-40B4-BE49-F238E27FC236}">
                  <a16:creationId xmlns:a16="http://schemas.microsoft.com/office/drawing/2014/main" id="{E3AB3C55-7C20-40D3-BDA6-3D1A412A2F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2475" y="4019550"/>
              <a:ext cx="5210175" cy="3143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75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875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875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875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875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875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875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875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875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875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875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875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rPr>
                <a:t>出宣传图 · 写营销文案 · 准备客户回复</a:t>
              </a:r>
            </a:p>
          </p:txBody>
        </p:sp>
        <p:sp>
          <p:nvSpPr>
            <p:cNvPr id="11" name="p1-text-10">
              <a:extLst xmlns:a="http://schemas.openxmlformats.org/drawingml/2006/main">
                <a:ext uri="{FF2B5EF4-FFF2-40B4-BE49-F238E27FC236}">
                  <a16:creationId xmlns:a16="http://schemas.microsoft.com/office/drawing/2014/main" id="{444002F2-4F74-4578-878D-3690467A397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2475" y="5410200"/>
              <a:ext cx="5238750" cy="30175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00" b="0">
                  <a:solidFill>
                    <a:srgbClr val="E59A3D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800" b="0">
                  <a:solidFill>
                    <a:srgbClr val="E59A3D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800" b="0">
                  <a:solidFill>
                    <a:srgbClr val="E59A3D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800" b="0">
                  <a:solidFill>
                    <a:srgbClr val="E59A3D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800" b="0">
                  <a:solidFill>
                    <a:srgbClr val="E59A3D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800" b="0">
                  <a:solidFill>
                    <a:srgbClr val="E59A3D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800" b="0">
                  <a:solidFill>
                    <a:srgbClr val="E59A3D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800" b="0">
                  <a:solidFill>
                    <a:srgbClr val="E59A3D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800" b="0">
                  <a:solidFill>
                    <a:srgbClr val="E59A3D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800" b="0">
                  <a:solidFill>
                    <a:srgbClr val="E59A3D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800" b="0">
                  <a:solidFill>
                    <a:srgbClr val="E59A3D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800" b="0">
                  <a:solidFill>
                    <a:srgbClr val="E59A3D"/>
                  </a:solidFill>
                  <a:latin typeface="Arial Unicode MS"/>
                  <a:ea typeface="Arial Unicode MS"/>
                  <a:cs typeface="Arial Unicode MS"/>
                </a:rPr>
                <a:t>把自家的好产品，介绍给想买的人。</a:t>
              </a:r>
            </a:p>
          </p:txBody>
        </p:sp>
        <p:pic>
          <p:nvPicPr>
            <p:cNvPr id="12" name="">
              <a:extLst xmlns:a="http://schemas.openxmlformats.org/drawingml/2006/main">
                <a:ext uri="{FF2B5EF4-FFF2-40B4-BE49-F238E27FC236}">
                  <a16:creationId xmlns:a16="http://schemas.microsoft.com/office/drawing/2014/main" id="{6BDCBDA1-D833-4B7D-810F-43C2E98590EA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3483a3544b2a4b76"/>
            <a:srcRect xmlns:a="http://schemas.openxmlformats.org/drawingml/2006/main" l="12567" t="0" r="12567" b="0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>
              <a:off x="6200775" y="1066800"/>
              <a:ext cx="5305425" cy="4724400"/>
            </a:xfrm>
            <a:prstGeom xmlns:a="http://schemas.openxmlformats.org/drawingml/2006/main" prst="rect">
              <a:avLst/>
            </a:prstGeom>
          </p:spPr>
        </p:pic>
        <p:pic>
          <p:nvPicPr>
            <p:cNvPr id="13" name="">
              <a:extLst xmlns:a="http://schemas.openxmlformats.org/drawingml/2006/main">
                <a:ext uri="{FF2B5EF4-FFF2-40B4-BE49-F238E27FC236}">
                  <a16:creationId xmlns:a16="http://schemas.microsoft.com/office/drawing/2014/main" id="{A2551B50-6950-4698-8059-554FAF1845A4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106644d38cca46e8"/>
            <a:stretch xmlns:a="http://schemas.openxmlformats.org/drawingml/2006/main"/>
          </p:blipFill>
          <p:spPr>
            <a:xfrm xmlns:a="http://schemas.openxmlformats.org/drawingml/2006/main">
              <a:off x="10048875" y="4267200"/>
              <a:ext cx="1285875" cy="1714500"/>
            </a:xfrm>
            <a:prstGeom xmlns:a="http://schemas.openxmlformats.org/drawingml/2006/main"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438331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24" name="模板 / 页眉页脚"/>
          <p:cNvGrpSpPr/>
          <p:nvPr/>
        </p:nvGrpSpPr>
        <p:grpSpPr>
          <ns1:xfrm xmlns:ns1="http://schemas.openxmlformats.org/drawingml/2006/main">
            <ns1:off x="685800" y="371475"/>
            <ns1:ext cx="10820400" cy="6334887"/>
            <ns1:chOff x="685800" y="371475"/>
            <ns1:chExt cx="10820400" cy="6334887"/>
          </ns1:xfrm>
        </p:grpSpPr>
        <p:sp>
          <p:nvSpPr>
            <p:cNvPr id="23" name="p2-rect-11">
              <a:extLst xmlns:a="http://schemas.openxmlformats.org/drawingml/2006/main">
                <a:ext uri="{FF2B5EF4-FFF2-40B4-BE49-F238E27FC236}">
                  <a16:creationId xmlns:a16="http://schemas.microsoft.com/office/drawing/2014/main" id="{0B3820F3-687B-47A0-B40C-2547E92D3F2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371475"/>
              <a:ext cx="66675" cy="2190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245B42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" name="p2-text-12">
              <a:extLst xmlns:a="http://schemas.openxmlformats.org/drawingml/2006/main">
                <a:ext uri="{FF2B5EF4-FFF2-40B4-BE49-F238E27FC236}">
                  <a16:creationId xmlns:a16="http://schemas.microsoft.com/office/drawing/2014/main" id="{4AE08AAC-495E-4488-B656-4D7273AA00A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85825" y="390525"/>
              <a:ext cx="8239125" cy="20116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01 / 市场与使用基础</a:t>
              </a:r>
            </a:p>
          </p:txBody>
        </p:sp>
        <p:sp>
          <p:nvSpPr>
            <p:cNvPr id="3" name="p2-text-13">
              <a:extLst xmlns:a="http://schemas.openxmlformats.org/drawingml/2006/main">
                <a:ext uri="{FF2B5EF4-FFF2-40B4-BE49-F238E27FC236}">
                  <a16:creationId xmlns:a16="http://schemas.microsoft.com/office/drawing/2014/main" id="{0828976F-864A-4CE1-9C5F-CEF95B5EA43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82200" y="381000"/>
              <a:ext cx="1524000" cy="21374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乡创引擎</a:t>
              </a:r>
            </a:p>
          </p:txBody>
        </p:sp>
        <p:sp>
          <p:nvSpPr>
            <p:cNvPr id="4" name="p2-rect-14">
              <a:extLst xmlns:a="http://schemas.openxmlformats.org/drawingml/2006/main">
                <a:ext uri="{FF2B5EF4-FFF2-40B4-BE49-F238E27FC236}">
                  <a16:creationId xmlns:a16="http://schemas.microsoft.com/office/drawing/2014/main" id="{301726D0-6C4B-4F3A-9284-A58B9F9B4A3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6381750"/>
              <a:ext cx="10820400" cy="9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DDCC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5" name="p2-text-15">
              <a:extLst xmlns:a="http://schemas.openxmlformats.org/drawingml/2006/main">
                <a:ext uri="{FF2B5EF4-FFF2-40B4-BE49-F238E27FC236}">
                  <a16:creationId xmlns:a16="http://schemas.microsoft.com/office/drawing/2014/main" id="{4442C5B5-4015-4E72-B536-D855EA9779C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6505575"/>
              <a:ext cx="9429750" cy="16973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农户身边的 AI 卖货助手</a:t>
              </a:r>
            </a:p>
          </p:txBody>
        </p:sp>
        <p:sp>
          <p:nvSpPr>
            <p:cNvPr id="6" name="p2-text-16">
              <a:extLst xmlns:a="http://schemas.openxmlformats.org/drawingml/2006/main">
                <a:ext uri="{FF2B5EF4-FFF2-40B4-BE49-F238E27FC236}">
                  <a16:creationId xmlns:a16="http://schemas.microsoft.com/office/drawing/2014/main" id="{8E7A573A-7751-4942-930E-94886D4F84E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029950" y="6467475"/>
              <a:ext cx="476250" cy="23888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02</a:t>
              </a:r>
            </a:p>
          </p:txBody>
        </p:sp>
      </p:grpSp>
      <p:grpSp>
        <p:nvGrpSpPr>
          <p:cNvPr id="25" name="页面标题"/>
          <p:cNvGrpSpPr/>
          <p:nvPr/>
        </p:nvGrpSpPr>
        <p:grpSpPr>
          <ns1:xfrm xmlns:ns1="http://schemas.openxmlformats.org/drawingml/2006/main">
            <ns1:off x="685800" y="866775"/>
            <ns1:ext cx="10820400" cy="817055"/>
            <ns1:chOff x="685800" y="866775"/>
            <ns1:chExt cx="10820400" cy="817055"/>
          </ns1:xfrm>
        </p:grpSpPr>
        <p:sp>
          <p:nvSpPr>
            <p:cNvPr id="7" name="p2-text-17">
              <a:extLst xmlns:a="http://schemas.openxmlformats.org/drawingml/2006/main">
                <a:ext uri="{FF2B5EF4-FFF2-40B4-BE49-F238E27FC236}">
                  <a16:creationId xmlns:a16="http://schemas.microsoft.com/office/drawing/2014/main" id="{F6087AB9-5245-4BCA-AE86-AFBB4FBC916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866775"/>
              <a:ext cx="10820400" cy="52806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315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315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315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315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315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315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315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315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315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315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315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315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7833 亿元的线上市场，农户怎样迈出第一步？</a:t>
              </a:r>
            </a:p>
          </p:txBody>
        </p:sp>
        <p:sp>
          <p:nvSpPr>
            <p:cNvPr id="8" name="p2-text-18">
              <a:extLst xmlns:a="http://schemas.openxmlformats.org/drawingml/2006/main">
                <a:ext uri="{FF2B5EF4-FFF2-40B4-BE49-F238E27FC236}">
                  <a16:creationId xmlns:a16="http://schemas.microsoft.com/office/drawing/2014/main" id="{7AC088C8-E95A-4161-971B-509C0436E37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5325" y="1476375"/>
              <a:ext cx="10801350" cy="20745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数据说明：全国市场规模用于交代机会，不等同于项目可收费市场</a:t>
              </a:r>
            </a:p>
          </p:txBody>
        </p:sp>
      </p:grpSp>
      <p:grpSp>
        <p:nvGrpSpPr>
          <p:cNvPr id="26" name="演示主体"/>
          <p:cNvGrpSpPr/>
          <p:nvPr/>
        </p:nvGrpSpPr>
        <p:grpSpPr>
          <ns1:xfrm xmlns:ns1="http://schemas.openxmlformats.org/drawingml/2006/main">
            <ns1:off x="723900" y="2095500"/>
            <ns1:ext cx="10782300" cy="3543300"/>
            <ns1:chOff x="723900" y="2095500"/>
            <ns1:chExt cx="10782300" cy="3543300"/>
          </ns1:xfrm>
        </p:grpSpPr>
        <p:sp>
          <p:nvSpPr>
            <p:cNvPr id="9" name="p2-text-19">
              <a:extLst xmlns:a="http://schemas.openxmlformats.org/drawingml/2006/main">
                <a:ext uri="{FF2B5EF4-FFF2-40B4-BE49-F238E27FC236}">
                  <a16:creationId xmlns:a16="http://schemas.microsoft.com/office/drawing/2014/main" id="{00799A0A-97F1-48BE-83A2-1A4B50B9E5A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2095500"/>
              <a:ext cx="7096125" cy="35204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2025 年全国农产品网络零售额</a:t>
              </a:r>
            </a:p>
          </p:txBody>
        </p:sp>
        <p:sp>
          <p:nvSpPr>
            <p:cNvPr id="10" name="p2-text-20">
              <a:extLst xmlns:a="http://schemas.openxmlformats.org/drawingml/2006/main">
                <a:ext uri="{FF2B5EF4-FFF2-40B4-BE49-F238E27FC236}">
                  <a16:creationId xmlns:a16="http://schemas.microsoft.com/office/drawing/2014/main" id="{B1C15FF3-3CD1-49BE-984D-5B24DF86333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2714625"/>
              <a:ext cx="5715000" cy="132016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78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78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78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78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78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78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78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78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78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78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78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78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7833.1</a:t>
              </a:r>
            </a:p>
          </p:txBody>
        </p:sp>
        <p:sp>
          <p:nvSpPr>
            <p:cNvPr id="11" name="p2-text-21">
              <a:extLst xmlns:a="http://schemas.openxmlformats.org/drawingml/2006/main">
                <a:ext uri="{FF2B5EF4-FFF2-40B4-BE49-F238E27FC236}">
                  <a16:creationId xmlns:a16="http://schemas.microsoft.com/office/drawing/2014/main" id="{40D6DEEA-4EE9-4AB2-9B0A-3AC514D20DC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15025" y="3314700"/>
              <a:ext cx="1524000" cy="45262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亿元</a:t>
              </a:r>
            </a:p>
          </p:txBody>
        </p:sp>
        <p:sp>
          <p:nvSpPr>
            <p:cNvPr id="12" name="p2-rect-22">
              <a:extLst xmlns:a="http://schemas.openxmlformats.org/drawingml/2006/main">
                <a:ext uri="{FF2B5EF4-FFF2-40B4-BE49-F238E27FC236}">
                  <a16:creationId xmlns:a16="http://schemas.microsoft.com/office/drawing/2014/main" id="{1DFE47E6-2A7C-45FB-B54B-0C1FC2F0F7B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4057650"/>
              <a:ext cx="2133600" cy="5905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245B42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13" name="p2-text-23">
              <a:extLst xmlns:a="http://schemas.openxmlformats.org/drawingml/2006/main">
                <a:ext uri="{FF2B5EF4-FFF2-40B4-BE49-F238E27FC236}">
                  <a16:creationId xmlns:a16="http://schemas.microsoft.com/office/drawing/2014/main" id="{61D7A492-183A-4E7B-984E-EF2C2CA3B2F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76300" y="4181475"/>
              <a:ext cx="1828800" cy="35204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1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1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1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1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1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1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1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1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1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1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1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rPr>
                <a:t>同比增长 9.9%</a:t>
              </a:r>
            </a:p>
          </p:txBody>
        </p:sp>
        <p:sp>
          <p:nvSpPr>
            <p:cNvPr id="14" name="p2-text-24">
              <a:extLst xmlns:a="http://schemas.openxmlformats.org/drawingml/2006/main">
                <a:ext uri="{FF2B5EF4-FFF2-40B4-BE49-F238E27FC236}">
                  <a16:creationId xmlns:a16="http://schemas.microsoft.com/office/drawing/2014/main" id="{0C88AD96-ED37-4DCD-9960-CEBBFE19D3D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5048250"/>
              <a:ext cx="6810375" cy="38976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3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3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3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3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3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3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3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3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3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3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3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3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真实的销售场景，正在扩大。</a:t>
              </a:r>
            </a:p>
          </p:txBody>
        </p:sp>
        <p:sp>
          <p:nvSpPr>
            <p:cNvPr id="15" name="p2-rect-25">
              <a:extLst xmlns:a="http://schemas.openxmlformats.org/drawingml/2006/main">
                <a:ext uri="{FF2B5EF4-FFF2-40B4-BE49-F238E27FC236}">
                  <a16:creationId xmlns:a16="http://schemas.microsoft.com/office/drawing/2014/main" id="{4B1FC3F7-55DD-4A61-9B41-4BD9D219620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77175" y="2095500"/>
              <a:ext cx="9525" cy="9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DDCC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16" name="p2-rect-26">
              <a:extLst xmlns:a="http://schemas.openxmlformats.org/drawingml/2006/main">
                <a:ext uri="{FF2B5EF4-FFF2-40B4-BE49-F238E27FC236}">
                  <a16:creationId xmlns:a16="http://schemas.microsoft.com/office/drawing/2014/main" id="{9D797954-47CC-41F6-87DB-DD270A130BF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67650" y="2095500"/>
              <a:ext cx="9525" cy="35433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DDCC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17" name="p2-text-27">
              <a:extLst xmlns:a="http://schemas.openxmlformats.org/drawingml/2006/main">
                <a:ext uri="{FF2B5EF4-FFF2-40B4-BE49-F238E27FC236}">
                  <a16:creationId xmlns:a16="http://schemas.microsoft.com/office/drawing/2014/main" id="{920AE105-B138-489C-8414-F89D1A94855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229600" y="2181225"/>
              <a:ext cx="3276600" cy="3143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8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8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8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8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8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8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8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8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8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8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8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农村互联网普及率</a:t>
              </a:r>
            </a:p>
          </p:txBody>
        </p:sp>
        <p:sp>
          <p:nvSpPr>
            <p:cNvPr id="18" name="p2-text-28">
              <a:extLst xmlns:a="http://schemas.openxmlformats.org/drawingml/2006/main">
                <a:ext uri="{FF2B5EF4-FFF2-40B4-BE49-F238E27FC236}">
                  <a16:creationId xmlns:a16="http://schemas.microsoft.com/office/drawing/2014/main" id="{5F1AD8A0-5F1E-4F01-A221-52F6FDC022F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72450" y="2771775"/>
              <a:ext cx="3333750" cy="91782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54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54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54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54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54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54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54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54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54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54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54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54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69.5%</a:t>
              </a:r>
            </a:p>
          </p:txBody>
        </p:sp>
        <p:sp>
          <p:nvSpPr>
            <p:cNvPr id="19" name="p2-text-29">
              <a:extLst xmlns:a="http://schemas.openxmlformats.org/drawingml/2006/main">
                <a:ext uri="{FF2B5EF4-FFF2-40B4-BE49-F238E27FC236}">
                  <a16:creationId xmlns:a16="http://schemas.microsoft.com/office/drawing/2014/main" id="{507A9D28-3112-407D-9E00-A9C76C6743A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229600" y="3781425"/>
              <a:ext cx="3276600" cy="28917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7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7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7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7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7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7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7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7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7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7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7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7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截至 2025 年 12 月</a:t>
              </a:r>
            </a:p>
          </p:txBody>
        </p:sp>
        <p:sp>
          <p:nvSpPr>
            <p:cNvPr id="20" name="p2-text-30">
              <a:extLst xmlns:a="http://schemas.openxmlformats.org/drawingml/2006/main">
                <a:ext uri="{FF2B5EF4-FFF2-40B4-BE49-F238E27FC236}">
                  <a16:creationId xmlns:a16="http://schemas.microsoft.com/office/drawing/2014/main" id="{7E0BB4E3-3644-49D2-A5AE-36C60CE6464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229600" y="4495800"/>
              <a:ext cx="3276600" cy="32689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95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95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95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95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95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95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95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95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95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95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95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95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服务从农户熟悉的</a:t>
              </a:r>
            </a:p>
          </p:txBody>
        </p:sp>
        <p:sp>
          <p:nvSpPr>
            <p:cNvPr id="21" name="p2-text-31">
              <a:extLst xmlns:a="http://schemas.openxmlformats.org/drawingml/2006/main">
                <a:ext uri="{FF2B5EF4-FFF2-40B4-BE49-F238E27FC236}">
                  <a16:creationId xmlns:a16="http://schemas.microsoft.com/office/drawing/2014/main" id="{50167079-CAA7-4896-B311-49D97E8359C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229600" y="4892040"/>
              <a:ext cx="3276600" cy="32689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95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95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95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95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95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95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95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95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95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95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95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95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手机使用场景进入。</a:t>
              </a:r>
            </a:p>
          </p:txBody>
        </p:sp>
      </p:grpSp>
      <p:sp>
        <p:nvSpPr>
          <p:cNvPr id="22" name="p2-text-32">
            <a:extLst xmlns:a="http://schemas.openxmlformats.org/drawingml/2006/main">
              <a:ext uri="{FF2B5EF4-FFF2-40B4-BE49-F238E27FC236}">
                <a16:creationId xmlns:a16="http://schemas.microsoft.com/office/drawing/2014/main" id="{1BEB02C1-282B-4870-8E65-2520917F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24575"/>
            <a:ext cx="10782300" cy="1948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163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163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163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163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163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163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163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163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163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163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63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rPr>
              <a:t>来源：商务大数据（新华社 2026-02-05 报道）、商务部；CNNIC 第 57 次报告。完整链接见附录 A。</a:t>
            </a:r>
          </a:p>
        </p:txBody>
      </p:sp>
    </p:spTree>
    <p:extLst>
      <p:ext uri="{BB962C8B-B14F-4D97-AF65-F5344CB8AC3E}">
        <p14:creationId xmlns:p14="http://schemas.microsoft.com/office/powerpoint/2010/main" val="3112739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33" name="模板 / 页眉页脚"/>
          <p:cNvGrpSpPr/>
          <p:nvPr/>
        </p:nvGrpSpPr>
        <p:grpSpPr>
          <ns1:xfrm xmlns:ns1="http://schemas.openxmlformats.org/drawingml/2006/main">
            <ns1:off x="685800" y="371475"/>
            <ns1:ext cx="10820400" cy="6334887"/>
            <ns1:chOff x="685800" y="371475"/>
            <ns1:chExt cx="10820400" cy="6334887"/>
          </ns1:xfrm>
        </p:grpSpPr>
        <p:sp>
          <p:nvSpPr>
            <p:cNvPr id="32" name="p3-rect-33">
              <a:extLst xmlns:a="http://schemas.openxmlformats.org/drawingml/2006/main">
                <a:ext uri="{FF2B5EF4-FFF2-40B4-BE49-F238E27FC236}">
                  <a16:creationId xmlns:a16="http://schemas.microsoft.com/office/drawing/2014/main" id="{6EF166E8-2C5D-41C0-90FE-340F5966127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371475"/>
              <a:ext cx="66675" cy="2190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245B42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" name="p3-text-34">
              <a:extLst xmlns:a="http://schemas.openxmlformats.org/drawingml/2006/main">
                <a:ext uri="{FF2B5EF4-FFF2-40B4-BE49-F238E27FC236}">
                  <a16:creationId xmlns:a16="http://schemas.microsoft.com/office/drawing/2014/main" id="{08232CA0-529D-4314-8C48-3C00FECDFEE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85825" y="390525"/>
              <a:ext cx="8239125" cy="20116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02 / 数字能力门槛</a:t>
              </a:r>
            </a:p>
          </p:txBody>
        </p:sp>
        <p:sp>
          <p:nvSpPr>
            <p:cNvPr id="3" name="p3-text-35">
              <a:extLst xmlns:a="http://schemas.openxmlformats.org/drawingml/2006/main">
                <a:ext uri="{FF2B5EF4-FFF2-40B4-BE49-F238E27FC236}">
                  <a16:creationId xmlns:a16="http://schemas.microsoft.com/office/drawing/2014/main" id="{FC6EB86A-374E-4DA6-B59D-653FC727CA9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82200" y="381000"/>
              <a:ext cx="1524000" cy="21374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乡创引擎</a:t>
              </a:r>
            </a:p>
          </p:txBody>
        </p:sp>
        <p:sp>
          <p:nvSpPr>
            <p:cNvPr id="4" name="p3-rect-36">
              <a:extLst xmlns:a="http://schemas.openxmlformats.org/drawingml/2006/main">
                <a:ext uri="{FF2B5EF4-FFF2-40B4-BE49-F238E27FC236}">
                  <a16:creationId xmlns:a16="http://schemas.microsoft.com/office/drawing/2014/main" id="{DB9A8FDC-BB5B-45EC-BA7F-874A9CC115F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6381750"/>
              <a:ext cx="10820400" cy="9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DDCC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5" name="p3-text-37">
              <a:extLst xmlns:a="http://schemas.openxmlformats.org/drawingml/2006/main">
                <a:ext uri="{FF2B5EF4-FFF2-40B4-BE49-F238E27FC236}">
                  <a16:creationId xmlns:a16="http://schemas.microsoft.com/office/drawing/2014/main" id="{96DD6A39-0070-4E8A-81D7-8C64C45E3D1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6505575"/>
              <a:ext cx="9429750" cy="16973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农户身边的 AI 卖货助手</a:t>
              </a:r>
            </a:p>
          </p:txBody>
        </p:sp>
        <p:sp>
          <p:nvSpPr>
            <p:cNvPr id="6" name="p3-text-38">
              <a:extLst xmlns:a="http://schemas.openxmlformats.org/drawingml/2006/main">
                <a:ext uri="{FF2B5EF4-FFF2-40B4-BE49-F238E27FC236}">
                  <a16:creationId xmlns:a16="http://schemas.microsoft.com/office/drawing/2014/main" id="{0775A2CE-067A-4C79-816C-772FD68C234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029950" y="6467475"/>
              <a:ext cx="476250" cy="23888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03</a:t>
              </a:r>
            </a:p>
          </p:txBody>
        </p:sp>
      </p:grpSp>
      <p:grpSp>
        <p:nvGrpSpPr>
          <p:cNvPr id="34" name="页面标题"/>
          <p:cNvGrpSpPr/>
          <p:nvPr/>
        </p:nvGrpSpPr>
        <p:grpSpPr>
          <ns1:xfrm xmlns:ns1="http://schemas.openxmlformats.org/drawingml/2006/main">
            <ns1:off x="685800" y="866775"/>
            <ns1:ext cx="10820400" cy="817055"/>
            <ns1:chOff x="685800" y="866775"/>
            <ns1:chExt cx="10820400" cy="817055"/>
          </ns1:xfrm>
        </p:grpSpPr>
        <p:sp>
          <p:nvSpPr>
            <p:cNvPr id="7" name="p3-text-39">
              <a:extLst xmlns:a="http://schemas.openxmlformats.org/drawingml/2006/main">
                <a:ext uri="{FF2B5EF4-FFF2-40B4-BE49-F238E27FC236}">
                  <a16:creationId xmlns:a16="http://schemas.microsoft.com/office/drawing/2014/main" id="{65592A4B-639E-4586-BE65-078F44696DA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866775"/>
              <a:ext cx="10820400" cy="55321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数字能力门槛，需要更容易上手的工具</a:t>
              </a:r>
            </a:p>
          </p:txBody>
        </p:sp>
        <p:sp>
          <p:nvSpPr>
            <p:cNvPr id="8" name="p3-text-40">
              <a:extLst xmlns:a="http://schemas.openxmlformats.org/drawingml/2006/main">
                <a:ext uri="{FF2B5EF4-FFF2-40B4-BE49-F238E27FC236}">
                  <a16:creationId xmlns:a16="http://schemas.microsoft.com/office/drawing/2014/main" id="{B0B573B9-FCE8-4E96-9627-EE5EA7404E3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5325" y="1476375"/>
              <a:ext cx="10801350" cy="20745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2024 年报告：18—69 岁成年人，具备初级及以上数字素养与技能的比例</a:t>
              </a:r>
            </a:p>
          </p:txBody>
        </p:sp>
      </p:grpSp>
      <p:grpSp>
        <p:nvGrpSpPr>
          <p:cNvPr id="35" name="演示主体"/>
          <p:cNvGrpSpPr/>
          <p:nvPr/>
        </p:nvGrpSpPr>
        <p:grpSpPr>
          <ns1:xfrm xmlns:ns1="http://schemas.openxmlformats.org/drawingml/2006/main">
            <ns1:off x="2105025" y="2438400"/>
            <ns1:ext cx="6334125" cy="2785491"/>
            <ns1:chOff x="2105025" y="2438400"/>
            <ns1:chExt cx="6334125" cy="2785491"/>
          </ns1:xfrm>
        </p:grpSpPr>
        <p:sp>
          <p:nvSpPr>
            <p:cNvPr id="9" name="p3-rect-41">
              <a:extLst xmlns:a="http://schemas.openxmlformats.org/drawingml/2006/main">
                <a:ext uri="{FF2B5EF4-FFF2-40B4-BE49-F238E27FC236}">
                  <a16:creationId xmlns:a16="http://schemas.microsoft.com/office/drawing/2014/main" id="{28C8D5F7-9A47-411C-94C2-095443851F6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33625" y="2438400"/>
              <a:ext cx="9525" cy="24479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DDCC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10" name="p3-text-42">
              <a:extLst xmlns:a="http://schemas.openxmlformats.org/drawingml/2006/main">
                <a:ext uri="{FF2B5EF4-FFF2-40B4-BE49-F238E27FC236}">
                  <a16:creationId xmlns:a16="http://schemas.microsoft.com/office/drawing/2014/main" id="{FF29E400-F86B-4561-8770-6429909C160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05025" y="5010150"/>
              <a:ext cx="619125" cy="21374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ctr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ctr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ctr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ctr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ctr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ctr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ctr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ctr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ctr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ctr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0%</a:t>
              </a:r>
            </a:p>
          </p:txBody>
        </p:sp>
        <p:sp>
          <p:nvSpPr>
            <p:cNvPr id="11" name="p3-rect-43">
              <a:extLst xmlns:a="http://schemas.openxmlformats.org/drawingml/2006/main">
                <a:ext uri="{FF2B5EF4-FFF2-40B4-BE49-F238E27FC236}">
                  <a16:creationId xmlns:a16="http://schemas.microsoft.com/office/drawing/2014/main" id="{CB1E6E13-389D-4074-9C57-B1686F7A8BE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62375" y="2438400"/>
              <a:ext cx="9525" cy="24479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DDCC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12" name="p3-text-44">
              <a:extLst xmlns:a="http://schemas.openxmlformats.org/drawingml/2006/main">
                <a:ext uri="{FF2B5EF4-FFF2-40B4-BE49-F238E27FC236}">
                  <a16:creationId xmlns:a16="http://schemas.microsoft.com/office/drawing/2014/main" id="{2CA7D01F-CF52-44A9-BF86-A6FE5A894F4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33775" y="5010150"/>
              <a:ext cx="619125" cy="21374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ctr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ctr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ctr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ctr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ctr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ctr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ctr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ctr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ctr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ctr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25%</a:t>
              </a:r>
            </a:p>
          </p:txBody>
        </p:sp>
        <p:sp>
          <p:nvSpPr>
            <p:cNvPr id="13" name="p3-rect-45">
              <a:extLst xmlns:a="http://schemas.openxmlformats.org/drawingml/2006/main">
                <a:ext uri="{FF2B5EF4-FFF2-40B4-BE49-F238E27FC236}">
                  <a16:creationId xmlns:a16="http://schemas.microsoft.com/office/drawing/2014/main" id="{BDE444CE-070C-46FF-9205-EB3978159B1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91125" y="2438400"/>
              <a:ext cx="9525" cy="24479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DDCC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14" name="p3-text-46">
              <a:extLst xmlns:a="http://schemas.openxmlformats.org/drawingml/2006/main">
                <a:ext uri="{FF2B5EF4-FFF2-40B4-BE49-F238E27FC236}">
                  <a16:creationId xmlns:a16="http://schemas.microsoft.com/office/drawing/2014/main" id="{7A81C0C9-D718-4086-AAC8-034D2A0DF8F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62525" y="5010150"/>
              <a:ext cx="619125" cy="21374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ctr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ctr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ctr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ctr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ctr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ctr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ctr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ctr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ctr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ctr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50%</a:t>
              </a:r>
            </a:p>
          </p:txBody>
        </p:sp>
        <p:sp>
          <p:nvSpPr>
            <p:cNvPr id="15" name="p3-rect-47">
              <a:extLst xmlns:a="http://schemas.openxmlformats.org/drawingml/2006/main">
                <a:ext uri="{FF2B5EF4-FFF2-40B4-BE49-F238E27FC236}">
                  <a16:creationId xmlns:a16="http://schemas.microsoft.com/office/drawing/2014/main" id="{ACF63FF2-287D-43D5-99AC-A5F3735296A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19875" y="2438400"/>
              <a:ext cx="9525" cy="24479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DDCC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16" name="p3-text-48">
              <a:extLst xmlns:a="http://schemas.openxmlformats.org/drawingml/2006/main">
                <a:ext uri="{FF2B5EF4-FFF2-40B4-BE49-F238E27FC236}">
                  <a16:creationId xmlns:a16="http://schemas.microsoft.com/office/drawing/2014/main" id="{8AFFF70E-96F1-4F65-932C-A8A2D550A51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391275" y="5010150"/>
              <a:ext cx="619125" cy="21374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ctr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ctr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ctr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ctr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ctr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ctr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ctr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ctr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ctr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ctr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75%</a:t>
              </a:r>
            </a:p>
          </p:txBody>
        </p:sp>
        <p:sp>
          <p:nvSpPr>
            <p:cNvPr id="17" name="p3-rect-49">
              <a:extLst xmlns:a="http://schemas.openxmlformats.org/drawingml/2006/main">
                <a:ext uri="{FF2B5EF4-FFF2-40B4-BE49-F238E27FC236}">
                  <a16:creationId xmlns:a16="http://schemas.microsoft.com/office/drawing/2014/main" id="{5CF7E1D4-A63D-4D1C-A0EB-FA110E65767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048625" y="2438400"/>
              <a:ext cx="9525" cy="24479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DDCC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18" name="p3-text-50">
              <a:extLst xmlns:a="http://schemas.openxmlformats.org/drawingml/2006/main">
                <a:ext uri="{FF2B5EF4-FFF2-40B4-BE49-F238E27FC236}">
                  <a16:creationId xmlns:a16="http://schemas.microsoft.com/office/drawing/2014/main" id="{7BC8A925-E872-4D6E-BAA5-2BB748C380D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20025" y="5010150"/>
              <a:ext cx="619125" cy="21374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ctr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ctr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ctr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ctr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ctr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ctr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ctr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ctr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ctr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ctr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100%</a:t>
              </a:r>
            </a:p>
          </p:txBody>
        </p:sp>
      </p:grpSp>
      <p:grpSp>
        <p:nvGrpSpPr>
          <p:cNvPr id="36" name="城镇数字素养比例"/>
          <p:cNvGrpSpPr/>
          <p:nvPr/>
        </p:nvGrpSpPr>
        <p:grpSpPr>
          <ns1:xfrm xmlns:ns1="http://schemas.openxmlformats.org/drawingml/2006/main">
            <ns1:off x="723900" y="2781300"/>
            <ns1:ext cx="6929628" cy="619125"/>
            <ns1:chOff x="723900" y="2781300"/>
            <ns1:chExt cx="6929628" cy="619125"/>
          </ns1:xfrm>
        </p:grpSpPr>
        <p:sp>
          <p:nvSpPr>
            <p:cNvPr id="19" name="p3-text-51">
              <a:extLst xmlns:a="http://schemas.openxmlformats.org/drawingml/2006/main">
                <a:ext uri="{FF2B5EF4-FFF2-40B4-BE49-F238E27FC236}">
                  <a16:creationId xmlns:a16="http://schemas.microsoft.com/office/drawing/2014/main" id="{8C503DB3-A78D-4612-819E-E536CFA1178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2895600"/>
              <a:ext cx="1381125" cy="38976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3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3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3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3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3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3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3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3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3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3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3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3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城镇</a:t>
              </a:r>
            </a:p>
          </p:txBody>
        </p:sp>
        <p:sp>
          <p:nvSpPr>
            <p:cNvPr id="20" name="p3-rect-52">
              <a:extLst xmlns:a="http://schemas.openxmlformats.org/drawingml/2006/main">
                <a:ext uri="{FF2B5EF4-FFF2-40B4-BE49-F238E27FC236}">
                  <a16:creationId xmlns:a16="http://schemas.microsoft.com/office/drawing/2014/main" id="{FDBBAA51-DE94-45AF-A95C-0EBA59FDF73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33625" y="2781300"/>
              <a:ext cx="3767328" cy="6191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245B42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1" name="p3-text-53">
              <a:extLst xmlns:a="http://schemas.openxmlformats.org/drawingml/2006/main">
                <a:ext uri="{FF2B5EF4-FFF2-40B4-BE49-F238E27FC236}">
                  <a16:creationId xmlns:a16="http://schemas.microsoft.com/office/drawing/2014/main" id="{9B47373F-FA7C-4EF5-BB24-A38266EC808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272403" y="2905125"/>
              <a:ext cx="1381125" cy="38976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3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3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3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3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3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3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3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3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3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3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3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3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65.92%</a:t>
              </a:r>
            </a:p>
          </p:txBody>
        </p:sp>
      </p:grpSp>
      <p:grpSp>
        <p:nvGrpSpPr>
          <p:cNvPr id="37" name="农村数字素养比例"/>
          <p:cNvGrpSpPr/>
          <p:nvPr/>
        </p:nvGrpSpPr>
        <p:grpSpPr>
          <ns1:xfrm xmlns:ns1="http://schemas.openxmlformats.org/drawingml/2006/main">
            <ns1:off x="723900" y="3886200"/>
            <ns1:ext cx="6052376" cy="619125"/>
            <ns1:chOff x="723900" y="3886200"/>
            <ns1:chExt cx="6052376" cy="619125"/>
          </ns1:xfrm>
        </p:grpSpPr>
        <p:sp>
          <p:nvSpPr>
            <p:cNvPr id="22" name="p3-text-54">
              <a:extLst xmlns:a="http://schemas.openxmlformats.org/drawingml/2006/main">
                <a:ext uri="{FF2B5EF4-FFF2-40B4-BE49-F238E27FC236}">
                  <a16:creationId xmlns:a16="http://schemas.microsoft.com/office/drawing/2014/main" id="{F63DA29D-6032-4159-AC06-631E803A05C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4000500"/>
              <a:ext cx="1381125" cy="38976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3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3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3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3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3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3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3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3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3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3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3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3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农村</a:t>
              </a:r>
            </a:p>
          </p:txBody>
        </p:sp>
        <p:sp>
          <p:nvSpPr>
            <p:cNvPr id="23" name="p3-rect-55">
              <a:extLst xmlns:a="http://schemas.openxmlformats.org/drawingml/2006/main">
                <a:ext uri="{FF2B5EF4-FFF2-40B4-BE49-F238E27FC236}">
                  <a16:creationId xmlns:a16="http://schemas.microsoft.com/office/drawing/2014/main" id="{425DCFB8-4988-432C-AA36-3E0D2FF14DE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33625" y="3886200"/>
              <a:ext cx="2890076" cy="6191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9A3D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4" name="p3-text-56">
              <a:extLst xmlns:a="http://schemas.openxmlformats.org/drawingml/2006/main">
                <a:ext uri="{FF2B5EF4-FFF2-40B4-BE49-F238E27FC236}">
                  <a16:creationId xmlns:a16="http://schemas.microsoft.com/office/drawing/2014/main" id="{CB06B44D-63AE-45A5-A61F-58076EF3A3C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95151" y="4010025"/>
              <a:ext cx="1381125" cy="38976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3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3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3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3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3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3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3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3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3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3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3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3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50.57%</a:t>
              </a:r>
            </a:p>
          </p:txBody>
        </p:sp>
      </p:grpSp>
      <p:grpSp>
        <p:nvGrpSpPr>
          <p:cNvPr id="38" name="演示主体"/>
          <p:cNvGrpSpPr/>
          <p:nvPr/>
        </p:nvGrpSpPr>
        <p:grpSpPr>
          <ns1:xfrm xmlns:ns1="http://schemas.openxmlformats.org/drawingml/2006/main">
            <ns1:off x="723900" y="2466975"/>
            <ns1:ext cx="10782300" cy="3409569"/>
            <ns1:chOff x="723900" y="2466975"/>
            <ns1:chExt cx="10782300" cy="3409569"/>
          </ns1:xfrm>
        </p:grpSpPr>
        <p:sp>
          <p:nvSpPr>
            <p:cNvPr id="25" name="p3-rect-57">
              <a:extLst xmlns:a="http://schemas.openxmlformats.org/drawingml/2006/main">
                <a:ext uri="{FF2B5EF4-FFF2-40B4-BE49-F238E27FC236}">
                  <a16:creationId xmlns:a16="http://schemas.microsoft.com/office/drawing/2014/main" id="{D8968224-799F-4C84-9693-03B26041024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0" y="2466975"/>
              <a:ext cx="2362200" cy="24003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8EEDD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6" name="p3-text-58">
              <a:extLst xmlns:a="http://schemas.openxmlformats.org/drawingml/2006/main">
                <a:ext uri="{FF2B5EF4-FFF2-40B4-BE49-F238E27FC236}">
                  <a16:creationId xmlns:a16="http://schemas.microsoft.com/office/drawing/2014/main" id="{EB4F172B-2C87-479B-86AE-8A1C5130D6B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72600" y="2667000"/>
              <a:ext cx="1905000" cy="3143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8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8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8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8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8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8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8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8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8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8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8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相差</a:t>
              </a:r>
            </a:p>
          </p:txBody>
        </p:sp>
        <p:sp>
          <p:nvSpPr>
            <p:cNvPr id="27" name="p3-text-59">
              <a:extLst xmlns:a="http://schemas.openxmlformats.org/drawingml/2006/main">
                <a:ext uri="{FF2B5EF4-FFF2-40B4-BE49-F238E27FC236}">
                  <a16:creationId xmlns:a16="http://schemas.microsoft.com/office/drawing/2014/main" id="{45333C51-C330-4243-AAD1-8972B392FFA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24975" y="3171825"/>
              <a:ext cx="2000250" cy="70408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42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42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42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42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42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42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42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42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42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42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42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42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15.35</a:t>
              </a:r>
            </a:p>
          </p:txBody>
        </p:sp>
        <p:sp>
          <p:nvSpPr>
            <p:cNvPr id="28" name="p3-text-60">
              <a:extLst xmlns:a="http://schemas.openxmlformats.org/drawingml/2006/main">
                <a:ext uri="{FF2B5EF4-FFF2-40B4-BE49-F238E27FC236}">
                  <a16:creationId xmlns:a16="http://schemas.microsoft.com/office/drawing/2014/main" id="{A97F97D3-E0FA-4895-AEDA-D4688E0113D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72600" y="3952875"/>
              <a:ext cx="1905000" cy="36461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个百分点</a:t>
              </a:r>
            </a:p>
          </p:txBody>
        </p:sp>
        <p:sp>
          <p:nvSpPr>
            <p:cNvPr id="29" name="p3-text-61">
              <a:extLst xmlns:a="http://schemas.openxmlformats.org/drawingml/2006/main">
                <a:ext uri="{FF2B5EF4-FFF2-40B4-BE49-F238E27FC236}">
                  <a16:creationId xmlns:a16="http://schemas.microsoft.com/office/drawing/2014/main" id="{EB26FA62-BB3E-450A-9A0B-3C7A2505F69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72600" y="4467225"/>
              <a:ext cx="1905000" cy="21374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按原始比例相减</a:t>
              </a:r>
            </a:p>
          </p:txBody>
        </p:sp>
        <p:sp>
          <p:nvSpPr>
            <p:cNvPr id="30" name="p3-text-62">
              <a:extLst xmlns:a="http://schemas.openxmlformats.org/drawingml/2006/main">
                <a:ext uri="{FF2B5EF4-FFF2-40B4-BE49-F238E27FC236}">
                  <a16:creationId xmlns:a16="http://schemas.microsoft.com/office/drawing/2014/main" id="{6C1801BB-726D-415B-AAF4-FE0C2A86347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5524500"/>
              <a:ext cx="10782300" cy="35204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产品选择：步骤更少、指引更具体，并保留人工辅导。</a:t>
              </a:r>
            </a:p>
          </p:txBody>
        </p:sp>
      </p:grpSp>
      <p:sp>
        <p:nvSpPr>
          <p:cNvPr id="31" name="p3-text-63">
            <a:extLst xmlns:a="http://schemas.openxmlformats.org/drawingml/2006/main">
              <a:ext uri="{FF2B5EF4-FFF2-40B4-BE49-F238E27FC236}">
                <a16:creationId xmlns:a16="http://schemas.microsoft.com/office/drawing/2014/main" id="{4BC0CB94-3ACA-4E11-8D49-D84F5586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24575"/>
            <a:ext cx="10782300" cy="1948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163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163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163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163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163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163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163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163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163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163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63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rPr>
              <a:t>来源：《全民数字素养与技能发展水平调查报告（2024）》表 2。该指标不能直接解释为网上卖货能力。</a:t>
            </a:r>
          </a:p>
        </p:txBody>
      </p:sp>
    </p:spTree>
    <p:extLst>
      <p:ext uri="{BB962C8B-B14F-4D97-AF65-F5344CB8AC3E}">
        <p14:creationId xmlns:p14="http://schemas.microsoft.com/office/powerpoint/2010/main" val="7094402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32" name="模板 / 页眉页脚"/>
          <p:cNvGrpSpPr/>
          <p:nvPr/>
        </p:nvGrpSpPr>
        <p:grpSpPr>
          <ns1:xfrm xmlns:ns1="http://schemas.openxmlformats.org/drawingml/2006/main">
            <ns1:off x="685800" y="371475"/>
            <ns1:ext cx="10820400" cy="6334887"/>
            <ns1:chOff x="685800" y="371475"/>
            <ns1:chExt cx="10820400" cy="6334887"/>
          </ns1:xfrm>
        </p:grpSpPr>
        <p:sp>
          <p:nvSpPr>
            <p:cNvPr id="31" name="p4-rect-64">
              <a:extLst xmlns:a="http://schemas.openxmlformats.org/drawingml/2006/main">
                <a:ext uri="{FF2B5EF4-FFF2-40B4-BE49-F238E27FC236}">
                  <a16:creationId xmlns:a16="http://schemas.microsoft.com/office/drawing/2014/main" id="{E7B17772-290A-4B20-89CC-4CAB18E91F0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371475"/>
              <a:ext cx="66675" cy="2190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245B42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" name="p4-text-65">
              <a:extLst xmlns:a="http://schemas.openxmlformats.org/drawingml/2006/main">
                <a:ext uri="{FF2B5EF4-FFF2-40B4-BE49-F238E27FC236}">
                  <a16:creationId xmlns:a16="http://schemas.microsoft.com/office/drawing/2014/main" id="{A6DD7B91-5A8A-4F11-A818-18621BD3541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85825" y="390525"/>
              <a:ext cx="8239125" cy="20116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03 / 从公开研究到具体任务</a:t>
              </a:r>
            </a:p>
          </p:txBody>
        </p:sp>
        <p:sp>
          <p:nvSpPr>
            <p:cNvPr id="3" name="p4-text-66">
              <a:extLst xmlns:a="http://schemas.openxmlformats.org/drawingml/2006/main">
                <a:ext uri="{FF2B5EF4-FFF2-40B4-BE49-F238E27FC236}">
                  <a16:creationId xmlns:a16="http://schemas.microsoft.com/office/drawing/2014/main" id="{D1EA11F9-BC34-44DA-B6BD-736F170C56E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82200" y="381000"/>
              <a:ext cx="1524000" cy="21374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乡创引擎</a:t>
              </a:r>
            </a:p>
          </p:txBody>
        </p:sp>
        <p:sp>
          <p:nvSpPr>
            <p:cNvPr id="4" name="p4-rect-67">
              <a:extLst xmlns:a="http://schemas.openxmlformats.org/drawingml/2006/main">
                <a:ext uri="{FF2B5EF4-FFF2-40B4-BE49-F238E27FC236}">
                  <a16:creationId xmlns:a16="http://schemas.microsoft.com/office/drawing/2014/main" id="{A0A53531-1980-4B13-ACED-34919E71E30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6381750"/>
              <a:ext cx="10820400" cy="9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DDCC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5" name="p4-text-68">
              <a:extLst xmlns:a="http://schemas.openxmlformats.org/drawingml/2006/main">
                <a:ext uri="{FF2B5EF4-FFF2-40B4-BE49-F238E27FC236}">
                  <a16:creationId xmlns:a16="http://schemas.microsoft.com/office/drawing/2014/main" id="{D19FCB95-45E3-4B23-BEDC-7736D109114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6505575"/>
              <a:ext cx="9429750" cy="16973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农户身边的 AI 卖货助手</a:t>
              </a:r>
            </a:p>
          </p:txBody>
        </p:sp>
        <p:sp>
          <p:nvSpPr>
            <p:cNvPr id="6" name="p4-text-69">
              <a:extLst xmlns:a="http://schemas.openxmlformats.org/drawingml/2006/main">
                <a:ext uri="{FF2B5EF4-FFF2-40B4-BE49-F238E27FC236}">
                  <a16:creationId xmlns:a16="http://schemas.microsoft.com/office/drawing/2014/main" id="{9619F2BA-0F58-4F04-A598-9890D40FECD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029950" y="6467475"/>
              <a:ext cx="476250" cy="23888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04</a:t>
              </a:r>
            </a:p>
          </p:txBody>
        </p:sp>
      </p:grpSp>
      <p:grpSp>
        <p:nvGrpSpPr>
          <p:cNvPr id="33" name="页面标题"/>
          <p:cNvGrpSpPr/>
          <p:nvPr/>
        </p:nvGrpSpPr>
        <p:grpSpPr>
          <ns1:xfrm xmlns:ns1="http://schemas.openxmlformats.org/drawingml/2006/main">
            <ns1:off x="685800" y="866775"/>
            <ns1:ext cx="10820400" cy="817055"/>
            <ns1:chOff x="685800" y="866775"/>
            <ns1:chExt cx="10820400" cy="817055"/>
          </ns1:xfrm>
        </p:grpSpPr>
        <p:sp>
          <p:nvSpPr>
            <p:cNvPr id="7" name="p4-text-70">
              <a:extLst xmlns:a="http://schemas.openxmlformats.org/drawingml/2006/main">
                <a:ext uri="{FF2B5EF4-FFF2-40B4-BE49-F238E27FC236}">
                  <a16:creationId xmlns:a16="http://schemas.microsoft.com/office/drawing/2014/main" id="{4EB6259C-899A-46C3-91B4-AD4EEA47203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866775"/>
              <a:ext cx="10820400" cy="55321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一箱果子要卖出去，先准备好这三件事</a:t>
              </a:r>
            </a:p>
          </p:txBody>
        </p:sp>
        <p:sp>
          <p:nvSpPr>
            <p:cNvPr id="8" name="p4-text-71">
              <a:extLst xmlns:a="http://schemas.openxmlformats.org/drawingml/2006/main">
                <a:ext uri="{FF2B5EF4-FFF2-40B4-BE49-F238E27FC236}">
                  <a16:creationId xmlns:a16="http://schemas.microsoft.com/office/drawing/2014/main" id="{CF2522B3-9C13-478B-BD44-B3B51A3D1BA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5325" y="1476375"/>
              <a:ext cx="10801350" cy="20745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公开资料启发的产品任务分析；具体需求将在目标农户试用中核实</a:t>
              </a:r>
            </a:p>
          </p:txBody>
        </p:sp>
      </p:grpSp>
      <p:grpSp>
        <p:nvGrpSpPr>
          <p:cNvPr id="34" name="演示主体"/>
          <p:cNvGrpSpPr/>
          <p:nvPr/>
        </p:nvGrpSpPr>
        <p:grpSpPr>
          <ns1:xfrm xmlns:ns1="http://schemas.openxmlformats.org/drawingml/2006/main">
            <ns1:off x="723900" y="2133600"/>
            <ns1:ext cx="10629900" cy="3467100"/>
            <ns1:chOff x="723900" y="2133600"/>
            <ns1:chExt cx="10629900" cy="3467100"/>
          </ns1:xfrm>
        </p:grpSpPr>
        <p:sp>
          <p:nvSpPr>
            <p:cNvPr id="9" name="p4-text-72">
              <a:extLst xmlns:a="http://schemas.openxmlformats.org/drawingml/2006/main">
                <a:ext uri="{FF2B5EF4-FFF2-40B4-BE49-F238E27FC236}">
                  <a16:creationId xmlns:a16="http://schemas.microsoft.com/office/drawing/2014/main" id="{86CD36E5-96F8-4B89-A547-DC4517A133B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2133600"/>
              <a:ext cx="3238500" cy="35204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00" b="1">
                  <a:solidFill>
                    <a:srgbClr val="E59A3D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100" b="1">
                  <a:solidFill>
                    <a:srgbClr val="E59A3D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100" b="1">
                  <a:solidFill>
                    <a:srgbClr val="E59A3D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100" b="1">
                  <a:solidFill>
                    <a:srgbClr val="E59A3D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100" b="1">
                  <a:solidFill>
                    <a:srgbClr val="E59A3D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100" b="1">
                  <a:solidFill>
                    <a:srgbClr val="E59A3D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100" b="1">
                  <a:solidFill>
                    <a:srgbClr val="E59A3D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100" b="1">
                  <a:solidFill>
                    <a:srgbClr val="E59A3D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100" b="1">
                  <a:solidFill>
                    <a:srgbClr val="E59A3D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100" b="1">
                  <a:solidFill>
                    <a:srgbClr val="E59A3D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100" b="1">
                  <a:solidFill>
                    <a:srgbClr val="E59A3D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100" b="1">
                  <a:solidFill>
                    <a:srgbClr val="E59A3D"/>
                  </a:solidFill>
                  <a:latin typeface="Arial Unicode MS"/>
                  <a:ea typeface="Arial Unicode MS"/>
                  <a:cs typeface="Arial Unicode MS"/>
                </a:rPr>
                <a:t>01</a:t>
              </a:r>
            </a:p>
          </p:txBody>
        </p:sp>
        <p:sp>
          <p:nvSpPr>
            <p:cNvPr id="10" name="p4-text-73">
              <a:extLst xmlns:a="http://schemas.openxmlformats.org/drawingml/2006/main">
                <a:ext uri="{FF2B5EF4-FFF2-40B4-BE49-F238E27FC236}">
                  <a16:creationId xmlns:a16="http://schemas.microsoft.com/office/drawing/2014/main" id="{1279295B-48C4-4FB0-B419-DA1E8E6E5BF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2667000"/>
              <a:ext cx="3238500" cy="45262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照片怎么用</a:t>
              </a:r>
            </a:p>
          </p:txBody>
        </p:sp>
        <p:sp>
          <p:nvSpPr>
            <p:cNvPr id="11" name="p4-rect-74">
              <a:extLst xmlns:a="http://schemas.openxmlformats.org/drawingml/2006/main">
                <a:ext uri="{FF2B5EF4-FFF2-40B4-BE49-F238E27FC236}">
                  <a16:creationId xmlns:a16="http://schemas.microsoft.com/office/drawing/2014/main" id="{A2D31BC4-B4EA-4148-9669-CE090C6ED24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3257550"/>
              <a:ext cx="3238500" cy="9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DDCC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12" name="p4-text-75">
              <a:extLst xmlns:a="http://schemas.openxmlformats.org/drawingml/2006/main">
                <a:ext uri="{FF2B5EF4-FFF2-40B4-BE49-F238E27FC236}">
                  <a16:creationId xmlns:a16="http://schemas.microsoft.com/office/drawing/2014/main" id="{0EEFA550-2EA1-4B38-A44B-2648A8CFB8E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3609975"/>
              <a:ext cx="3238500" cy="33947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“哪张当封面？</a:t>
              </a:r>
            </a:p>
          </p:txBody>
        </p:sp>
        <p:sp>
          <p:nvSpPr>
            <p:cNvPr id="13" name="p4-text-76">
              <a:extLst xmlns:a="http://schemas.openxmlformats.org/drawingml/2006/main">
                <a:ext uri="{FF2B5EF4-FFF2-40B4-BE49-F238E27FC236}">
                  <a16:creationId xmlns:a16="http://schemas.microsoft.com/office/drawing/2014/main" id="{B76D94C5-75E8-4F9B-9547-069DCF826EC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4034314"/>
              <a:ext cx="3238500" cy="33947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规格和价格放哪里？”</a:t>
              </a:r>
            </a:p>
          </p:txBody>
        </p:sp>
        <p:sp>
          <p:nvSpPr>
            <p:cNvPr id="14" name="p4-rect-77">
              <a:extLst xmlns:a="http://schemas.openxmlformats.org/drawingml/2006/main">
                <a:ext uri="{FF2B5EF4-FFF2-40B4-BE49-F238E27FC236}">
                  <a16:creationId xmlns:a16="http://schemas.microsoft.com/office/drawing/2014/main" id="{B4AB39F8-A5E0-4022-858F-09861268980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5010150"/>
              <a:ext cx="3238500" cy="5905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8EEDD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15" name="p4-text-78">
              <a:extLst xmlns:a="http://schemas.openxmlformats.org/drawingml/2006/main">
                <a:ext uri="{FF2B5EF4-FFF2-40B4-BE49-F238E27FC236}">
                  <a16:creationId xmlns:a16="http://schemas.microsoft.com/office/drawing/2014/main" id="{02E21931-C0BA-472F-BE01-9E2822D5E9B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76300" y="5172075"/>
              <a:ext cx="2933700" cy="30175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8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8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8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8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8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8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8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8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8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8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8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Agent 准备宣传图</a:t>
              </a:r>
            </a:p>
          </p:txBody>
        </p:sp>
        <p:sp>
          <p:nvSpPr>
            <p:cNvPr id="16" name="p4-text-79">
              <a:extLst xmlns:a="http://schemas.openxmlformats.org/drawingml/2006/main">
                <a:ext uri="{FF2B5EF4-FFF2-40B4-BE49-F238E27FC236}">
                  <a16:creationId xmlns:a16="http://schemas.microsoft.com/office/drawing/2014/main" id="{9AACB0D2-B886-4B48-9E19-437AC060399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19600" y="2133600"/>
              <a:ext cx="3238500" cy="35204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00" b="1">
                  <a:solidFill>
                    <a:srgbClr val="E59A3D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100" b="1">
                  <a:solidFill>
                    <a:srgbClr val="E59A3D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100" b="1">
                  <a:solidFill>
                    <a:srgbClr val="E59A3D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100" b="1">
                  <a:solidFill>
                    <a:srgbClr val="E59A3D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100" b="1">
                  <a:solidFill>
                    <a:srgbClr val="E59A3D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100" b="1">
                  <a:solidFill>
                    <a:srgbClr val="E59A3D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100" b="1">
                  <a:solidFill>
                    <a:srgbClr val="E59A3D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100" b="1">
                  <a:solidFill>
                    <a:srgbClr val="E59A3D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100" b="1">
                  <a:solidFill>
                    <a:srgbClr val="E59A3D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100" b="1">
                  <a:solidFill>
                    <a:srgbClr val="E59A3D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100" b="1">
                  <a:solidFill>
                    <a:srgbClr val="E59A3D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100" b="1">
                  <a:solidFill>
                    <a:srgbClr val="E59A3D"/>
                  </a:solidFill>
                  <a:latin typeface="Arial Unicode MS"/>
                  <a:ea typeface="Arial Unicode MS"/>
                  <a:cs typeface="Arial Unicode MS"/>
                </a:rPr>
                <a:t>02</a:t>
              </a:r>
            </a:p>
          </p:txBody>
        </p:sp>
        <p:sp>
          <p:nvSpPr>
            <p:cNvPr id="17" name="p4-text-80">
              <a:extLst xmlns:a="http://schemas.openxmlformats.org/drawingml/2006/main">
                <a:ext uri="{FF2B5EF4-FFF2-40B4-BE49-F238E27FC236}">
                  <a16:creationId xmlns:a16="http://schemas.microsoft.com/office/drawing/2014/main" id="{2B4E1346-1298-40C1-BDE7-9CE567242F7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19600" y="2667000"/>
              <a:ext cx="3238500" cy="45262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介绍怎么说</a:t>
              </a:r>
            </a:p>
          </p:txBody>
        </p:sp>
        <p:sp>
          <p:nvSpPr>
            <p:cNvPr id="18" name="p4-rect-81">
              <a:extLst xmlns:a="http://schemas.openxmlformats.org/drawingml/2006/main">
                <a:ext uri="{FF2B5EF4-FFF2-40B4-BE49-F238E27FC236}">
                  <a16:creationId xmlns:a16="http://schemas.microsoft.com/office/drawing/2014/main" id="{D0A90CD1-BFEA-4F38-AD57-21D3F4E90F6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19600" y="3257550"/>
              <a:ext cx="3238500" cy="9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DDCC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19" name="p4-text-82">
              <a:extLst xmlns:a="http://schemas.openxmlformats.org/drawingml/2006/main">
                <a:ext uri="{FF2B5EF4-FFF2-40B4-BE49-F238E27FC236}">
                  <a16:creationId xmlns:a16="http://schemas.microsoft.com/office/drawing/2014/main" id="{5FAA80E5-D617-443E-B8A5-324D45D6805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19600" y="3609975"/>
              <a:ext cx="3238500" cy="33947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“除了有需要联系，</a:t>
              </a:r>
            </a:p>
          </p:txBody>
        </p:sp>
        <p:sp>
          <p:nvSpPr>
            <p:cNvPr id="20" name="p4-text-83">
              <a:extLst xmlns:a="http://schemas.openxmlformats.org/drawingml/2006/main">
                <a:ext uri="{FF2B5EF4-FFF2-40B4-BE49-F238E27FC236}">
                  <a16:creationId xmlns:a16="http://schemas.microsoft.com/office/drawing/2014/main" id="{00CEE195-829A-459D-997E-0EF0365AE2A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19600" y="4034314"/>
              <a:ext cx="3238500" cy="33947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还能怎么写？”</a:t>
              </a:r>
            </a:p>
          </p:txBody>
        </p:sp>
        <p:sp>
          <p:nvSpPr>
            <p:cNvPr id="21" name="p4-rect-84">
              <a:extLst xmlns:a="http://schemas.openxmlformats.org/drawingml/2006/main">
                <a:ext uri="{FF2B5EF4-FFF2-40B4-BE49-F238E27FC236}">
                  <a16:creationId xmlns:a16="http://schemas.microsoft.com/office/drawing/2014/main" id="{F5AAFC95-5377-48DE-B769-15FCC0AA80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19600" y="5010150"/>
              <a:ext cx="3238500" cy="5905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8EEDD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2" name="p4-text-85">
              <a:extLst xmlns:a="http://schemas.openxmlformats.org/drawingml/2006/main">
                <a:ext uri="{FF2B5EF4-FFF2-40B4-BE49-F238E27FC236}">
                  <a16:creationId xmlns:a16="http://schemas.microsoft.com/office/drawing/2014/main" id="{647C6509-ED98-458E-AB4D-0D877194053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72000" y="5172075"/>
              <a:ext cx="2933700" cy="30175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8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8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8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8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8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8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8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8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8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8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8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Agent 写渠道文案</a:t>
              </a:r>
            </a:p>
          </p:txBody>
        </p:sp>
        <p:sp>
          <p:nvSpPr>
            <p:cNvPr id="23" name="p4-text-86">
              <a:extLst xmlns:a="http://schemas.openxmlformats.org/drawingml/2006/main">
                <a:ext uri="{FF2B5EF4-FFF2-40B4-BE49-F238E27FC236}">
                  <a16:creationId xmlns:a16="http://schemas.microsoft.com/office/drawing/2014/main" id="{49AE0181-4EE2-4A60-9953-FA8B00F959A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15300" y="2133600"/>
              <a:ext cx="3238500" cy="35204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00" b="1">
                  <a:solidFill>
                    <a:srgbClr val="E59A3D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100" b="1">
                  <a:solidFill>
                    <a:srgbClr val="E59A3D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100" b="1">
                  <a:solidFill>
                    <a:srgbClr val="E59A3D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100" b="1">
                  <a:solidFill>
                    <a:srgbClr val="E59A3D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100" b="1">
                  <a:solidFill>
                    <a:srgbClr val="E59A3D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100" b="1">
                  <a:solidFill>
                    <a:srgbClr val="E59A3D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100" b="1">
                  <a:solidFill>
                    <a:srgbClr val="E59A3D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100" b="1">
                  <a:solidFill>
                    <a:srgbClr val="E59A3D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100" b="1">
                  <a:solidFill>
                    <a:srgbClr val="E59A3D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100" b="1">
                  <a:solidFill>
                    <a:srgbClr val="E59A3D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100" b="1">
                  <a:solidFill>
                    <a:srgbClr val="E59A3D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100" b="1">
                  <a:solidFill>
                    <a:srgbClr val="E59A3D"/>
                  </a:solidFill>
                  <a:latin typeface="Arial Unicode MS"/>
                  <a:ea typeface="Arial Unicode MS"/>
                  <a:cs typeface="Arial Unicode MS"/>
                </a:rPr>
                <a:t>03</a:t>
              </a:r>
            </a:p>
          </p:txBody>
        </p:sp>
        <p:sp>
          <p:nvSpPr>
            <p:cNvPr id="24" name="p4-text-87">
              <a:extLst xmlns:a="http://schemas.openxmlformats.org/drawingml/2006/main">
                <a:ext uri="{FF2B5EF4-FFF2-40B4-BE49-F238E27FC236}">
                  <a16:creationId xmlns:a16="http://schemas.microsoft.com/office/drawing/2014/main" id="{D125ECC0-123A-4707-8B59-A64B4AF8B65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15300" y="2667000"/>
              <a:ext cx="3238500" cy="45262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客户怎么答</a:t>
              </a:r>
            </a:p>
          </p:txBody>
        </p:sp>
        <p:sp>
          <p:nvSpPr>
            <p:cNvPr id="25" name="p4-rect-88">
              <a:extLst xmlns:a="http://schemas.openxmlformats.org/drawingml/2006/main">
                <a:ext uri="{FF2B5EF4-FFF2-40B4-BE49-F238E27FC236}">
                  <a16:creationId xmlns:a16="http://schemas.microsoft.com/office/drawing/2014/main" id="{1CCF0222-872D-4AAC-BF21-0634BF6C1D4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15300" y="3257550"/>
              <a:ext cx="3238500" cy="9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DDCC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6" name="p4-text-89">
              <a:extLst xmlns:a="http://schemas.openxmlformats.org/drawingml/2006/main">
                <a:ext uri="{FF2B5EF4-FFF2-40B4-BE49-F238E27FC236}">
                  <a16:creationId xmlns:a16="http://schemas.microsoft.com/office/drawing/2014/main" id="{60B6F51F-13F6-4DCA-B7D6-291ACC7BAE9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15300" y="3609975"/>
              <a:ext cx="3238500" cy="33947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“59 元是一盒吗？</a:t>
              </a:r>
            </a:p>
          </p:txBody>
        </p:sp>
        <p:sp>
          <p:nvSpPr>
            <p:cNvPr id="27" name="p4-text-90">
              <a:extLst xmlns:a="http://schemas.openxmlformats.org/drawingml/2006/main">
                <a:ext uri="{FF2B5EF4-FFF2-40B4-BE49-F238E27FC236}">
                  <a16:creationId xmlns:a16="http://schemas.microsoft.com/office/drawing/2014/main" id="{D8C7F349-A286-412D-A24E-EA1DCE4322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15300" y="4034314"/>
              <a:ext cx="3238500" cy="33947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能不能寄快递？”</a:t>
              </a:r>
            </a:p>
          </p:txBody>
        </p:sp>
        <p:sp>
          <p:nvSpPr>
            <p:cNvPr id="28" name="p4-rect-91">
              <a:extLst xmlns:a="http://schemas.openxmlformats.org/drawingml/2006/main">
                <a:ext uri="{FF2B5EF4-FFF2-40B4-BE49-F238E27FC236}">
                  <a16:creationId xmlns:a16="http://schemas.microsoft.com/office/drawing/2014/main" id="{7FF57AFE-8DAF-47BD-AB7B-E937F861768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15300" y="5010150"/>
              <a:ext cx="3238500" cy="5905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8EEDD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9" name="p4-text-92">
              <a:extLst xmlns:a="http://schemas.openxmlformats.org/drawingml/2006/main">
                <a:ext uri="{FF2B5EF4-FFF2-40B4-BE49-F238E27FC236}">
                  <a16:creationId xmlns:a16="http://schemas.microsoft.com/office/drawing/2014/main" id="{17F2058A-3BC8-4447-AB79-864B48A0760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267700" y="5172075"/>
              <a:ext cx="2933700" cy="30175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8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8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8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8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8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8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8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8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8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8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8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Agent 查资料拟回复</a:t>
              </a:r>
            </a:p>
          </p:txBody>
        </p:sp>
      </p:grpSp>
      <p:sp>
        <p:nvSpPr>
          <p:cNvPr id="30" name="p4-text-93">
            <a:extLst xmlns:a="http://schemas.openxmlformats.org/drawingml/2006/main">
              <a:ext uri="{FF2B5EF4-FFF2-40B4-BE49-F238E27FC236}">
                <a16:creationId xmlns:a16="http://schemas.microsoft.com/office/drawing/2014/main" id="{EB8A75A9-FF42-4D5F-91C8-D1A5219B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24575"/>
            <a:ext cx="10782300" cy="1948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163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163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163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163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163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163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163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163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163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163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63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rPr>
              <a:t>研究依据：湘粤地区 528 份农户调查（2023）；上述三项为本项目任务分析，不是调查百分比或真实访谈引语。</a:t>
            </a:r>
          </a:p>
        </p:txBody>
      </p:sp>
    </p:spTree>
    <p:extLst>
      <p:ext uri="{BB962C8B-B14F-4D97-AF65-F5344CB8AC3E}">
        <p14:creationId xmlns:p14="http://schemas.microsoft.com/office/powerpoint/2010/main" val="12334540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54" name="模板 / 页眉页脚"/>
          <p:cNvGrpSpPr/>
          <p:nvPr/>
        </p:nvGrpSpPr>
        <p:grpSpPr>
          <ns1:xfrm xmlns:ns1="http://schemas.openxmlformats.org/drawingml/2006/main">
            <ns1:off x="685800" y="371475"/>
            <ns1:ext cx="10820400" cy="6334887"/>
            <ns1:chOff x="685800" y="371475"/>
            <ns1:chExt cx="10820400" cy="6334887"/>
          </ns1:xfrm>
        </p:grpSpPr>
        <p:sp>
          <p:nvSpPr>
            <p:cNvPr id="53" name="p5-rect-94">
              <a:extLst xmlns:a="http://schemas.openxmlformats.org/drawingml/2006/main">
                <a:ext uri="{FF2B5EF4-FFF2-40B4-BE49-F238E27FC236}">
                  <a16:creationId xmlns:a16="http://schemas.microsoft.com/office/drawing/2014/main" id="{A1D6192F-1026-4EDC-AE44-EE0DC221B0E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371475"/>
              <a:ext cx="66675" cy="2190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245B42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" name="p5-text-95">
              <a:extLst xmlns:a="http://schemas.openxmlformats.org/drawingml/2006/main">
                <a:ext uri="{FF2B5EF4-FFF2-40B4-BE49-F238E27FC236}">
                  <a16:creationId xmlns:a16="http://schemas.microsoft.com/office/drawing/2014/main" id="{777DF3B8-FD9B-43F2-9294-8D64ED4ECB4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85825" y="390525"/>
              <a:ext cx="8239125" cy="20116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04 / 陈叔的贡柑</a:t>
              </a:r>
            </a:p>
          </p:txBody>
        </p:sp>
        <p:sp>
          <p:nvSpPr>
            <p:cNvPr id="3" name="p5-text-96">
              <a:extLst xmlns:a="http://schemas.openxmlformats.org/drawingml/2006/main">
                <a:ext uri="{FF2B5EF4-FFF2-40B4-BE49-F238E27FC236}">
                  <a16:creationId xmlns:a16="http://schemas.microsoft.com/office/drawing/2014/main" id="{EF8DD1F6-2DEC-4F88-9894-61F97A6F3E0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82200" y="381000"/>
              <a:ext cx="1524000" cy="21374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乡创引擎</a:t>
              </a:r>
            </a:p>
          </p:txBody>
        </p:sp>
        <p:sp>
          <p:nvSpPr>
            <p:cNvPr id="4" name="p5-rect-97">
              <a:extLst xmlns:a="http://schemas.openxmlformats.org/drawingml/2006/main">
                <a:ext uri="{FF2B5EF4-FFF2-40B4-BE49-F238E27FC236}">
                  <a16:creationId xmlns:a16="http://schemas.microsoft.com/office/drawing/2014/main" id="{1C114B70-4758-464C-937C-6F6769E4773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6381750"/>
              <a:ext cx="10820400" cy="9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DDCC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5" name="p5-text-98">
              <a:extLst xmlns:a="http://schemas.openxmlformats.org/drawingml/2006/main">
                <a:ext uri="{FF2B5EF4-FFF2-40B4-BE49-F238E27FC236}">
                  <a16:creationId xmlns:a16="http://schemas.microsoft.com/office/drawing/2014/main" id="{D8B1735B-186B-4676-95FB-6786DC0C619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6505575"/>
              <a:ext cx="9429750" cy="16973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农户身边的 AI 卖货助手</a:t>
              </a:r>
            </a:p>
          </p:txBody>
        </p:sp>
        <p:sp>
          <p:nvSpPr>
            <p:cNvPr id="6" name="p5-text-99">
              <a:extLst xmlns:a="http://schemas.openxmlformats.org/drawingml/2006/main">
                <a:ext uri="{FF2B5EF4-FFF2-40B4-BE49-F238E27FC236}">
                  <a16:creationId xmlns:a16="http://schemas.microsoft.com/office/drawing/2014/main" id="{1F3033B6-13EF-4882-BA12-DAE7AABC20C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029950" y="6467475"/>
              <a:ext cx="476250" cy="23888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05</a:t>
              </a:r>
            </a:p>
          </p:txBody>
        </p:sp>
      </p:grpSp>
      <p:grpSp>
        <p:nvGrpSpPr>
          <p:cNvPr id="55" name="页面标题"/>
          <p:cNvGrpSpPr/>
          <p:nvPr/>
        </p:nvGrpSpPr>
        <p:grpSpPr>
          <ns1:xfrm xmlns:ns1="http://schemas.openxmlformats.org/drawingml/2006/main">
            <ns1:off x="685800" y="866775"/>
            <ns1:ext cx="10820400" cy="817055"/>
            <ns1:chOff x="685800" y="866775"/>
            <ns1:chExt cx="10820400" cy="817055"/>
          </ns1:xfrm>
        </p:grpSpPr>
        <p:sp>
          <p:nvSpPr>
            <p:cNvPr id="7" name="p5-text-100">
              <a:extLst xmlns:a="http://schemas.openxmlformats.org/drawingml/2006/main">
                <a:ext uri="{FF2B5EF4-FFF2-40B4-BE49-F238E27FC236}">
                  <a16:creationId xmlns:a16="http://schemas.microsoft.com/office/drawing/2014/main" id="{35C93F07-05E3-45CB-804C-8B6EBD27D9E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866775"/>
              <a:ext cx="10820400" cy="55321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陈叔想试试，把贡柑卖给附近的人</a:t>
              </a:r>
            </a:p>
          </p:txBody>
        </p:sp>
        <p:sp>
          <p:nvSpPr>
            <p:cNvPr id="8" name="p5-text-101">
              <a:extLst xmlns:a="http://schemas.openxmlformats.org/drawingml/2006/main">
                <a:ext uri="{FF2B5EF4-FFF2-40B4-BE49-F238E27FC236}">
                  <a16:creationId xmlns:a16="http://schemas.microsoft.com/office/drawing/2014/main" id="{BEDCD022-22AA-44EA-872A-FD9580F1C7A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5325" y="1476375"/>
              <a:ext cx="10801350" cy="20745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界面演示：上传自己的照片，把已经知道的资料填清楚</a:t>
              </a:r>
            </a:p>
          </p:txBody>
        </p:sp>
      </p:grpSp>
      <p:grpSp>
        <p:nvGrpSpPr>
          <p:cNvPr id="56" name="项目界面 / 资料确认"/>
          <p:cNvGrpSpPr/>
          <p:nvPr/>
        </p:nvGrpSpPr>
        <p:grpSpPr>
          <ns1:xfrm xmlns:ns1="http://schemas.openxmlformats.org/drawingml/2006/main">
            <ns1:off x="685800" y="1809750"/>
            <ns1:ext cx="10820400" cy="3981450"/>
            <ns1:chOff x="685800" y="1809750"/>
            <ns1:chExt cx="10820400" cy="3981450"/>
          </ns1:xfrm>
        </p:grpSpPr>
        <p:sp>
          <p:nvSpPr>
            <p:cNvPr id="9" name="p5-rect-102">
              <a:extLst xmlns:a="http://schemas.openxmlformats.org/drawingml/2006/main">
                <a:ext uri="{FF2B5EF4-FFF2-40B4-BE49-F238E27FC236}">
                  <a16:creationId xmlns:a16="http://schemas.microsoft.com/office/drawing/2014/main" id="{536C11BA-B0C8-44D0-A4A2-19E4F0D139E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1809750"/>
              <a:ext cx="10820400" cy="39814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8FAF6"/>
            </a:solidFill>
            <a:ln xmlns:a="http://schemas.openxmlformats.org/drawingml/2006/main" w="9525">
              <a:solidFill>
                <a:srgbClr val="E3E9DD"/>
              </a:solidFill>
              <a:prstDash val="solid"/>
            </a:ln>
          </p:spPr>
        </p:sp>
        <p:sp>
          <p:nvSpPr>
            <p:cNvPr id="10" name="p5-rect-103">
              <a:extLst xmlns:a="http://schemas.openxmlformats.org/drawingml/2006/main">
                <a:ext uri="{FF2B5EF4-FFF2-40B4-BE49-F238E27FC236}">
                  <a16:creationId xmlns:a16="http://schemas.microsoft.com/office/drawing/2014/main" id="{DC78186A-80F2-4DB0-B113-7AF9FD0F5F7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1809750"/>
              <a:ext cx="1685925" cy="39814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E3E9DD"/>
              </a:solidFill>
              <a:prstDash val="solid"/>
            </a:ln>
          </p:spPr>
        </p:sp>
        <p:sp>
          <p:nvSpPr>
            <p:cNvPr id="11" name="p5-text-104">
              <a:extLst xmlns:a="http://schemas.openxmlformats.org/drawingml/2006/main">
                <a:ext uri="{FF2B5EF4-FFF2-40B4-BE49-F238E27FC236}">
                  <a16:creationId xmlns:a16="http://schemas.microsoft.com/office/drawing/2014/main" id="{EA78A177-D8ED-4AA2-B2FA-BFE03147BC4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7250" y="2009775"/>
              <a:ext cx="1371600" cy="3143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8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8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8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8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8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8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8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8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8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8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8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乡创引擎</a:t>
              </a:r>
            </a:p>
          </p:txBody>
        </p:sp>
        <p:sp>
          <p:nvSpPr>
            <p:cNvPr id="12" name="p5-text-105">
              <a:extLst xmlns:a="http://schemas.openxmlformats.org/drawingml/2006/main">
                <a:ext uri="{FF2B5EF4-FFF2-40B4-BE49-F238E27FC236}">
                  <a16:creationId xmlns:a16="http://schemas.microsoft.com/office/drawing/2014/main" id="{766CC0B8-BFF1-4315-9682-0CEC66B4275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7250" y="2371725"/>
              <a:ext cx="1400175" cy="17602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05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05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05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05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05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05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05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05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05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05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05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05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rPr>
                <a:t>我家的卖货小帮手</a:t>
              </a:r>
            </a:p>
          </p:txBody>
        </p:sp>
        <p:sp>
          <p:nvSpPr>
            <p:cNvPr id="13" name="p5-text-106">
              <a:extLst xmlns:a="http://schemas.openxmlformats.org/drawingml/2006/main">
                <a:ext uri="{FF2B5EF4-FFF2-40B4-BE49-F238E27FC236}">
                  <a16:creationId xmlns:a16="http://schemas.microsoft.com/office/drawing/2014/main" id="{063B96FF-E32B-4800-8B8A-82CDF6738A0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04875" y="2752725"/>
              <a:ext cx="1323975" cy="20745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rPr>
                <a:t>开始卖产品</a:t>
              </a:r>
            </a:p>
          </p:txBody>
        </p:sp>
        <p:sp>
          <p:nvSpPr>
            <p:cNvPr id="14" name="p5-rect-107">
              <a:extLst xmlns:a="http://schemas.openxmlformats.org/drawingml/2006/main">
                <a:ext uri="{FF2B5EF4-FFF2-40B4-BE49-F238E27FC236}">
                  <a16:creationId xmlns:a16="http://schemas.microsoft.com/office/drawing/2014/main" id="{B3D049B9-6E97-4ACC-A83D-877C6BC4F5F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1050" y="3086100"/>
              <a:ext cx="1495425" cy="3429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4E9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15" name="p5-text-108">
              <a:extLst xmlns:a="http://schemas.openxmlformats.org/drawingml/2006/main">
                <a:ext uri="{FF2B5EF4-FFF2-40B4-BE49-F238E27FC236}">
                  <a16:creationId xmlns:a16="http://schemas.microsoft.com/office/drawing/2014/main" id="{FBA7AD2A-EC72-4CB2-85EA-E61C49F82C4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04875" y="3162300"/>
              <a:ext cx="1323975" cy="20745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38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238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238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238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238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238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238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238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238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238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238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38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我的产品与照片</a:t>
              </a:r>
            </a:p>
          </p:txBody>
        </p:sp>
        <p:sp>
          <p:nvSpPr>
            <p:cNvPr id="16" name="p5-text-109">
              <a:extLst xmlns:a="http://schemas.openxmlformats.org/drawingml/2006/main">
                <a:ext uri="{FF2B5EF4-FFF2-40B4-BE49-F238E27FC236}">
                  <a16:creationId xmlns:a16="http://schemas.microsoft.com/office/drawing/2014/main" id="{7BFC7989-AD7A-41B8-94BB-09960483E5B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04875" y="3571875"/>
              <a:ext cx="1323975" cy="20745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rPr>
                <a:t>我的卖货方案</a:t>
              </a:r>
            </a:p>
          </p:txBody>
        </p:sp>
        <p:sp>
          <p:nvSpPr>
            <p:cNvPr id="17" name="p5-text-110">
              <a:extLst xmlns:a="http://schemas.openxmlformats.org/drawingml/2006/main">
                <a:ext uri="{FF2B5EF4-FFF2-40B4-BE49-F238E27FC236}">
                  <a16:creationId xmlns:a16="http://schemas.microsoft.com/office/drawing/2014/main" id="{85FF94C7-7E7C-4645-96E7-1A617E1C0FC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04875" y="3981450"/>
              <a:ext cx="1323975" cy="20745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rPr>
                <a:t>可以发布的图文</a:t>
              </a:r>
            </a:p>
          </p:txBody>
        </p:sp>
        <p:sp>
          <p:nvSpPr>
            <p:cNvPr id="18" name="p5-text-111">
              <a:extLst xmlns:a="http://schemas.openxmlformats.org/drawingml/2006/main">
                <a:ext uri="{FF2B5EF4-FFF2-40B4-BE49-F238E27FC236}">
                  <a16:creationId xmlns:a16="http://schemas.microsoft.com/office/drawing/2014/main" id="{6C18C7F6-2D3C-4612-9512-53EE3AB51D2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04875" y="4391025"/>
              <a:ext cx="1323975" cy="20745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rPr>
                <a:t>发布前检查</a:t>
              </a:r>
            </a:p>
          </p:txBody>
        </p:sp>
        <p:sp>
          <p:nvSpPr>
            <p:cNvPr id="19" name="p5-text-112">
              <a:extLst xmlns:a="http://schemas.openxmlformats.org/drawingml/2006/main">
                <a:ext uri="{FF2B5EF4-FFF2-40B4-BE49-F238E27FC236}">
                  <a16:creationId xmlns:a16="http://schemas.microsoft.com/office/drawing/2014/main" id="{E15BE17D-E745-4EC6-B966-35C02D34A65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04875" y="4800600"/>
              <a:ext cx="1323975" cy="20745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rPr>
                <a:t>我的行动清单</a:t>
              </a:r>
            </a:p>
          </p:txBody>
        </p:sp>
        <p:sp>
          <p:nvSpPr>
            <p:cNvPr id="20" name="p5-text-113">
              <a:extLst xmlns:a="http://schemas.openxmlformats.org/drawingml/2006/main">
                <a:ext uri="{FF2B5EF4-FFF2-40B4-BE49-F238E27FC236}">
                  <a16:creationId xmlns:a16="http://schemas.microsoft.com/office/drawing/2014/main" id="{0687A202-E262-4D6C-BDD6-8AC0E5FC6AD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7250" y="5505450"/>
              <a:ext cx="1381125" cy="15716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9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9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9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9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9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9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9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9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9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9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9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9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rPr>
                <a:t>本次页面会话内保存</a:t>
              </a:r>
            </a:p>
          </p:txBody>
        </p:sp>
        <p:sp>
          <p:nvSpPr>
            <p:cNvPr id="21" name="p5-rect-114">
              <a:extLst xmlns:a="http://schemas.openxmlformats.org/drawingml/2006/main">
                <a:ext uri="{FF2B5EF4-FFF2-40B4-BE49-F238E27FC236}">
                  <a16:creationId xmlns:a16="http://schemas.microsoft.com/office/drawing/2014/main" id="{58647E26-966A-4C14-B955-5BC451367B5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71725" y="1809750"/>
              <a:ext cx="9134475" cy="4000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E3E9DD"/>
              </a:solidFill>
              <a:prstDash val="solid"/>
            </a:ln>
          </p:spPr>
        </p:sp>
        <p:sp>
          <p:nvSpPr>
            <p:cNvPr id="22" name="p5-text-115">
              <a:extLst xmlns:a="http://schemas.openxmlformats.org/drawingml/2006/main">
                <a:ext uri="{FF2B5EF4-FFF2-40B4-BE49-F238E27FC236}">
                  <a16:creationId xmlns:a16="http://schemas.microsoft.com/office/drawing/2014/main" id="{6A15785D-4BAA-40F4-9409-6530BB9CE95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552700" y="1924050"/>
              <a:ext cx="6591300" cy="18859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12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12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12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12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12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12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12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12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12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12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12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12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rPr>
                <a:t>我的卖货空间  &gt;  我的产品与照片</a:t>
              </a:r>
            </a:p>
          </p:txBody>
        </p:sp>
        <p:sp>
          <p:nvSpPr>
            <p:cNvPr id="23" name="p5-text-116">
              <a:extLst xmlns:a="http://schemas.openxmlformats.org/drawingml/2006/main">
                <a:ext uri="{FF2B5EF4-FFF2-40B4-BE49-F238E27FC236}">
                  <a16:creationId xmlns:a16="http://schemas.microsoft.com/office/drawing/2014/main" id="{F824CE75-7C12-4FE0-8AE8-3F58B47714B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201275" y="1924050"/>
              <a:ext cx="1114425" cy="18859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r">
                <a:defRPr sz="112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r">
                <a:defRPr sz="112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r">
                <a:defRPr sz="112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r">
                <a:defRPr sz="112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r">
                <a:defRPr sz="112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r">
                <a:defRPr sz="112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r">
                <a:defRPr sz="112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r">
                <a:defRPr sz="112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r">
                <a:defRPr sz="112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r">
                <a:defRPr sz="112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r">
                <a:defRPr sz="112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12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rPr>
                <a:t>本地体验版</a:t>
              </a:r>
            </a:p>
          </p:txBody>
        </p:sp>
        <p:sp>
          <p:nvSpPr>
            <p:cNvPr id="24" name="p5-text-117">
              <a:extLst xmlns:a="http://schemas.openxmlformats.org/drawingml/2006/main">
                <a:ext uri="{FF2B5EF4-FFF2-40B4-BE49-F238E27FC236}">
                  <a16:creationId xmlns:a16="http://schemas.microsoft.com/office/drawing/2014/main" id="{2982241D-4B45-44C8-8358-5A11C0E3EAF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543175" y="2352675"/>
              <a:ext cx="8772525" cy="32689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9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9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9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9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9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9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9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9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9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9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9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9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我的产品与照片</a:t>
              </a:r>
            </a:p>
          </p:txBody>
        </p:sp>
        <p:sp>
          <p:nvSpPr>
            <p:cNvPr id="25" name="p5-rect-118">
              <a:extLst xmlns:a="http://schemas.openxmlformats.org/drawingml/2006/main">
                <a:ext uri="{FF2B5EF4-FFF2-40B4-BE49-F238E27FC236}">
                  <a16:creationId xmlns:a16="http://schemas.microsoft.com/office/drawing/2014/main" id="{86E8FA38-58A8-4ADE-B531-37E00F8053B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543175" y="2733675"/>
              <a:ext cx="2781300" cy="3143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8FAF6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6" name="p5-text-119">
              <a:extLst xmlns:a="http://schemas.openxmlformats.org/drawingml/2006/main">
                <a:ext uri="{FF2B5EF4-FFF2-40B4-BE49-F238E27FC236}">
                  <a16:creationId xmlns:a16="http://schemas.microsoft.com/office/drawing/2014/main" id="{E9BE8604-C36C-42B3-A606-E7BD74C62D6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57475" y="2790825"/>
              <a:ext cx="2571750" cy="22631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35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35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35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35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35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35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35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35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35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35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35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35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rPr>
                <a:t>1  产品和照片</a:t>
              </a:r>
            </a:p>
          </p:txBody>
        </p:sp>
        <p:sp>
          <p:nvSpPr>
            <p:cNvPr id="27" name="p5-rect-120">
              <a:extLst xmlns:a="http://schemas.openxmlformats.org/drawingml/2006/main">
                <a:ext uri="{FF2B5EF4-FFF2-40B4-BE49-F238E27FC236}">
                  <a16:creationId xmlns:a16="http://schemas.microsoft.com/office/drawing/2014/main" id="{8AA356D6-626E-4F3A-BB04-038F4BC6E08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67350" y="2733675"/>
              <a:ext cx="2781300" cy="3143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4E9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8" name="p5-text-121">
              <a:extLst xmlns:a="http://schemas.openxmlformats.org/drawingml/2006/main">
                <a:ext uri="{FF2B5EF4-FFF2-40B4-BE49-F238E27FC236}">
                  <a16:creationId xmlns:a16="http://schemas.microsoft.com/office/drawing/2014/main" id="{DF25B912-9795-488A-8F29-503754DE6C9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581650" y="2790825"/>
              <a:ext cx="2571750" cy="22631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3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3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3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3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3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3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3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3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3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3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3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3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2  怎么卖与怎么送</a:t>
              </a:r>
            </a:p>
          </p:txBody>
        </p:sp>
        <p:sp>
          <p:nvSpPr>
            <p:cNvPr id="29" name="p5-rect-122">
              <a:extLst xmlns:a="http://schemas.openxmlformats.org/drawingml/2006/main">
                <a:ext uri="{FF2B5EF4-FFF2-40B4-BE49-F238E27FC236}">
                  <a16:creationId xmlns:a16="http://schemas.microsoft.com/office/drawing/2014/main" id="{768E3313-F50A-48AD-BB75-3593801595F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391525" y="2733675"/>
              <a:ext cx="2781300" cy="3143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8FAF6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30" name="p5-text-123">
              <a:extLst xmlns:a="http://schemas.openxmlformats.org/drawingml/2006/main">
                <a:ext uri="{FF2B5EF4-FFF2-40B4-BE49-F238E27FC236}">
                  <a16:creationId xmlns:a16="http://schemas.microsoft.com/office/drawing/2014/main" id="{34DD692E-C6DD-4C62-982E-288FFFF63E3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05825" y="2790825"/>
              <a:ext cx="2571750" cy="22631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35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35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35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35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35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35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35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35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35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35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35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35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rPr>
                <a:t>3  确认资料</a:t>
              </a:r>
            </a:p>
          </p:txBody>
        </p:sp>
        <p:pic>
          <p:nvPicPr>
            <p:cNvPr id="31" name="">
              <a:extLst xmlns:a="http://schemas.openxmlformats.org/drawingml/2006/main">
                <a:ext uri="{FF2B5EF4-FFF2-40B4-BE49-F238E27FC236}">
                  <a16:creationId xmlns:a16="http://schemas.microsoft.com/office/drawing/2014/main" id="{6DA7B6FC-2C1F-4DA3-8EB6-40C2E0753D16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7a95bd48d85f4b4d"/>
            <a:srcRect xmlns:a="http://schemas.openxmlformats.org/drawingml/2006/main" l="7494" t="0" r="7494" b="0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>
              <a:off x="2543175" y="3209925"/>
              <a:ext cx="1809750" cy="1419225"/>
            </a:xfrm>
            <a:prstGeom xmlns:a="http://schemas.openxmlformats.org/drawingml/2006/main" prst="rect">
              <a:avLst/>
            </a:prstGeom>
          </p:spPr>
        </p:pic>
        <p:pic>
          <p:nvPicPr>
            <p:cNvPr id="32" name="">
              <a:extLst xmlns:a="http://schemas.openxmlformats.org/drawingml/2006/main">
                <a:ext uri="{FF2B5EF4-FFF2-40B4-BE49-F238E27FC236}">
                  <a16:creationId xmlns:a16="http://schemas.microsoft.com/office/drawing/2014/main" id="{5E6F2589-A68B-42A7-B875-3A22DC928541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82f4c14cc8024222"/>
            <a:srcRect xmlns:a="http://schemas.openxmlformats.org/drawingml/2006/main" l="0" t="4201" r="0" b="4201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>
              <a:off x="4476750" y="3209925"/>
              <a:ext cx="1162050" cy="1419225"/>
            </a:xfrm>
            <a:prstGeom xmlns:a="http://schemas.openxmlformats.org/drawingml/2006/main" prst="rect">
              <a:avLst/>
            </a:prstGeom>
          </p:spPr>
        </p:pic>
        <p:sp>
          <p:nvSpPr>
            <p:cNvPr id="33" name="p5-text-124">
              <a:extLst xmlns:a="http://schemas.openxmlformats.org/drawingml/2006/main">
                <a:ext uri="{FF2B5EF4-FFF2-40B4-BE49-F238E27FC236}">
                  <a16:creationId xmlns:a16="http://schemas.microsoft.com/office/drawing/2014/main" id="{3FFD47B2-E216-4519-81DC-CD0CA49E254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543175" y="4810125"/>
              <a:ext cx="3095625" cy="25146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50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50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50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50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50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50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50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50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50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50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50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50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rPr>
                <a:t>整体图 + 细节图</a:t>
              </a:r>
            </a:p>
          </p:txBody>
        </p:sp>
        <p:sp>
          <p:nvSpPr>
            <p:cNvPr id="34" name="p5-text-125">
              <a:extLst xmlns:a="http://schemas.openxmlformats.org/drawingml/2006/main">
                <a:ext uri="{FF2B5EF4-FFF2-40B4-BE49-F238E27FC236}">
                  <a16:creationId xmlns:a16="http://schemas.microsoft.com/office/drawing/2014/main" id="{5A5EBD5E-F177-4AFF-8FE4-8CDA6502E45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57875" y="3181350"/>
              <a:ext cx="2619375" cy="21374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rPr>
                <a:t>产品名称 *</a:t>
              </a:r>
            </a:p>
          </p:txBody>
        </p:sp>
        <p:sp>
          <p:nvSpPr>
            <p:cNvPr id="35" name="p5-rect-126">
              <a:extLst xmlns:a="http://schemas.openxmlformats.org/drawingml/2006/main">
                <a:ext uri="{FF2B5EF4-FFF2-40B4-BE49-F238E27FC236}">
                  <a16:creationId xmlns:a16="http://schemas.microsoft.com/office/drawing/2014/main" id="{2C641ED0-22F6-4D88-A069-B4471D78EB0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57875" y="3419475"/>
              <a:ext cx="2619375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E3E9DD"/>
              </a:solidFill>
              <a:prstDash val="solid"/>
            </a:ln>
          </p:spPr>
        </p:sp>
        <p:sp>
          <p:nvSpPr>
            <p:cNvPr id="36" name="p5-text-127">
              <a:extLst xmlns:a="http://schemas.openxmlformats.org/drawingml/2006/main">
                <a:ext uri="{FF2B5EF4-FFF2-40B4-BE49-F238E27FC236}">
                  <a16:creationId xmlns:a16="http://schemas.microsoft.com/office/drawing/2014/main" id="{ECCFF07C-E191-4DF7-A939-FF555183D84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72175" y="3495675"/>
              <a:ext cx="2390775" cy="27660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贡柑家庭装</a:t>
              </a:r>
            </a:p>
          </p:txBody>
        </p:sp>
        <p:sp>
          <p:nvSpPr>
            <p:cNvPr id="37" name="p5-text-128">
              <a:extLst xmlns:a="http://schemas.openxmlformats.org/drawingml/2006/main">
                <a:ext uri="{FF2B5EF4-FFF2-40B4-BE49-F238E27FC236}">
                  <a16:creationId xmlns:a16="http://schemas.microsoft.com/office/drawing/2014/main" id="{0982E018-BFAB-4186-B667-C25B49671A6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696325" y="3181350"/>
              <a:ext cx="2619375" cy="21374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rPr>
                <a:t>产地 *</a:t>
              </a:r>
            </a:p>
          </p:txBody>
        </p:sp>
        <p:sp>
          <p:nvSpPr>
            <p:cNvPr id="38" name="p5-rect-129">
              <a:extLst xmlns:a="http://schemas.openxmlformats.org/drawingml/2006/main">
                <a:ext uri="{FF2B5EF4-FFF2-40B4-BE49-F238E27FC236}">
                  <a16:creationId xmlns:a16="http://schemas.microsoft.com/office/drawing/2014/main" id="{6E989829-9F49-484E-9BF6-D19D07F2DDD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696325" y="3419475"/>
              <a:ext cx="2619375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E3E9DD"/>
              </a:solidFill>
              <a:prstDash val="solid"/>
            </a:ln>
          </p:spPr>
        </p:sp>
        <p:sp>
          <p:nvSpPr>
            <p:cNvPr id="39" name="p5-text-130">
              <a:extLst xmlns:a="http://schemas.openxmlformats.org/drawingml/2006/main">
                <a:ext uri="{FF2B5EF4-FFF2-40B4-BE49-F238E27FC236}">
                  <a16:creationId xmlns:a16="http://schemas.microsoft.com/office/drawing/2014/main" id="{B4265CDC-520A-4DE0-B6C8-648B6FF4C98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810625" y="3495675"/>
              <a:ext cx="2390775" cy="27660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广东肇庆</a:t>
              </a:r>
            </a:p>
          </p:txBody>
        </p:sp>
        <p:sp>
          <p:nvSpPr>
            <p:cNvPr id="40" name="p5-text-131">
              <a:extLst xmlns:a="http://schemas.openxmlformats.org/drawingml/2006/main">
                <a:ext uri="{FF2B5EF4-FFF2-40B4-BE49-F238E27FC236}">
                  <a16:creationId xmlns:a16="http://schemas.microsoft.com/office/drawing/2014/main" id="{4D1F6ABF-79C7-4B05-A256-79F770E50CA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57875" y="4000500"/>
              <a:ext cx="2619375" cy="21374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rPr>
                <a:t>规格 *</a:t>
              </a:r>
            </a:p>
          </p:txBody>
        </p:sp>
        <p:sp>
          <p:nvSpPr>
            <p:cNvPr id="41" name="p5-rect-132">
              <a:extLst xmlns:a="http://schemas.openxmlformats.org/drawingml/2006/main">
                <a:ext uri="{FF2B5EF4-FFF2-40B4-BE49-F238E27FC236}">
                  <a16:creationId xmlns:a16="http://schemas.microsoft.com/office/drawing/2014/main" id="{489853F2-70DF-4714-9885-FDE0753F3CB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57875" y="4238625"/>
              <a:ext cx="2619375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E3E9DD"/>
              </a:solidFill>
              <a:prstDash val="solid"/>
            </a:ln>
          </p:spPr>
        </p:sp>
        <p:sp>
          <p:nvSpPr>
            <p:cNvPr id="42" name="p5-text-133">
              <a:extLst xmlns:a="http://schemas.openxmlformats.org/drawingml/2006/main">
                <a:ext uri="{FF2B5EF4-FFF2-40B4-BE49-F238E27FC236}">
                  <a16:creationId xmlns:a16="http://schemas.microsoft.com/office/drawing/2014/main" id="{56AB0A79-B226-42B7-8024-9EDE80A0717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72175" y="4314825"/>
              <a:ext cx="2390775" cy="27660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3 kg / 盒</a:t>
              </a:r>
            </a:p>
          </p:txBody>
        </p:sp>
        <p:sp>
          <p:nvSpPr>
            <p:cNvPr id="43" name="p5-text-134">
              <a:extLst xmlns:a="http://schemas.openxmlformats.org/drawingml/2006/main">
                <a:ext uri="{FF2B5EF4-FFF2-40B4-BE49-F238E27FC236}">
                  <a16:creationId xmlns:a16="http://schemas.microsoft.com/office/drawing/2014/main" id="{5ADE30E7-23D4-487E-8B0F-E710A4C8CA0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696325" y="4000500"/>
              <a:ext cx="2619375" cy="21374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rPr>
                <a:t>售价 *</a:t>
              </a:r>
            </a:p>
          </p:txBody>
        </p:sp>
        <p:sp>
          <p:nvSpPr>
            <p:cNvPr id="44" name="p5-rect-135">
              <a:extLst xmlns:a="http://schemas.openxmlformats.org/drawingml/2006/main">
                <a:ext uri="{FF2B5EF4-FFF2-40B4-BE49-F238E27FC236}">
                  <a16:creationId xmlns:a16="http://schemas.microsoft.com/office/drawing/2014/main" id="{B5E86200-E041-4B40-B2AA-D5CEF82B386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696325" y="4238625"/>
              <a:ext cx="2619375" cy="390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E59A3D"/>
              </a:solidFill>
              <a:prstDash val="solid"/>
            </a:ln>
          </p:spPr>
        </p:sp>
        <p:sp>
          <p:nvSpPr>
            <p:cNvPr id="45" name="p5-text-136">
              <a:extLst xmlns:a="http://schemas.openxmlformats.org/drawingml/2006/main">
                <a:ext uri="{FF2B5EF4-FFF2-40B4-BE49-F238E27FC236}">
                  <a16:creationId xmlns:a16="http://schemas.microsoft.com/office/drawing/2014/main" id="{C6EDE19B-D1C9-4E9A-BA8E-56CAE88E84C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810625" y="4314825"/>
              <a:ext cx="2390775" cy="27660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6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6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6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6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6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6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6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6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6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6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6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6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¥59</a:t>
              </a:r>
            </a:p>
          </p:txBody>
        </p:sp>
        <p:sp>
          <p:nvSpPr>
            <p:cNvPr id="46" name="p5-text-137">
              <a:extLst xmlns:a="http://schemas.openxmlformats.org/drawingml/2006/main">
                <a:ext uri="{FF2B5EF4-FFF2-40B4-BE49-F238E27FC236}">
                  <a16:creationId xmlns:a16="http://schemas.microsoft.com/office/drawing/2014/main" id="{F984C63E-A58B-4E83-8098-1845AC3A233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57875" y="4857750"/>
              <a:ext cx="5457825" cy="28917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7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7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7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7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7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7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7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7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7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7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7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7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附近的人 · 家里日常吃 · 本地自提</a:t>
              </a:r>
            </a:p>
          </p:txBody>
        </p:sp>
        <p:sp>
          <p:nvSpPr>
            <p:cNvPr id="47" name="p5-rect-138">
              <a:extLst xmlns:a="http://schemas.openxmlformats.org/drawingml/2006/main">
                <a:ext uri="{FF2B5EF4-FFF2-40B4-BE49-F238E27FC236}">
                  <a16:creationId xmlns:a16="http://schemas.microsoft.com/office/drawing/2014/main" id="{391EC790-C71C-496D-9D67-F291F102258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439150" y="5267325"/>
              <a:ext cx="2876550" cy="3810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245B42"/>
            </a:solidFill>
            <a:ln xmlns:a="http://schemas.openxmlformats.org/drawingml/2006/main" w="9525">
              <a:solidFill>
                <a:srgbClr val="245B42"/>
              </a:solidFill>
              <a:prstDash val="solid"/>
            </a:ln>
          </p:spPr>
        </p:sp>
        <p:sp>
          <p:nvSpPr>
            <p:cNvPr id="48" name="p5-text-139">
              <a:extLst xmlns:a="http://schemas.openxmlformats.org/drawingml/2006/main">
                <a:ext uri="{FF2B5EF4-FFF2-40B4-BE49-F238E27FC236}">
                  <a16:creationId xmlns:a16="http://schemas.microsoft.com/office/drawing/2014/main" id="{35B8440D-F7C0-4C31-BD1F-5F1BD91EDEC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34400" y="5334000"/>
              <a:ext cx="2686050" cy="27660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650" b="1">
                  <a:solidFill>
                    <a:srgbClr val="FFFFFF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ctr">
                <a:defRPr sz="1650" b="1">
                  <a:solidFill>
                    <a:srgbClr val="FFFFFF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ctr">
                <a:defRPr sz="1650" b="1">
                  <a:solidFill>
                    <a:srgbClr val="FFFFFF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ctr">
                <a:defRPr sz="1650" b="1">
                  <a:solidFill>
                    <a:srgbClr val="FFFFFF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ctr">
                <a:defRPr sz="1650" b="1">
                  <a:solidFill>
                    <a:srgbClr val="FFFFFF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ctr">
                <a:defRPr sz="1650" b="1">
                  <a:solidFill>
                    <a:srgbClr val="FFFFFF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ctr">
                <a:defRPr sz="1650" b="1">
                  <a:solidFill>
                    <a:srgbClr val="FFFFFF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ctr">
                <a:defRPr sz="1650" b="1">
                  <a:solidFill>
                    <a:srgbClr val="FFFFFF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ctr">
                <a:defRPr sz="1650" b="1">
                  <a:solidFill>
                    <a:srgbClr val="FFFFFF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ctr">
                <a:defRPr sz="1650" b="1">
                  <a:solidFill>
                    <a:srgbClr val="FFFFFF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ctr">
                <a:defRPr sz="1650" b="1">
                  <a:solidFill>
                    <a:srgbClr val="FFFFFF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650" b="1">
                  <a:solidFill>
                    <a:srgbClr val="FFFFFF"/>
                  </a:solidFill>
                  <a:latin typeface="Arial Unicode MS"/>
                  <a:ea typeface="Arial Unicode MS"/>
                  <a:cs typeface="Arial Unicode MS"/>
                </a:rPr>
                <a:t>生成我的卖货方案</a:t>
              </a:r>
            </a:p>
          </p:txBody>
        </p:sp>
        <p:sp>
          <p:nvSpPr>
            <p:cNvPr id="49" name="p5-rect-140">
              <a:extLst xmlns:a="http://schemas.openxmlformats.org/drawingml/2006/main">
                <a:ext uri="{FF2B5EF4-FFF2-40B4-BE49-F238E27FC236}">
                  <a16:creationId xmlns:a16="http://schemas.microsoft.com/office/drawing/2014/main" id="{6662ECD9-6FCF-4BBE-AAFC-24CA7BEB712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401050" y="5229225"/>
              <a:ext cx="2952750" cy="457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E59A3D"/>
              </a:solidFill>
              <a:prstDash val="solid"/>
            </a:ln>
          </p:spPr>
        </p:sp>
        <p:sp>
          <p:nvSpPr>
            <p:cNvPr id="50" name="p5-ellipse-141">
              <a:extLst xmlns:a="http://schemas.openxmlformats.org/drawingml/2006/main">
                <a:ext uri="{FF2B5EF4-FFF2-40B4-BE49-F238E27FC236}">
                  <a16:creationId xmlns:a16="http://schemas.microsoft.com/office/drawing/2014/main" id="{ECF82AB1-D79B-4AF6-9C57-E92499ED234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201400" y="5105400"/>
              <a:ext cx="276225" cy="27622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59A3D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51" name="p5-text-142">
              <a:extLst xmlns:a="http://schemas.openxmlformats.org/drawingml/2006/main">
                <a:ext uri="{FF2B5EF4-FFF2-40B4-BE49-F238E27FC236}">
                  <a16:creationId xmlns:a16="http://schemas.microsoft.com/office/drawing/2014/main" id="{12230A25-7880-4B57-9B62-D01153A3991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201400" y="5143500"/>
              <a:ext cx="276225" cy="22631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350" b="1">
                  <a:solidFill>
                    <a:srgbClr val="FFFFFF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ctr">
                <a:defRPr sz="1350" b="1">
                  <a:solidFill>
                    <a:srgbClr val="FFFFFF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ctr">
                <a:defRPr sz="1350" b="1">
                  <a:solidFill>
                    <a:srgbClr val="FFFFFF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ctr">
                <a:defRPr sz="1350" b="1">
                  <a:solidFill>
                    <a:srgbClr val="FFFFFF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ctr">
                <a:defRPr sz="1350" b="1">
                  <a:solidFill>
                    <a:srgbClr val="FFFFFF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ctr">
                <a:defRPr sz="1350" b="1">
                  <a:solidFill>
                    <a:srgbClr val="FFFFFF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ctr">
                <a:defRPr sz="1350" b="1">
                  <a:solidFill>
                    <a:srgbClr val="FFFFFF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ctr">
                <a:defRPr sz="1350" b="1">
                  <a:solidFill>
                    <a:srgbClr val="FFFFFF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ctr">
                <a:defRPr sz="1350" b="1">
                  <a:solidFill>
                    <a:srgbClr val="FFFFFF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ctr">
                <a:defRPr sz="1350" b="1">
                  <a:solidFill>
                    <a:srgbClr val="FFFFFF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ctr">
                <a:defRPr sz="1350" b="1">
                  <a:solidFill>
                    <a:srgbClr val="FFFFFF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350" b="1">
                  <a:solidFill>
                    <a:srgbClr val="FFFFFF"/>
                  </a:solidFill>
                  <a:latin typeface="Arial Unicode MS"/>
                  <a:ea typeface="Arial Unicode MS"/>
                  <a:cs typeface="Arial Unicode MS"/>
                </a:rPr>
                <a:t>1</a:t>
              </a:r>
            </a:p>
          </p:txBody>
        </p:sp>
      </p:grpSp>
      <p:sp>
        <p:nvSpPr>
          <p:cNvPr id="52" name="p5-text-143">
            <a:extLst xmlns:a="http://schemas.openxmlformats.org/drawingml/2006/main">
              <a:ext uri="{FF2B5EF4-FFF2-40B4-BE49-F238E27FC236}">
                <a16:creationId xmlns:a16="http://schemas.microsoft.com/office/drawing/2014/main" id="{228B6ED2-05F0-423D-ADA5-29203AB9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10782300" cy="301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5B42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00" b="0">
                <a:solidFill>
                  <a:srgbClr val="245B42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00" b="0">
                <a:solidFill>
                  <a:srgbClr val="245B42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00" b="0">
                <a:solidFill>
                  <a:srgbClr val="245B42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00" b="0">
                <a:solidFill>
                  <a:srgbClr val="245B42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00" b="0">
                <a:solidFill>
                  <a:srgbClr val="245B42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00" b="0">
                <a:solidFill>
                  <a:srgbClr val="245B42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00" b="0">
                <a:solidFill>
                  <a:srgbClr val="245B42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00" b="0">
                <a:solidFill>
                  <a:srgbClr val="245B42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00" b="0">
                <a:solidFill>
                  <a:srgbClr val="245B4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5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45B42"/>
                </a:solidFill>
                <a:latin typeface="Arial Unicode MS"/>
                <a:ea typeface="Arial Unicode MS"/>
                <a:cs typeface="Arial Unicode MS"/>
              </a:rPr>
              <a:t>不知道的先留待确认；不能凭照片推断品种、认证和品质。</a:t>
            </a:r>
          </a:p>
        </p:txBody>
      </p:sp>
    </p:spTree>
    <p:extLst>
      <p:ext uri="{BB962C8B-B14F-4D97-AF65-F5344CB8AC3E}">
        <p14:creationId xmlns:p14="http://schemas.microsoft.com/office/powerpoint/2010/main" val="5323269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28" name="模板 / 页眉页脚"/>
          <p:cNvGrpSpPr/>
          <p:nvPr/>
        </p:nvGrpSpPr>
        <p:grpSpPr>
          <ns1:xfrm xmlns:ns1="http://schemas.openxmlformats.org/drawingml/2006/main">
            <ns1:off x="685800" y="371475"/>
            <ns1:ext cx="10820400" cy="6334887"/>
            <ns1:chOff x="685800" y="371475"/>
            <ns1:chExt cx="10820400" cy="6334887"/>
          </ns1:xfrm>
        </p:grpSpPr>
        <p:sp>
          <p:nvSpPr>
            <p:cNvPr id="27" name="p6-rect-144">
              <a:extLst xmlns:a="http://schemas.openxmlformats.org/drawingml/2006/main">
                <a:ext uri="{FF2B5EF4-FFF2-40B4-BE49-F238E27FC236}">
                  <a16:creationId xmlns:a16="http://schemas.microsoft.com/office/drawing/2014/main" id="{7286282E-0130-4D90-AD3B-1189A3BFDCE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371475"/>
              <a:ext cx="66675" cy="2190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245B42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" name="p6-text-145">
              <a:extLst xmlns:a="http://schemas.openxmlformats.org/drawingml/2006/main">
                <a:ext uri="{FF2B5EF4-FFF2-40B4-BE49-F238E27FC236}">
                  <a16:creationId xmlns:a16="http://schemas.microsoft.com/office/drawing/2014/main" id="{E27A14A2-5B57-4283-AFF6-09DA0E02054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85825" y="390525"/>
              <a:ext cx="8239125" cy="20116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05 / AI Agent 的作用</a:t>
              </a:r>
            </a:p>
          </p:txBody>
        </p:sp>
        <p:sp>
          <p:nvSpPr>
            <p:cNvPr id="3" name="p6-text-146">
              <a:extLst xmlns:a="http://schemas.openxmlformats.org/drawingml/2006/main">
                <a:ext uri="{FF2B5EF4-FFF2-40B4-BE49-F238E27FC236}">
                  <a16:creationId xmlns:a16="http://schemas.microsoft.com/office/drawing/2014/main" id="{4E2C9800-F005-48A8-BBA9-34EDA42A7A9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82200" y="381000"/>
              <a:ext cx="1524000" cy="21374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乡创引擎</a:t>
              </a:r>
            </a:p>
          </p:txBody>
        </p:sp>
        <p:sp>
          <p:nvSpPr>
            <p:cNvPr id="4" name="p6-rect-147">
              <a:extLst xmlns:a="http://schemas.openxmlformats.org/drawingml/2006/main">
                <a:ext uri="{FF2B5EF4-FFF2-40B4-BE49-F238E27FC236}">
                  <a16:creationId xmlns:a16="http://schemas.microsoft.com/office/drawing/2014/main" id="{8B9B58D8-5F14-46E9-94CB-F7FCC8490D7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6381750"/>
              <a:ext cx="10820400" cy="9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DDCC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5" name="p6-text-148">
              <a:extLst xmlns:a="http://schemas.openxmlformats.org/drawingml/2006/main">
                <a:ext uri="{FF2B5EF4-FFF2-40B4-BE49-F238E27FC236}">
                  <a16:creationId xmlns:a16="http://schemas.microsoft.com/office/drawing/2014/main" id="{991ABB15-85EA-4659-B0D2-6E0B1A2D178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6505575"/>
              <a:ext cx="9429750" cy="16973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农户身边的 AI 卖货助手</a:t>
              </a:r>
            </a:p>
          </p:txBody>
        </p:sp>
        <p:sp>
          <p:nvSpPr>
            <p:cNvPr id="6" name="p6-text-149">
              <a:extLst xmlns:a="http://schemas.openxmlformats.org/drawingml/2006/main">
                <a:ext uri="{FF2B5EF4-FFF2-40B4-BE49-F238E27FC236}">
                  <a16:creationId xmlns:a16="http://schemas.microsoft.com/office/drawing/2014/main" id="{03C1A149-4060-4E62-AFD8-C0443BB483D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029950" y="6467475"/>
              <a:ext cx="476250" cy="23888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06</a:t>
              </a:r>
            </a:p>
          </p:txBody>
        </p:sp>
      </p:grpSp>
      <p:grpSp>
        <p:nvGrpSpPr>
          <p:cNvPr id="29" name="页面标题"/>
          <p:cNvGrpSpPr/>
          <p:nvPr/>
        </p:nvGrpSpPr>
        <p:grpSpPr>
          <ns1:xfrm xmlns:ns1="http://schemas.openxmlformats.org/drawingml/2006/main">
            <ns1:off x="685800" y="866775"/>
            <ns1:ext cx="10820400" cy="817055"/>
            <ns1:chOff x="685800" y="866775"/>
            <ns1:chExt cx="10820400" cy="817055"/>
          </ns1:xfrm>
        </p:grpSpPr>
        <p:sp>
          <p:nvSpPr>
            <p:cNvPr id="7" name="p6-text-150">
              <a:extLst xmlns:a="http://schemas.openxmlformats.org/drawingml/2006/main">
                <a:ext uri="{FF2B5EF4-FFF2-40B4-BE49-F238E27FC236}">
                  <a16:creationId xmlns:a16="http://schemas.microsoft.com/office/drawing/2014/main" id="{88AB5648-0366-44D9-8887-AF48ECD85C4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866775"/>
              <a:ext cx="10820400" cy="55321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一个 AI Agent，接住整次卖货任务</a:t>
              </a:r>
            </a:p>
          </p:txBody>
        </p:sp>
        <p:sp>
          <p:nvSpPr>
            <p:cNvPr id="8" name="p6-text-151">
              <a:extLst xmlns:a="http://schemas.openxmlformats.org/drawingml/2006/main">
                <a:ext uri="{FF2B5EF4-FFF2-40B4-BE49-F238E27FC236}">
                  <a16:creationId xmlns:a16="http://schemas.microsoft.com/office/drawing/2014/main" id="{C4515595-752F-4EF8-A800-16F8F2AE9E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5325" y="1476375"/>
              <a:ext cx="10801350" cy="20745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AI Agent 产品设计：理解一次卖货任务，协调多种内容工具</a:t>
              </a:r>
            </a:p>
          </p:txBody>
        </p:sp>
      </p:grpSp>
      <p:grpSp>
        <p:nvGrpSpPr>
          <p:cNvPr id="30" name="演示主体"/>
          <p:cNvGrpSpPr/>
          <p:nvPr/>
        </p:nvGrpSpPr>
        <p:grpSpPr>
          <ns1:xfrm xmlns:ns1="http://schemas.openxmlformats.org/drawingml/2006/main">
            <ns1:off x="723900" y="2095500"/>
            <ns1:ext cx="5191125" cy="3400425"/>
            <ns1:chOff x="723900" y="2095500"/>
            <ns1:chExt cx="5191125" cy="3400425"/>
          </ns1:xfrm>
        </p:grpSpPr>
        <p:sp>
          <p:nvSpPr>
            <p:cNvPr id="9" name="p6-text-152">
              <a:extLst xmlns:a="http://schemas.openxmlformats.org/drawingml/2006/main">
                <a:ext uri="{FF2B5EF4-FFF2-40B4-BE49-F238E27FC236}">
                  <a16:creationId xmlns:a16="http://schemas.microsoft.com/office/drawing/2014/main" id="{46684908-D0BC-4AD7-B0DB-7A5EF902D50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2095500"/>
              <a:ext cx="4762500" cy="3143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8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8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8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8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8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8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8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8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8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8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8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陈叔说：</a:t>
              </a:r>
            </a:p>
          </p:txBody>
        </p:sp>
        <p:sp>
          <p:nvSpPr>
            <p:cNvPr id="10" name="p6-text-153">
              <a:extLst xmlns:a="http://schemas.openxmlformats.org/drawingml/2006/main">
                <a:ext uri="{FF2B5EF4-FFF2-40B4-BE49-F238E27FC236}">
                  <a16:creationId xmlns:a16="http://schemas.microsoft.com/office/drawing/2014/main" id="{53974C2C-6D17-4BEE-B67C-398FDF1E13A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2505075"/>
              <a:ext cx="4762500" cy="42748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5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5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5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5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5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5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5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5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5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5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5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5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“帮我把这箱贡柑，</a:t>
              </a:r>
            </a:p>
          </p:txBody>
        </p:sp>
        <p:sp>
          <p:nvSpPr>
            <p:cNvPr id="11" name="p6-text-154">
              <a:extLst xmlns:a="http://schemas.openxmlformats.org/drawingml/2006/main">
                <a:ext uri="{FF2B5EF4-FFF2-40B4-BE49-F238E27FC236}">
                  <a16:creationId xmlns:a16="http://schemas.microsoft.com/office/drawing/2014/main" id="{F3D0D76F-8C1F-41F6-AB36-52C234DF5B9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3007043"/>
              <a:ext cx="4762500" cy="42748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5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5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5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5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5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5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5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5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5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5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5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5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介绍给肇庆附近的人。”</a:t>
              </a:r>
            </a:p>
          </p:txBody>
        </p:sp>
        <p:sp>
          <p:nvSpPr>
            <p:cNvPr id="12" name="p6-rect-155">
              <a:extLst xmlns:a="http://schemas.openxmlformats.org/drawingml/2006/main">
                <a:ext uri="{FF2B5EF4-FFF2-40B4-BE49-F238E27FC236}">
                  <a16:creationId xmlns:a16="http://schemas.microsoft.com/office/drawing/2014/main" id="{6B51ECB5-3358-42FA-B70B-09DE409F7D6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4143375"/>
              <a:ext cx="4572000" cy="13525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8EEDD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13" name="p6-text-156">
              <a:extLst xmlns:a="http://schemas.openxmlformats.org/drawingml/2006/main">
                <a:ext uri="{FF2B5EF4-FFF2-40B4-BE49-F238E27FC236}">
                  <a16:creationId xmlns:a16="http://schemas.microsoft.com/office/drawing/2014/main" id="{33FA9DE6-0106-4599-A841-7CB28096739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4324350"/>
              <a:ext cx="4191000" cy="36461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同一份商品资料</a:t>
              </a:r>
            </a:p>
          </p:txBody>
        </p:sp>
        <p:sp>
          <p:nvSpPr>
            <p:cNvPr id="14" name="p6-text-157">
              <a:extLst xmlns:a="http://schemas.openxmlformats.org/drawingml/2006/main">
                <a:ext uri="{FF2B5EF4-FFF2-40B4-BE49-F238E27FC236}">
                  <a16:creationId xmlns:a16="http://schemas.microsoft.com/office/drawing/2014/main" id="{2E0DC13B-2166-47FF-8489-867D53D42D0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4829175"/>
              <a:ext cx="4191000" cy="30175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0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80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80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80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80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80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80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80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80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80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80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80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产品照片 · 规格价格 · 自提安排</a:t>
              </a:r>
            </a:p>
          </p:txBody>
        </p:sp>
        <p:sp>
          <p:nvSpPr>
            <p:cNvPr id="15" name="p6-rect-158">
              <a:extLst xmlns:a="http://schemas.openxmlformats.org/drawingml/2006/main">
                <a:ext uri="{FF2B5EF4-FFF2-40B4-BE49-F238E27FC236}">
                  <a16:creationId xmlns:a16="http://schemas.microsoft.com/office/drawing/2014/main" id="{515D7CE1-913D-41E3-A94C-B3B10B4E114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57825" y="3733800"/>
              <a:ext cx="361950" cy="285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9A3D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16" name="p6-chevron-159">
              <a:extLst xmlns:a="http://schemas.openxmlformats.org/drawingml/2006/main">
                <a:ext uri="{FF2B5EF4-FFF2-40B4-BE49-F238E27FC236}">
                  <a16:creationId xmlns:a16="http://schemas.microsoft.com/office/drawing/2014/main" id="{311D9269-EB15-41A4-A9C1-F951305ECCD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791200" y="3667125"/>
              <a:ext cx="123825" cy="161925"/>
            </a:xfrm>
            <a:prstGeom xmlns:a="http://schemas.openxmlformats.org/drawingml/2006/main" prst="chevron">
              <a:avLst/>
            </a:prstGeom>
            <a:solidFill xmlns:a="http://schemas.openxmlformats.org/drawingml/2006/main">
              <a:srgbClr val="E59A3D"/>
            </a:solidFill>
            <a:ln xmlns:a="http://schemas.openxmlformats.org/drawingml/2006/main" w="0">
              <a:noFill/>
              <a:prstDash val="solid"/>
            </a:ln>
          </p:spPr>
        </p:sp>
      </p:grpSp>
      <p:grpSp>
        <p:nvGrpSpPr>
          <p:cNvPr id="31" name="Agent 任务协调"/>
          <p:cNvGrpSpPr/>
          <p:nvPr/>
        </p:nvGrpSpPr>
        <p:grpSpPr>
          <ns1:xfrm xmlns:ns1="http://schemas.openxmlformats.org/drawingml/2006/main">
            <ns1:off x="6191250" y="2085975"/>
            <ns1:ext cx="5314950" cy="952500"/>
            <ns1:chOff x="6191250" y="2085975"/>
            <ns1:chExt cx="5314950" cy="952500"/>
          </ns1:xfrm>
        </p:grpSpPr>
        <p:sp>
          <p:nvSpPr>
            <p:cNvPr id="17" name="p6-rect-160">
              <a:extLst xmlns:a="http://schemas.openxmlformats.org/drawingml/2006/main">
                <a:ext uri="{FF2B5EF4-FFF2-40B4-BE49-F238E27FC236}">
                  <a16:creationId xmlns:a16="http://schemas.microsoft.com/office/drawing/2014/main" id="{CFF58981-FDEB-4B85-B26D-AFA97FDE51F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91250" y="2085975"/>
              <a:ext cx="5314950" cy="9525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245B42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18" name="p6-text-161">
              <a:extLst xmlns:a="http://schemas.openxmlformats.org/drawingml/2006/main">
                <a:ext uri="{FF2B5EF4-FFF2-40B4-BE49-F238E27FC236}">
                  <a16:creationId xmlns:a16="http://schemas.microsoft.com/office/drawing/2014/main" id="{4151DD46-50EA-4304-AF18-F37C4C58392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10325" y="2228850"/>
              <a:ext cx="4876800" cy="41490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475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475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475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475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475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475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475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475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475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475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475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475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rPr>
                <a:t>AI 卖货 Agent</a:t>
              </a:r>
            </a:p>
          </p:txBody>
        </p:sp>
        <p:sp>
          <p:nvSpPr>
            <p:cNvPr id="19" name="p6-text-162">
              <a:extLst xmlns:a="http://schemas.openxmlformats.org/drawingml/2006/main">
                <a:ext uri="{FF2B5EF4-FFF2-40B4-BE49-F238E27FC236}">
                  <a16:creationId xmlns:a16="http://schemas.microsoft.com/office/drawing/2014/main" id="{B2C89F57-6E51-4933-9002-E53FA4D532D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10325" y="2667000"/>
              <a:ext cx="4876800" cy="28917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725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725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725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725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725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725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725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725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725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725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725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725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rPr>
                <a:t>确认资料 → 安排任务 → 核对结果</a:t>
              </a:r>
            </a:p>
          </p:txBody>
        </p:sp>
      </p:grpSp>
      <p:grpSp>
        <p:nvGrpSpPr>
          <p:cNvPr id="32" name="演示主体"/>
          <p:cNvGrpSpPr/>
          <p:nvPr/>
        </p:nvGrpSpPr>
        <p:grpSpPr>
          <ns1:xfrm xmlns:ns1="http://schemas.openxmlformats.org/drawingml/2006/main">
            <ns1:off x="723900" y="3257550"/>
            <ns1:ext cx="10763250" cy="2971800"/>
            <ns1:chOff x="723900" y="3257550"/>
            <ns1:chExt cx="10763250" cy="2971800"/>
          </ns1:xfrm>
        </p:grpSpPr>
        <p:sp>
          <p:nvSpPr>
            <p:cNvPr id="20" name="p6-text-163">
              <a:extLst xmlns:a="http://schemas.openxmlformats.org/drawingml/2006/main">
                <a:ext uri="{FF2B5EF4-FFF2-40B4-BE49-F238E27FC236}">
                  <a16:creationId xmlns:a16="http://schemas.microsoft.com/office/drawing/2014/main" id="{AB239A17-1279-48EA-99C8-95E471BB9C2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00800" y="3257550"/>
              <a:ext cx="4905375" cy="35204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01 生成宣传图</a:t>
              </a:r>
            </a:p>
          </p:txBody>
        </p:sp>
        <p:sp>
          <p:nvSpPr>
            <p:cNvPr id="21" name="p6-text-164">
              <a:extLst xmlns:a="http://schemas.openxmlformats.org/drawingml/2006/main">
                <a:ext uri="{FF2B5EF4-FFF2-40B4-BE49-F238E27FC236}">
                  <a16:creationId xmlns:a16="http://schemas.microsoft.com/office/drawing/2014/main" id="{7C03D733-FE90-4C8F-9896-03D1D104849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00800" y="3657600"/>
              <a:ext cx="4905375" cy="28917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实物照片 → 场景图、封面和介绍卡</a:t>
              </a:r>
            </a:p>
          </p:txBody>
        </p:sp>
        <p:sp>
          <p:nvSpPr>
            <p:cNvPr id="22" name="p6-text-165">
              <a:extLst xmlns:a="http://schemas.openxmlformats.org/drawingml/2006/main">
                <a:ext uri="{FF2B5EF4-FFF2-40B4-BE49-F238E27FC236}">
                  <a16:creationId xmlns:a16="http://schemas.microsoft.com/office/drawing/2014/main" id="{672EA35B-F028-4612-BAF5-2169E98DDCB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00800" y="4171950"/>
              <a:ext cx="4905375" cy="35204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02 写渠道文案</a:t>
              </a:r>
            </a:p>
          </p:txBody>
        </p:sp>
        <p:sp>
          <p:nvSpPr>
            <p:cNvPr id="23" name="p6-text-166">
              <a:extLst xmlns:a="http://schemas.openxmlformats.org/drawingml/2006/main">
                <a:ext uri="{FF2B5EF4-FFF2-40B4-BE49-F238E27FC236}">
                  <a16:creationId xmlns:a16="http://schemas.microsoft.com/office/drawing/2014/main" id="{3DD961D8-E78D-4396-962B-120111533B3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00800" y="4572000"/>
              <a:ext cx="4905375" cy="28917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小红书种草，微信自然分享</a:t>
              </a:r>
            </a:p>
          </p:txBody>
        </p:sp>
        <p:sp>
          <p:nvSpPr>
            <p:cNvPr id="24" name="p6-text-167">
              <a:extLst xmlns:a="http://schemas.openxmlformats.org/drawingml/2006/main">
                <a:ext uri="{FF2B5EF4-FFF2-40B4-BE49-F238E27FC236}">
                  <a16:creationId xmlns:a16="http://schemas.microsoft.com/office/drawing/2014/main" id="{66D799A6-F659-442B-A7D4-A315EBA14C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00800" y="5086350"/>
              <a:ext cx="4905375" cy="35204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03 准备客户回复</a:t>
              </a:r>
            </a:p>
          </p:txBody>
        </p:sp>
        <p:sp>
          <p:nvSpPr>
            <p:cNvPr id="25" name="p6-text-168">
              <a:extLst xmlns:a="http://schemas.openxmlformats.org/drawingml/2006/main">
                <a:ext uri="{FF2B5EF4-FFF2-40B4-BE49-F238E27FC236}">
                  <a16:creationId xmlns:a16="http://schemas.microsoft.com/office/drawing/2014/main" id="{2D126AD5-D54C-41A4-B0F8-CE907B46C86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00800" y="5486400"/>
              <a:ext cx="4905375" cy="28917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查商品资料，给出可确认的回复</a:t>
              </a:r>
            </a:p>
          </p:txBody>
        </p:sp>
        <p:sp>
          <p:nvSpPr>
            <p:cNvPr id="26" name="p6-text-169">
              <a:extLst xmlns:a="http://schemas.openxmlformats.org/drawingml/2006/main">
                <a:ext uri="{FF2B5EF4-FFF2-40B4-BE49-F238E27FC236}">
                  <a16:creationId xmlns:a16="http://schemas.microsoft.com/office/drawing/2014/main" id="{0B71A7E0-2A36-40C2-B2CB-B4406423CF4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5915025"/>
              <a:ext cx="10763250" cy="3143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75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875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875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875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875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875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875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875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875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875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875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875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农户负责核对与确认，Agent 让图、文、回复围绕同一件商品。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689472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29" name="模板 / 页眉页脚"/>
          <p:cNvGrpSpPr/>
          <p:nvPr/>
        </p:nvGrpSpPr>
        <p:grpSpPr>
          <ns1:xfrm xmlns:ns1="http://schemas.openxmlformats.org/drawingml/2006/main">
            <ns1:off x="685800" y="371475"/>
            <ns1:ext cx="10820400" cy="6334887"/>
            <ns1:chOff x="685800" y="371475"/>
            <ns1:chExt cx="10820400" cy="6334887"/>
          </ns1:xfrm>
        </p:grpSpPr>
        <p:sp>
          <p:nvSpPr>
            <p:cNvPr id="28" name="p7-rect-170">
              <a:extLst xmlns:a="http://schemas.openxmlformats.org/drawingml/2006/main">
                <a:ext uri="{FF2B5EF4-FFF2-40B4-BE49-F238E27FC236}">
                  <a16:creationId xmlns:a16="http://schemas.microsoft.com/office/drawing/2014/main" id="{C215C2E8-3FC2-4313-8685-48BC19D276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371475"/>
              <a:ext cx="66675" cy="2190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245B42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" name="p7-text-171">
              <a:extLst xmlns:a="http://schemas.openxmlformats.org/drawingml/2006/main">
                <a:ext uri="{FF2B5EF4-FFF2-40B4-BE49-F238E27FC236}">
                  <a16:creationId xmlns:a16="http://schemas.microsoft.com/office/drawing/2014/main" id="{7674F9C6-AB14-4EB6-8F75-A2CF5A8A41C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85825" y="390525"/>
              <a:ext cx="8239125" cy="20116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06 / 生成宣传图</a:t>
              </a:r>
            </a:p>
          </p:txBody>
        </p:sp>
        <p:sp>
          <p:nvSpPr>
            <p:cNvPr id="3" name="p7-text-172">
              <a:extLst xmlns:a="http://schemas.openxmlformats.org/drawingml/2006/main">
                <a:ext uri="{FF2B5EF4-FFF2-40B4-BE49-F238E27FC236}">
                  <a16:creationId xmlns:a16="http://schemas.microsoft.com/office/drawing/2014/main" id="{40A82305-030C-491E-93CD-B7E9BF4686A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82200" y="381000"/>
              <a:ext cx="1524000" cy="21374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乡创引擎</a:t>
              </a:r>
            </a:p>
          </p:txBody>
        </p:sp>
        <p:sp>
          <p:nvSpPr>
            <p:cNvPr id="4" name="p7-rect-173">
              <a:extLst xmlns:a="http://schemas.openxmlformats.org/drawingml/2006/main">
                <a:ext uri="{FF2B5EF4-FFF2-40B4-BE49-F238E27FC236}">
                  <a16:creationId xmlns:a16="http://schemas.microsoft.com/office/drawing/2014/main" id="{84B64B47-78B2-4550-88AC-CEA96738D58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6381750"/>
              <a:ext cx="10820400" cy="9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DDCC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5" name="p7-text-174">
              <a:extLst xmlns:a="http://schemas.openxmlformats.org/drawingml/2006/main">
                <a:ext uri="{FF2B5EF4-FFF2-40B4-BE49-F238E27FC236}">
                  <a16:creationId xmlns:a16="http://schemas.microsoft.com/office/drawing/2014/main" id="{77FE04BE-3E08-4AA6-B2C5-6F7BD18D4FD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6505575"/>
              <a:ext cx="9429750" cy="16973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农户身边的 AI 卖货助手</a:t>
              </a:r>
            </a:p>
          </p:txBody>
        </p:sp>
        <p:sp>
          <p:nvSpPr>
            <p:cNvPr id="6" name="p7-text-175">
              <a:extLst xmlns:a="http://schemas.openxmlformats.org/drawingml/2006/main">
                <a:ext uri="{FF2B5EF4-FFF2-40B4-BE49-F238E27FC236}">
                  <a16:creationId xmlns:a16="http://schemas.microsoft.com/office/drawing/2014/main" id="{4688E74E-81A7-4ECE-9FEF-85638E1FABE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029950" y="6467475"/>
              <a:ext cx="476250" cy="23888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07</a:t>
              </a:r>
            </a:p>
          </p:txBody>
        </p:sp>
      </p:grpSp>
      <p:grpSp>
        <p:nvGrpSpPr>
          <p:cNvPr id="30" name="页面标题"/>
          <p:cNvGrpSpPr/>
          <p:nvPr/>
        </p:nvGrpSpPr>
        <p:grpSpPr>
          <ns1:xfrm xmlns:ns1="http://schemas.openxmlformats.org/drawingml/2006/main">
            <ns1:off x="685800" y="866775"/>
            <ns1:ext cx="10820400" cy="817055"/>
            <ns1:chOff x="685800" y="866775"/>
            <ns1:chExt cx="10820400" cy="817055"/>
          </ns1:xfrm>
        </p:grpSpPr>
        <p:sp>
          <p:nvSpPr>
            <p:cNvPr id="7" name="p7-text-176">
              <a:extLst xmlns:a="http://schemas.openxmlformats.org/drawingml/2006/main">
                <a:ext uri="{FF2B5EF4-FFF2-40B4-BE49-F238E27FC236}">
                  <a16:creationId xmlns:a16="http://schemas.microsoft.com/office/drawing/2014/main" id="{59CFB8B5-FB87-4C53-80B6-E229B94AF4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866775"/>
              <a:ext cx="10820400" cy="55321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先让顾客看清，这一盒卖的是什么</a:t>
              </a:r>
            </a:p>
          </p:txBody>
        </p:sp>
        <p:sp>
          <p:nvSpPr>
            <p:cNvPr id="8" name="p7-text-177">
              <a:extLst xmlns:a="http://schemas.openxmlformats.org/drawingml/2006/main">
                <a:ext uri="{FF2B5EF4-FFF2-40B4-BE49-F238E27FC236}">
                  <a16:creationId xmlns:a16="http://schemas.microsoft.com/office/drawing/2014/main" id="{77700D99-A111-4C94-B2D0-BD8C1B746A6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5325" y="1476375"/>
              <a:ext cx="10801350" cy="20745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照片提供产品依据，场景与排版帮助顾客理解用途</a:t>
              </a:r>
            </a:p>
          </p:txBody>
        </p:sp>
      </p:grpSp>
      <p:grpSp>
        <p:nvGrpSpPr>
          <p:cNvPr id="31" name="演示主体"/>
          <p:cNvGrpSpPr/>
          <p:nvPr/>
        </p:nvGrpSpPr>
        <p:grpSpPr>
          <ns1:xfrm xmlns:ns1="http://schemas.openxmlformats.org/drawingml/2006/main">
            <ns1:off x="723900" y="2162175"/>
            <ns1:ext cx="3009900" cy="3527679"/>
            <ns1:chOff x="723900" y="2162175"/>
            <ns1:chExt cx="3009900" cy="3527679"/>
          </ns1:xfrm>
        </p:grpSpPr>
        <p:pic>
          <p:nvPicPr>
            <p:cNvPr id="9" name="">
              <a:extLst xmlns:a="http://schemas.openxmlformats.org/drawingml/2006/main">
                <a:ext uri="{FF2B5EF4-FFF2-40B4-BE49-F238E27FC236}">
                  <a16:creationId xmlns:a16="http://schemas.microsoft.com/office/drawing/2014/main" id="{3FD671E5-DF5A-4FCE-95A3-D973E2B99986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1115ea742033463d"/>
            <a:srcRect xmlns:a="http://schemas.openxmlformats.org/drawingml/2006/main" l="0" t="6224" r="0" b="6224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>
              <a:off x="723900" y="2162175"/>
              <a:ext cx="2276475" cy="2657475"/>
            </a:xfrm>
            <a:prstGeom xmlns:a="http://schemas.openxmlformats.org/drawingml/2006/main" prst="rect">
              <a:avLst/>
            </a:prstGeom>
          </p:spPr>
        </p:pic>
        <p:sp>
          <p:nvSpPr>
            <p:cNvPr id="10" name="p7-text-178">
              <a:extLst xmlns:a="http://schemas.openxmlformats.org/drawingml/2006/main">
                <a:ext uri="{FF2B5EF4-FFF2-40B4-BE49-F238E27FC236}">
                  <a16:creationId xmlns:a16="http://schemas.microsoft.com/office/drawing/2014/main" id="{A9A87AF1-B53D-4575-BBB5-7A8CC6497C5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5019675"/>
              <a:ext cx="2476500" cy="27660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陈叔选的实物示例图</a:t>
              </a:r>
            </a:p>
          </p:txBody>
        </p:sp>
        <p:sp>
          <p:nvSpPr>
            <p:cNvPr id="11" name="p7-text-179">
              <a:extLst xmlns:a="http://schemas.openxmlformats.org/drawingml/2006/main">
                <a:ext uri="{FF2B5EF4-FFF2-40B4-BE49-F238E27FC236}">
                  <a16:creationId xmlns:a16="http://schemas.microsoft.com/office/drawing/2014/main" id="{98CEF962-7D19-42EF-9686-ED3A3AEA763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5400675"/>
              <a:ext cx="2476500" cy="28917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7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7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7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7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7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7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7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7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7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7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7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7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保留产品外观依据</a:t>
              </a:r>
            </a:p>
          </p:txBody>
        </p:sp>
        <p:sp>
          <p:nvSpPr>
            <p:cNvPr id="12" name="p7-rect-180">
              <a:extLst xmlns:a="http://schemas.openxmlformats.org/drawingml/2006/main">
                <a:ext uri="{FF2B5EF4-FFF2-40B4-BE49-F238E27FC236}">
                  <a16:creationId xmlns:a16="http://schemas.microsoft.com/office/drawing/2014/main" id="{6C4AAF49-3C38-415D-A99D-DA1E6F0E688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19450" y="3457575"/>
              <a:ext cx="419100" cy="285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9A3D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13" name="p7-chevron-181">
              <a:extLst xmlns:a="http://schemas.openxmlformats.org/drawingml/2006/main">
                <a:ext uri="{FF2B5EF4-FFF2-40B4-BE49-F238E27FC236}">
                  <a16:creationId xmlns:a16="http://schemas.microsoft.com/office/drawing/2014/main" id="{35400B35-2FD2-4625-B2F8-C3042DF63A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09975" y="3390900"/>
              <a:ext cx="123825" cy="161925"/>
            </a:xfrm>
            <a:prstGeom xmlns:a="http://schemas.openxmlformats.org/drawingml/2006/main" prst="chevron">
              <a:avLst/>
            </a:prstGeom>
            <a:solidFill xmlns:a="http://schemas.openxmlformats.org/drawingml/2006/main">
              <a:srgbClr val="E59A3D"/>
            </a:solidFill>
            <a:ln xmlns:a="http://schemas.openxmlformats.org/drawingml/2006/main" w="0">
              <a:noFill/>
              <a:prstDash val="solid"/>
            </a:ln>
          </p:spPr>
        </p:sp>
      </p:grpSp>
      <p:grpSp>
        <p:nvGrpSpPr>
          <p:cNvPr id="32" name="可编辑宣传封面"/>
          <p:cNvGrpSpPr/>
          <p:nvPr/>
        </p:nvGrpSpPr>
        <p:grpSpPr>
          <ns1:xfrm xmlns:ns1="http://schemas.openxmlformats.org/drawingml/2006/main">
            <ns1:off x="4019550" y="1933575"/>
            <ns1:ext cx="3067050" cy="4089368"/>
            <ns1:chOff x="4019550" y="1933575"/>
            <ns1:chExt cx="3067050" cy="4089368"/>
          </ns1:xfrm>
        </p:grpSpPr>
        <p:sp>
          <p:nvSpPr>
            <p:cNvPr id="14" name="p7-rect-182">
              <a:extLst xmlns:a="http://schemas.openxmlformats.org/drawingml/2006/main">
                <a:ext uri="{FF2B5EF4-FFF2-40B4-BE49-F238E27FC236}">
                  <a16:creationId xmlns:a16="http://schemas.microsoft.com/office/drawing/2014/main" id="{C1A2CB29-619D-4027-A631-A2F324DE088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19550" y="1933575"/>
              <a:ext cx="3067050" cy="408936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6F3E8"/>
            </a:solidFill>
            <a:ln xmlns:a="http://schemas.openxmlformats.org/drawingml/2006/main" w="9525">
              <a:solidFill>
                <a:srgbClr val="D6DDCC"/>
              </a:solidFill>
              <a:prstDash val="solid"/>
            </a:ln>
          </p:spPr>
        </p:sp>
        <p:sp>
          <p:nvSpPr>
            <p:cNvPr id="15" name="p7-text-183">
              <a:extLst xmlns:a="http://schemas.openxmlformats.org/drawingml/2006/main">
                <a:ext uri="{FF2B5EF4-FFF2-40B4-BE49-F238E27FC236}">
                  <a16:creationId xmlns:a16="http://schemas.microsoft.com/office/drawing/2014/main" id="{B3CF0789-8491-4D2A-AFF7-63A8D03F61A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89942" y="2069888"/>
              <a:ext cx="2726267" cy="1162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69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69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69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69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69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69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69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69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69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69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69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69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陈叔家的贡柑</a:t>
              </a:r>
            </a:p>
          </p:txBody>
        </p:sp>
        <p:sp>
          <p:nvSpPr>
            <p:cNvPr id="16" name="p7-text-184">
              <a:extLst xmlns:a="http://schemas.openxmlformats.org/drawingml/2006/main">
                <a:ext uri="{FF2B5EF4-FFF2-40B4-BE49-F238E27FC236}">
                  <a16:creationId xmlns:a16="http://schemas.microsoft.com/office/drawing/2014/main" id="{5C3B41AB-EAF5-43D9-A990-92317FCFA5B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89942" y="2240280"/>
              <a:ext cx="2726267" cy="29239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744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744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744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744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744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744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744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744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744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744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744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744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自家贡柑开摘了</a:t>
              </a:r>
            </a:p>
          </p:txBody>
        </p:sp>
        <p:sp>
          <p:nvSpPr>
            <p:cNvPr id="17" name="p7-text-185">
              <a:extLst xmlns:a="http://schemas.openxmlformats.org/drawingml/2006/main">
                <a:ext uri="{FF2B5EF4-FFF2-40B4-BE49-F238E27FC236}">
                  <a16:creationId xmlns:a16="http://schemas.microsoft.com/office/drawing/2014/main" id="{B8E3E1B9-7D57-4D78-B413-1D8C43863F0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89942" y="2532786"/>
              <a:ext cx="2726267" cy="13869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827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827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827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827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827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827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827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827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827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827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827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827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肇庆的邻居，来看看</a:t>
              </a:r>
            </a:p>
          </p:txBody>
        </p:sp>
        <p:pic>
          <p:nvPicPr>
            <p:cNvPr id="18" name="">
              <a:extLst xmlns:a="http://schemas.openxmlformats.org/drawingml/2006/main">
                <a:ext uri="{FF2B5EF4-FFF2-40B4-BE49-F238E27FC236}">
                  <a16:creationId xmlns:a16="http://schemas.microsoft.com/office/drawing/2014/main" id="{F19248F6-3671-4EAF-983B-FA1C0DDBB661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72c43c3c41a844e4"/>
            <a:srcRect xmlns:a="http://schemas.openxmlformats.org/drawingml/2006/main" l="0" t="0" r="0" b="0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>
              <a:off x="4155863" y="2768494"/>
              <a:ext cx="2794423" cy="2095818"/>
            </a:xfrm>
            <a:prstGeom xmlns:a="http://schemas.openxmlformats.org/drawingml/2006/main" prst="rect">
              <a:avLst/>
            </a:prstGeom>
          </p:spPr>
        </p:pic>
        <p:sp>
          <p:nvSpPr>
            <p:cNvPr id="19" name="p7-text-186">
              <a:extLst xmlns:a="http://schemas.openxmlformats.org/drawingml/2006/main">
                <a:ext uri="{FF2B5EF4-FFF2-40B4-BE49-F238E27FC236}">
                  <a16:creationId xmlns:a16="http://schemas.microsoft.com/office/drawing/2014/main" id="{8BD4DE54-1FE5-4E1E-BDB5-17A800BDBCC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89942" y="4943828"/>
              <a:ext cx="2726267" cy="18743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118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118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118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118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118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118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118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118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118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118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118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118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贡柑家庭装</a:t>
              </a:r>
            </a:p>
          </p:txBody>
        </p:sp>
        <p:sp>
          <p:nvSpPr>
            <p:cNvPr id="20" name="p7-text-187">
              <a:extLst xmlns:a="http://schemas.openxmlformats.org/drawingml/2006/main">
                <a:ext uri="{FF2B5EF4-FFF2-40B4-BE49-F238E27FC236}">
                  <a16:creationId xmlns:a16="http://schemas.microsoft.com/office/drawing/2014/main" id="{EDF3B096-2797-44D4-A054-FDD84D19E56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89942" y="5171017"/>
              <a:ext cx="2726267" cy="14619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872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872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872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872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872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872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872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872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872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872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872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872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3 kg / 盒</a:t>
              </a:r>
            </a:p>
          </p:txBody>
        </p:sp>
        <p:sp>
          <p:nvSpPr>
            <p:cNvPr id="21" name="p7-text-188">
              <a:extLst xmlns:a="http://schemas.openxmlformats.org/drawingml/2006/main">
                <a:ext uri="{FF2B5EF4-FFF2-40B4-BE49-F238E27FC236}">
                  <a16:creationId xmlns:a16="http://schemas.microsoft.com/office/drawing/2014/main" id="{A24F92B6-40CC-4970-8A33-1B39A9DC81B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89942" y="5043223"/>
              <a:ext cx="2555875" cy="29988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r">
                <a:defRPr sz="1789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r">
                <a:defRPr sz="1789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r">
                <a:defRPr sz="1789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r">
                <a:defRPr sz="1789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r">
                <a:defRPr sz="1789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r">
                <a:defRPr sz="1789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r">
                <a:defRPr sz="1789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r">
                <a:defRPr sz="1789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r">
                <a:defRPr sz="1789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r">
                <a:defRPr sz="1789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r">
                <a:defRPr sz="1789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789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¥59</a:t>
              </a:r>
            </a:p>
          </p:txBody>
        </p:sp>
        <p:sp>
          <p:nvSpPr>
            <p:cNvPr id="22" name="p7-rect-189">
              <a:extLst xmlns:a="http://schemas.openxmlformats.org/drawingml/2006/main">
                <a:ext uri="{FF2B5EF4-FFF2-40B4-BE49-F238E27FC236}">
                  <a16:creationId xmlns:a16="http://schemas.microsoft.com/office/drawing/2014/main" id="{4CCC34A5-5F1D-47A9-ACB5-9B810B7AA1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89942" y="5466362"/>
              <a:ext cx="2726267" cy="9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DDCC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3" name="p7-text-190">
              <a:extLst xmlns:a="http://schemas.openxmlformats.org/drawingml/2006/main">
                <a:ext uri="{FF2B5EF4-FFF2-40B4-BE49-F238E27FC236}">
                  <a16:creationId xmlns:a16="http://schemas.microsoft.com/office/drawing/2014/main" id="{30C7412F-57FB-4995-A485-73905CA2CBF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89942" y="5568597"/>
              <a:ext cx="2726267" cy="13120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783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783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783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783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783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783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783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783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783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783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783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783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肇庆本地自提 · 暂不提供配送</a:t>
              </a:r>
            </a:p>
          </p:txBody>
        </p:sp>
        <p:sp>
          <p:nvSpPr>
            <p:cNvPr id="24" name="p7-text-191">
              <a:extLst xmlns:a="http://schemas.openxmlformats.org/drawingml/2006/main">
                <a:ext uri="{FF2B5EF4-FFF2-40B4-BE49-F238E27FC236}">
                  <a16:creationId xmlns:a16="http://schemas.microsoft.com/office/drawing/2014/main" id="{ADF69F54-F669-4DC0-95E3-C8CECF805B3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89942" y="5738989"/>
              <a:ext cx="2726267" cy="10871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64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64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64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64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64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64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64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64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64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64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64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64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先确认数量，再约次日下午来拿</a:t>
              </a:r>
            </a:p>
          </p:txBody>
        </p:sp>
      </p:grpSp>
      <p:grpSp>
        <p:nvGrpSpPr>
          <p:cNvPr id="33" name="演示主体"/>
          <p:cNvGrpSpPr/>
          <p:nvPr/>
        </p:nvGrpSpPr>
        <p:grpSpPr>
          <ns1:xfrm xmlns:ns1="http://schemas.openxmlformats.org/drawingml/2006/main">
            <ns1:off x="7620000" y="2085975"/>
            <ns1:ext cx="3781425" cy="3648456"/>
            <ns1:chOff x="7620000" y="2085975"/>
            <ns1:chExt cx="3781425" cy="3648456"/>
          </ns1:xfrm>
        </p:grpSpPr>
        <p:pic>
          <p:nvPicPr>
            <p:cNvPr id="25" name="">
              <a:extLst xmlns:a="http://schemas.openxmlformats.org/drawingml/2006/main">
                <a:ext uri="{FF2B5EF4-FFF2-40B4-BE49-F238E27FC236}">
                  <a16:creationId xmlns:a16="http://schemas.microsoft.com/office/drawing/2014/main" id="{0991C4D3-1978-433D-87D1-DBEB1215D8A0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dd3d201b29fa42ea"/>
            <a:stretch xmlns:a="http://schemas.openxmlformats.org/drawingml/2006/main"/>
          </p:blipFill>
          <p:spPr>
            <a:xfrm xmlns:a="http://schemas.openxmlformats.org/drawingml/2006/main">
              <a:off x="8129588" y="2085975"/>
              <a:ext cx="2762250" cy="2762250"/>
            </a:xfrm>
            <a:prstGeom xmlns:a="http://schemas.openxmlformats.org/drawingml/2006/main" prst="rect">
              <a:avLst/>
            </a:prstGeom>
          </p:spPr>
        </p:pic>
        <p:sp>
          <p:nvSpPr>
            <p:cNvPr id="26" name="p7-text-192">
              <a:extLst xmlns:a="http://schemas.openxmlformats.org/drawingml/2006/main">
                <a:ext uri="{FF2B5EF4-FFF2-40B4-BE49-F238E27FC236}">
                  <a16:creationId xmlns:a16="http://schemas.microsoft.com/office/drawing/2014/main" id="{B4596A03-EAF6-4E8F-8D38-DE6D7801CDA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0" y="5029200"/>
              <a:ext cx="3781425" cy="3143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8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8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8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8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8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8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8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8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8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8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8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朋友圈方图</a:t>
              </a:r>
            </a:p>
          </p:txBody>
        </p:sp>
        <p:sp>
          <p:nvSpPr>
            <p:cNvPr id="27" name="p7-text-193">
              <a:extLst xmlns:a="http://schemas.openxmlformats.org/drawingml/2006/main">
                <a:ext uri="{FF2B5EF4-FFF2-40B4-BE49-F238E27FC236}">
                  <a16:creationId xmlns:a16="http://schemas.microsoft.com/office/drawing/2014/main" id="{2D0A2BD0-79CE-45E4-9C79-89920DB7697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0" y="5457825"/>
              <a:ext cx="3781425" cy="27660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换发布尺寸，保留规格和售价。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717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25" name="模板 / 页眉页脚"/>
          <p:cNvGrpSpPr/>
          <p:nvPr/>
        </p:nvGrpSpPr>
        <p:grpSpPr>
          <ns1:xfrm xmlns:ns1="http://schemas.openxmlformats.org/drawingml/2006/main">
            <ns1:off x="685800" y="371475"/>
            <ns1:ext cx="10820400" cy="6334887"/>
            <ns1:chOff x="685800" y="371475"/>
            <ns1:chExt cx="10820400" cy="6334887"/>
          </ns1:xfrm>
        </p:grpSpPr>
        <p:sp>
          <p:nvSpPr>
            <p:cNvPr id="24" name="p8-rect-194">
              <a:extLst xmlns:a="http://schemas.openxmlformats.org/drawingml/2006/main">
                <a:ext uri="{FF2B5EF4-FFF2-40B4-BE49-F238E27FC236}">
                  <a16:creationId xmlns:a16="http://schemas.microsoft.com/office/drawing/2014/main" id="{8FB25E9A-4221-499D-9C7D-B27ACA9D854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371475"/>
              <a:ext cx="66675" cy="2190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245B42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" name="p8-text-195">
              <a:extLst xmlns:a="http://schemas.openxmlformats.org/drawingml/2006/main">
                <a:ext uri="{FF2B5EF4-FFF2-40B4-BE49-F238E27FC236}">
                  <a16:creationId xmlns:a16="http://schemas.microsoft.com/office/drawing/2014/main" id="{1B69017B-621B-4BE5-9995-389F1342DC6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85825" y="390525"/>
              <a:ext cx="8239125" cy="20116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07 / 爆款文案创作方向</a:t>
              </a:r>
            </a:p>
          </p:txBody>
        </p:sp>
        <p:sp>
          <p:nvSpPr>
            <p:cNvPr id="3" name="p8-text-196">
              <a:extLst xmlns:a="http://schemas.openxmlformats.org/drawingml/2006/main">
                <a:ext uri="{FF2B5EF4-FFF2-40B4-BE49-F238E27FC236}">
                  <a16:creationId xmlns:a16="http://schemas.microsoft.com/office/drawing/2014/main" id="{C9149D30-C03E-4FFD-BB4D-2B9D3BCA5A6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82200" y="381000"/>
              <a:ext cx="1524000" cy="21374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乡创引擎</a:t>
              </a:r>
            </a:p>
          </p:txBody>
        </p:sp>
        <p:sp>
          <p:nvSpPr>
            <p:cNvPr id="4" name="p8-rect-197">
              <a:extLst xmlns:a="http://schemas.openxmlformats.org/drawingml/2006/main">
                <a:ext uri="{FF2B5EF4-FFF2-40B4-BE49-F238E27FC236}">
                  <a16:creationId xmlns:a16="http://schemas.microsoft.com/office/drawing/2014/main" id="{A894C7F9-6BD5-4C2F-B496-B850E2183FD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6381750"/>
              <a:ext cx="10820400" cy="9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DDCC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5" name="p8-text-198">
              <a:extLst xmlns:a="http://schemas.openxmlformats.org/drawingml/2006/main">
                <a:ext uri="{FF2B5EF4-FFF2-40B4-BE49-F238E27FC236}">
                  <a16:creationId xmlns:a16="http://schemas.microsoft.com/office/drawing/2014/main" id="{54C5DFBE-873D-4519-BA2C-108B4D28953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6505575"/>
              <a:ext cx="9429750" cy="16973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农户身边的 AI 卖货助手</a:t>
              </a:r>
            </a:p>
          </p:txBody>
        </p:sp>
        <p:sp>
          <p:nvSpPr>
            <p:cNvPr id="6" name="p8-text-199">
              <a:extLst xmlns:a="http://schemas.openxmlformats.org/drawingml/2006/main">
                <a:ext uri="{FF2B5EF4-FFF2-40B4-BE49-F238E27FC236}">
                  <a16:creationId xmlns:a16="http://schemas.microsoft.com/office/drawing/2014/main" id="{812BC35B-033C-4F93-B7F1-E05B903FA88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029950" y="6467475"/>
              <a:ext cx="476250" cy="23888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08</a:t>
              </a:r>
            </a:p>
          </p:txBody>
        </p:sp>
      </p:grpSp>
      <p:grpSp>
        <p:nvGrpSpPr>
          <p:cNvPr id="26" name="页面标题"/>
          <p:cNvGrpSpPr/>
          <p:nvPr/>
        </p:nvGrpSpPr>
        <p:grpSpPr>
          <ns1:xfrm xmlns:ns1="http://schemas.openxmlformats.org/drawingml/2006/main">
            <ns1:off x="685800" y="866775"/>
            <ns1:ext cx="10820400" cy="817055"/>
            <ns1:chOff x="685800" y="866775"/>
            <ns1:chExt cx="10820400" cy="817055"/>
          </ns1:xfrm>
        </p:grpSpPr>
        <p:sp>
          <p:nvSpPr>
            <p:cNvPr id="7" name="p8-text-200">
              <a:extLst xmlns:a="http://schemas.openxmlformats.org/drawingml/2006/main">
                <a:ext uri="{FF2B5EF4-FFF2-40B4-BE49-F238E27FC236}">
                  <a16:creationId xmlns:a16="http://schemas.microsoft.com/office/drawing/2014/main" id="{AE427E67-7655-4501-B89A-CB2297EA57F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866775"/>
              <a:ext cx="10820400" cy="55321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把一句“有需要联系”，写成愿意读的介绍</a:t>
              </a:r>
            </a:p>
          </p:txBody>
        </p:sp>
        <p:sp>
          <p:nvSpPr>
            <p:cNvPr id="8" name="p8-text-201">
              <a:extLst xmlns:a="http://schemas.openxmlformats.org/drawingml/2006/main">
                <a:ext uri="{FF2B5EF4-FFF2-40B4-BE49-F238E27FC236}">
                  <a16:creationId xmlns:a16="http://schemas.microsoft.com/office/drawing/2014/main" id="{00A02E7F-0063-43C0-BB48-F92AD2DC733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5325" y="1476375"/>
              <a:ext cx="10801350" cy="20745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先让附近的人愿意读，再把规格、价格和取货讲清楚</a:t>
              </a:r>
            </a:p>
          </p:txBody>
        </p:sp>
      </p:grpSp>
      <p:grpSp>
        <p:nvGrpSpPr>
          <p:cNvPr id="27" name="演示主体"/>
          <p:cNvGrpSpPr/>
          <p:nvPr/>
        </p:nvGrpSpPr>
        <p:grpSpPr>
          <ns1:xfrm xmlns:ns1="http://schemas.openxmlformats.org/drawingml/2006/main">
            <ns1:off x="723900" y="2019300"/>
            <ns1:ext cx="10782300" cy="3905250"/>
            <ns1:chOff x="723900" y="2019300"/>
            <ns1:chExt cx="10782300" cy="3905250"/>
          </ns1:xfrm>
        </p:grpSpPr>
        <p:sp>
          <p:nvSpPr>
            <p:cNvPr id="9" name="p8-text-202">
              <a:extLst xmlns:a="http://schemas.openxmlformats.org/drawingml/2006/main">
                <a:ext uri="{FF2B5EF4-FFF2-40B4-BE49-F238E27FC236}">
                  <a16:creationId xmlns:a16="http://schemas.microsoft.com/office/drawing/2014/main" id="{C25658C9-5BBC-42ED-B618-98F8F071744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2085975"/>
              <a:ext cx="2667000" cy="30175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8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8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8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8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8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8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8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8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8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8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8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陈叔原来想发</a:t>
              </a:r>
            </a:p>
          </p:txBody>
        </p:sp>
        <p:sp>
          <p:nvSpPr>
            <p:cNvPr id="10" name="p8-text-203">
              <a:extLst xmlns:a="http://schemas.openxmlformats.org/drawingml/2006/main">
                <a:ext uri="{FF2B5EF4-FFF2-40B4-BE49-F238E27FC236}">
                  <a16:creationId xmlns:a16="http://schemas.microsoft.com/office/drawing/2014/main" id="{8F518849-D602-422C-B1B0-F9622CC5E99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2581275"/>
              <a:ext cx="3267075" cy="40233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4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4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4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4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4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4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4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4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4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4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4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4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“自家贡柑，</a:t>
              </a:r>
            </a:p>
          </p:txBody>
        </p:sp>
        <p:sp>
          <p:nvSpPr>
            <p:cNvPr id="11" name="p8-text-204">
              <a:extLst xmlns:a="http://schemas.openxmlformats.org/drawingml/2006/main">
                <a:ext uri="{FF2B5EF4-FFF2-40B4-BE49-F238E27FC236}">
                  <a16:creationId xmlns:a16="http://schemas.microsoft.com/office/drawing/2014/main" id="{2263D9FB-0358-41A1-A3B8-626892B9D4B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3038475"/>
              <a:ext cx="3267075" cy="40233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4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4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4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4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4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4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4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4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4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4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4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4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有需要联系我。”</a:t>
              </a:r>
            </a:p>
          </p:txBody>
        </p:sp>
        <p:sp>
          <p:nvSpPr>
            <p:cNvPr id="12" name="p8-text-205">
              <a:extLst xmlns:a="http://schemas.openxmlformats.org/drawingml/2006/main">
                <a:ext uri="{FF2B5EF4-FFF2-40B4-BE49-F238E27FC236}">
                  <a16:creationId xmlns:a16="http://schemas.microsoft.com/office/drawing/2014/main" id="{886E6B51-9450-477E-9C96-A107A76AE72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4095750"/>
              <a:ext cx="3267075" cy="30175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8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8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8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8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8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8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8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8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8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8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8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信息有了，</a:t>
              </a:r>
            </a:p>
          </p:txBody>
        </p:sp>
        <p:sp>
          <p:nvSpPr>
            <p:cNvPr id="13" name="p8-text-206">
              <a:extLst xmlns:a="http://schemas.openxmlformats.org/drawingml/2006/main">
                <a:ext uri="{FF2B5EF4-FFF2-40B4-BE49-F238E27FC236}">
                  <a16:creationId xmlns:a16="http://schemas.microsoft.com/office/drawing/2014/main" id="{CB95E3ED-457C-4584-BC1A-47FDCCFF823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4450080"/>
              <a:ext cx="3267075" cy="30175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8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8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8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8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8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8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8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8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8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8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8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还差一个愿意读下去的理由。</a:t>
              </a:r>
            </a:p>
          </p:txBody>
        </p:sp>
        <p:sp>
          <p:nvSpPr>
            <p:cNvPr id="14" name="p8-rect-207">
              <a:extLst xmlns:a="http://schemas.openxmlformats.org/drawingml/2006/main">
                <a:ext uri="{FF2B5EF4-FFF2-40B4-BE49-F238E27FC236}">
                  <a16:creationId xmlns:a16="http://schemas.microsoft.com/office/drawing/2014/main" id="{F31E0DD6-C6FA-4821-A7C1-AC572E15885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05300" y="2019300"/>
              <a:ext cx="7200900" cy="39052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EFA"/>
            </a:solidFill>
            <a:ln xmlns:a="http://schemas.openxmlformats.org/drawingml/2006/main" w="9525">
              <a:solidFill>
                <a:srgbClr val="D6DDCC"/>
              </a:solidFill>
              <a:prstDash val="solid"/>
            </a:ln>
          </p:spPr>
        </p:sp>
        <p:sp>
          <p:nvSpPr>
            <p:cNvPr id="15" name="p8-text-208">
              <a:extLst xmlns:a="http://schemas.openxmlformats.org/drawingml/2006/main">
                <a:ext uri="{FF2B5EF4-FFF2-40B4-BE49-F238E27FC236}">
                  <a16:creationId xmlns:a16="http://schemas.microsoft.com/office/drawing/2014/main" id="{B2E422F0-8B14-413C-A2FC-6BBCF591AD5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52950" y="2247900"/>
              <a:ext cx="6705600" cy="45262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7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肇庆的邻居，这盒贡柑想留给你</a:t>
              </a:r>
            </a:p>
          </p:txBody>
        </p:sp>
        <p:sp>
          <p:nvSpPr>
            <p:cNvPr id="16" name="p8-text-209">
              <a:extLst xmlns:a="http://schemas.openxmlformats.org/drawingml/2006/main">
                <a:ext uri="{FF2B5EF4-FFF2-40B4-BE49-F238E27FC236}">
                  <a16:creationId xmlns:a16="http://schemas.microsoft.com/office/drawing/2014/main" id="{0B9234F0-DBA7-4629-B380-BB5699C1DFB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52950" y="2943225"/>
              <a:ext cx="6705600" cy="3143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我是种柑的陈叔。</a:t>
              </a:r>
            </a:p>
          </p:txBody>
        </p:sp>
        <p:sp>
          <p:nvSpPr>
            <p:cNvPr id="17" name="p8-text-210">
              <a:extLst xmlns:a="http://schemas.openxmlformats.org/drawingml/2006/main">
                <a:ext uri="{FF2B5EF4-FFF2-40B4-BE49-F238E27FC236}">
                  <a16:creationId xmlns:a16="http://schemas.microsoft.com/office/drawing/2014/main" id="{72C4C2C2-A3E3-4600-9A86-611223BDF5D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52950" y="3324225"/>
              <a:ext cx="6705600" cy="3143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这次想把家里的贡柑，介绍给附近想买水果的人。</a:t>
              </a:r>
            </a:p>
          </p:txBody>
        </p:sp>
        <p:sp>
          <p:nvSpPr>
            <p:cNvPr id="18" name="p8-text-211">
              <a:extLst xmlns:a="http://schemas.openxmlformats.org/drawingml/2006/main">
                <a:ext uri="{FF2B5EF4-FFF2-40B4-BE49-F238E27FC236}">
                  <a16:creationId xmlns:a16="http://schemas.microsoft.com/office/drawing/2014/main" id="{3D8DE3C8-59F3-41EA-ACDD-6A5E86758B1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52950" y="3705225"/>
              <a:ext cx="6705600" cy="3143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自己吃一盒，或者和邻居分着买。</a:t>
              </a:r>
            </a:p>
          </p:txBody>
        </p:sp>
        <p:sp>
          <p:nvSpPr>
            <p:cNvPr id="19" name="p8-rect-212">
              <a:extLst xmlns:a="http://schemas.openxmlformats.org/drawingml/2006/main">
                <a:ext uri="{FF2B5EF4-FFF2-40B4-BE49-F238E27FC236}">
                  <a16:creationId xmlns:a16="http://schemas.microsoft.com/office/drawing/2014/main" id="{775A398C-6B81-456E-812B-1CA1A13399D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52950" y="4352925"/>
              <a:ext cx="6705600" cy="9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DDCC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0" name="p8-text-213">
              <a:extLst xmlns:a="http://schemas.openxmlformats.org/drawingml/2006/main">
                <a:ext uri="{FF2B5EF4-FFF2-40B4-BE49-F238E27FC236}">
                  <a16:creationId xmlns:a16="http://schemas.microsoft.com/office/drawing/2014/main" id="{D24E0D5D-A433-48B3-B6F7-A498E0422DA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52950" y="4600575"/>
              <a:ext cx="6705600" cy="3143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贡柑家庭装，广东肇庆。3 kg / 盒，¥59。</a:t>
              </a:r>
            </a:p>
          </p:txBody>
        </p:sp>
        <p:sp>
          <p:nvSpPr>
            <p:cNvPr id="21" name="p8-text-214">
              <a:extLst xmlns:a="http://schemas.openxmlformats.org/drawingml/2006/main">
                <a:ext uri="{FF2B5EF4-FFF2-40B4-BE49-F238E27FC236}">
                  <a16:creationId xmlns:a16="http://schemas.microsoft.com/office/drawing/2014/main" id="{448C7991-7340-4D0A-AF62-92231901A80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52950" y="4969669"/>
              <a:ext cx="6705600" cy="3143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本地约定自提；先确认数量，再约次日下午来拿。</a:t>
              </a:r>
            </a:p>
          </p:txBody>
        </p:sp>
        <p:sp>
          <p:nvSpPr>
            <p:cNvPr id="22" name="p8-text-215">
              <a:extLst xmlns:a="http://schemas.openxmlformats.org/drawingml/2006/main">
                <a:ext uri="{FF2B5EF4-FFF2-40B4-BE49-F238E27FC236}">
                  <a16:creationId xmlns:a16="http://schemas.microsoft.com/office/drawing/2014/main" id="{4B73B185-085F-4CDC-A9F7-32E03D3AD4C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52950" y="5362575"/>
              <a:ext cx="6705600" cy="25146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5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5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5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5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5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5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5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5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5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5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5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5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#肇庆  #贡柑  #自家种的水果</a:t>
              </a:r>
            </a:p>
          </p:txBody>
        </p:sp>
        <p:sp>
          <p:nvSpPr>
            <p:cNvPr id="23" name="p8-text-216">
              <a:extLst xmlns:a="http://schemas.openxmlformats.org/drawingml/2006/main">
                <a:ext uri="{FF2B5EF4-FFF2-40B4-BE49-F238E27FC236}">
                  <a16:creationId xmlns:a16="http://schemas.microsoft.com/office/drawing/2014/main" id="{ABE39584-5125-44C8-9E61-EA3C3CED045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52950" y="5619750"/>
              <a:ext cx="6705600" cy="25146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5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5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5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5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5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5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5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5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5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5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5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5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#当季水果  #果园日常  #本地自提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847024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25" name="模板 / 页眉页脚"/>
          <p:cNvGrpSpPr/>
          <p:nvPr/>
        </p:nvGrpSpPr>
        <p:grpSpPr>
          <ns1:xfrm xmlns:ns1="http://schemas.openxmlformats.org/drawingml/2006/main">
            <ns1:off x="685800" y="371475"/>
            <ns1:ext cx="10820400" cy="6334887"/>
            <ns1:chOff x="685800" y="371475"/>
            <ns1:chExt cx="10820400" cy="6334887"/>
          </ns1:xfrm>
        </p:grpSpPr>
        <p:sp>
          <p:nvSpPr>
            <p:cNvPr id="24" name="p9-rect-217">
              <a:extLst xmlns:a="http://schemas.openxmlformats.org/drawingml/2006/main">
                <a:ext uri="{FF2B5EF4-FFF2-40B4-BE49-F238E27FC236}">
                  <a16:creationId xmlns:a16="http://schemas.microsoft.com/office/drawing/2014/main" id="{FB7C0401-B1EB-48E3-8D60-2C10E2AFE73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371475"/>
              <a:ext cx="66675" cy="2190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245B42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" name="p9-text-218">
              <a:extLst xmlns:a="http://schemas.openxmlformats.org/drawingml/2006/main">
                <a:ext uri="{FF2B5EF4-FFF2-40B4-BE49-F238E27FC236}">
                  <a16:creationId xmlns:a16="http://schemas.microsoft.com/office/drawing/2014/main" id="{D7A8BFB4-639D-4EBF-A05D-77CC4F79592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85825" y="390525"/>
              <a:ext cx="8239125" cy="20116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08 / 分渠道发布准备</a:t>
              </a:r>
            </a:p>
          </p:txBody>
        </p:sp>
        <p:sp>
          <p:nvSpPr>
            <p:cNvPr id="3" name="p9-text-219">
              <a:extLst xmlns:a="http://schemas.openxmlformats.org/drawingml/2006/main">
                <a:ext uri="{FF2B5EF4-FFF2-40B4-BE49-F238E27FC236}">
                  <a16:creationId xmlns:a16="http://schemas.microsoft.com/office/drawing/2014/main" id="{C4626DE4-61AB-439B-B1A2-56264AC07FF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82200" y="381000"/>
              <a:ext cx="1524000" cy="21374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乡创引擎</a:t>
              </a:r>
            </a:p>
          </p:txBody>
        </p:sp>
        <p:sp>
          <p:nvSpPr>
            <p:cNvPr id="4" name="p9-rect-220">
              <a:extLst xmlns:a="http://schemas.openxmlformats.org/drawingml/2006/main">
                <a:ext uri="{FF2B5EF4-FFF2-40B4-BE49-F238E27FC236}">
                  <a16:creationId xmlns:a16="http://schemas.microsoft.com/office/drawing/2014/main" id="{4460733C-F971-48D1-A93C-5BB0C3514F3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6381750"/>
              <a:ext cx="10820400" cy="9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DDCC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5" name="p9-text-221">
              <a:extLst xmlns:a="http://schemas.openxmlformats.org/drawingml/2006/main">
                <a:ext uri="{FF2B5EF4-FFF2-40B4-BE49-F238E27FC236}">
                  <a16:creationId xmlns:a16="http://schemas.microsoft.com/office/drawing/2014/main" id="{053BBD4E-B35A-4458-90CD-28FE8ED8812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6505575"/>
              <a:ext cx="9429750" cy="16973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农户身边的 AI 卖货助手</a:t>
              </a:r>
            </a:p>
          </p:txBody>
        </p:sp>
        <p:sp>
          <p:nvSpPr>
            <p:cNvPr id="6" name="p9-text-222">
              <a:extLst xmlns:a="http://schemas.openxmlformats.org/drawingml/2006/main">
                <a:ext uri="{FF2B5EF4-FFF2-40B4-BE49-F238E27FC236}">
                  <a16:creationId xmlns:a16="http://schemas.microsoft.com/office/drawing/2014/main" id="{3AFB82FB-C17D-440A-A64C-4807D2E22A6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029950" y="6467475"/>
              <a:ext cx="476250" cy="23888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09</a:t>
              </a:r>
            </a:p>
          </p:txBody>
        </p:sp>
      </p:grpSp>
      <p:grpSp>
        <p:nvGrpSpPr>
          <p:cNvPr id="26" name="页面标题"/>
          <p:cNvGrpSpPr/>
          <p:nvPr/>
        </p:nvGrpSpPr>
        <p:grpSpPr>
          <ns1:xfrm xmlns:ns1="http://schemas.openxmlformats.org/drawingml/2006/main">
            <ns1:off x="685800" y="866775"/>
            <ns1:ext cx="10820400" cy="817055"/>
            <ns1:chOff x="685800" y="866775"/>
            <ns1:chExt cx="10820400" cy="817055"/>
          </ns1:xfrm>
        </p:grpSpPr>
        <p:sp>
          <p:nvSpPr>
            <p:cNvPr id="7" name="p9-text-223">
              <a:extLst xmlns:a="http://schemas.openxmlformats.org/drawingml/2006/main">
                <a:ext uri="{FF2B5EF4-FFF2-40B4-BE49-F238E27FC236}">
                  <a16:creationId xmlns:a16="http://schemas.microsoft.com/office/drawing/2014/main" id="{65C9F128-A6BC-4576-9034-297C5DA2B32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866775"/>
              <a:ext cx="10820400" cy="55321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图文准备好，陈叔照着步骤发布</a:t>
              </a:r>
            </a:p>
          </p:txBody>
        </p:sp>
        <p:sp>
          <p:nvSpPr>
            <p:cNvPr id="8" name="p9-text-224">
              <a:extLst xmlns:a="http://schemas.openxmlformats.org/drawingml/2006/main">
                <a:ext uri="{FF2B5EF4-FFF2-40B4-BE49-F238E27FC236}">
                  <a16:creationId xmlns:a16="http://schemas.microsoft.com/office/drawing/2014/main" id="{CF5E1D1D-4F9D-4A6E-80ED-F94486F94BA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5325" y="1476375"/>
              <a:ext cx="10801350" cy="20745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小红书讲清陌生人的购买问题，朋友圈像平时向熟人介绍</a:t>
              </a:r>
            </a:p>
          </p:txBody>
        </p:sp>
      </p:grpSp>
      <p:grpSp>
        <p:nvGrpSpPr>
          <p:cNvPr id="27" name="小红书内容"/>
          <p:cNvGrpSpPr/>
          <p:nvPr/>
        </p:nvGrpSpPr>
        <p:grpSpPr>
          <ns1:xfrm xmlns:ns1="http://schemas.openxmlformats.org/drawingml/2006/main">
            <ns1:off x="723900" y="2000250"/>
            <ns1:ext cx="5086350" cy="3876675"/>
            <ns1:chOff x="723900" y="2000250"/>
            <ns1:chExt cx="5086350" cy="3876675"/>
          </ns1:xfrm>
        </p:grpSpPr>
        <p:sp>
          <p:nvSpPr>
            <p:cNvPr id="9" name="p9-rect-225">
              <a:extLst xmlns:a="http://schemas.openxmlformats.org/drawingml/2006/main">
                <a:ext uri="{FF2B5EF4-FFF2-40B4-BE49-F238E27FC236}">
                  <a16:creationId xmlns:a16="http://schemas.microsoft.com/office/drawing/2014/main" id="{836F0DD5-5A67-4A00-A788-C219650D5ED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2000250"/>
              <a:ext cx="5086350" cy="38766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EFA"/>
            </a:solidFill>
            <a:ln xmlns:a="http://schemas.openxmlformats.org/drawingml/2006/main" w="9525">
              <a:solidFill>
                <a:srgbClr val="D6DDCC"/>
              </a:solidFill>
              <a:prstDash val="solid"/>
            </a:ln>
          </p:spPr>
        </p:sp>
        <p:sp>
          <p:nvSpPr>
            <p:cNvPr id="10" name="p9-text-226">
              <a:extLst xmlns:a="http://schemas.openxmlformats.org/drawingml/2006/main">
                <a:ext uri="{FF2B5EF4-FFF2-40B4-BE49-F238E27FC236}">
                  <a16:creationId xmlns:a16="http://schemas.microsoft.com/office/drawing/2014/main" id="{08C59976-43BC-4927-9AEE-9100629C0B2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3450" y="2162175"/>
              <a:ext cx="4667250" cy="36461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小红书图文</a:t>
              </a:r>
            </a:p>
          </p:txBody>
        </p:sp>
        <p:pic>
          <p:nvPic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C77B2250-7E98-4624-B47D-4918A0AAD3F6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a573414251924066"/>
            <a:stretch xmlns:a="http://schemas.openxmlformats.org/drawingml/2006/main"/>
          </p:blipFill>
          <p:spPr>
            <a:xfrm xmlns:a="http://schemas.openxmlformats.org/drawingml/2006/main">
              <a:off x="933450" y="2725738"/>
              <a:ext cx="1790700" cy="2387600"/>
            </a:xfrm>
            <a:prstGeom xmlns:a="http://schemas.openxmlformats.org/drawingml/2006/main" prst="rect">
              <a:avLst/>
            </a:prstGeom>
          </p:spPr>
        </p:pic>
        <p:sp>
          <p:nvSpPr>
            <p:cNvPr id="12" name="p9-text-227">
              <a:extLst xmlns:a="http://schemas.openxmlformats.org/drawingml/2006/main">
                <a:ext uri="{FF2B5EF4-FFF2-40B4-BE49-F238E27FC236}">
                  <a16:creationId xmlns:a16="http://schemas.microsoft.com/office/drawing/2014/main" id="{CBA4E23B-7B47-4A3F-A435-2031F52BF25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952750" y="2924175"/>
              <a:ext cx="2628900" cy="30175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0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80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80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80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80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80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80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80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80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80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80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80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先点出“肇庆的邻居”</a:t>
              </a:r>
            </a:p>
          </p:txBody>
        </p:sp>
        <p:sp>
          <p:nvSpPr>
            <p:cNvPr id="13" name="p9-text-228">
              <a:extLst xmlns:a="http://schemas.openxmlformats.org/drawingml/2006/main">
                <a:ext uri="{FF2B5EF4-FFF2-40B4-BE49-F238E27FC236}">
                  <a16:creationId xmlns:a16="http://schemas.microsoft.com/office/drawing/2014/main" id="{DA1C78E1-6DD8-4522-B947-F2AF48497E5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952750" y="3312795"/>
              <a:ext cx="2628900" cy="30175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0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80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80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80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80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80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80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80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80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80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80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80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再介绍陈叔和贡柑</a:t>
              </a:r>
            </a:p>
          </p:txBody>
        </p:sp>
        <p:sp>
          <p:nvSpPr>
            <p:cNvPr id="14" name="p9-text-229">
              <a:extLst xmlns:a="http://schemas.openxmlformats.org/drawingml/2006/main">
                <a:ext uri="{FF2B5EF4-FFF2-40B4-BE49-F238E27FC236}">
                  <a16:creationId xmlns:a16="http://schemas.microsoft.com/office/drawing/2014/main" id="{1608663D-9EC4-46A4-AFDC-DFDFC8F0ED8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952750" y="3701415"/>
              <a:ext cx="2628900" cy="30175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0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80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80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80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80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80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80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80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80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80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80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800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最后说明规格和自提</a:t>
              </a:r>
            </a:p>
          </p:txBody>
        </p:sp>
        <p:sp>
          <p:nvSpPr>
            <p:cNvPr id="15" name="p9-text-230">
              <a:extLst xmlns:a="http://schemas.openxmlformats.org/drawingml/2006/main">
                <a:ext uri="{FF2B5EF4-FFF2-40B4-BE49-F238E27FC236}">
                  <a16:creationId xmlns:a16="http://schemas.microsoft.com/office/drawing/2014/main" id="{349DEC0C-FB4E-4D0A-AC04-CEFB9A0DEEF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3450" y="5457825"/>
              <a:ext cx="4667250" cy="26403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5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5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5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5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5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5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5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5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5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5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5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5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标题、正文与 6 个话题一起准备</a:t>
              </a:r>
            </a:p>
          </p:txBody>
        </p:sp>
      </p:grpSp>
      <p:grpSp>
        <p:nvGrpSpPr>
          <p:cNvPr id="28" name="朋友圈内容"/>
          <p:cNvGrpSpPr/>
          <p:nvPr/>
        </p:nvGrpSpPr>
        <p:grpSpPr>
          <ns1:xfrm xmlns:ns1="http://schemas.openxmlformats.org/drawingml/2006/main">
            <ns1:off x="6172200" y="2000250"/>
            <ns1:ext cx="5334000" cy="3876675"/>
            <ns1:chOff x="6172200" y="2000250"/>
            <ns1:chExt cx="5334000" cy="3876675"/>
          </ns1:xfrm>
        </p:grpSpPr>
        <p:sp>
          <p:nvSpPr>
            <p:cNvPr id="16" name="p9-rect-231">
              <a:extLst xmlns:a="http://schemas.openxmlformats.org/drawingml/2006/main">
                <a:ext uri="{FF2B5EF4-FFF2-40B4-BE49-F238E27FC236}">
                  <a16:creationId xmlns:a16="http://schemas.microsoft.com/office/drawing/2014/main" id="{1611D5E0-2A26-47BE-992D-7306AB28775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72200" y="2000250"/>
              <a:ext cx="5334000" cy="38766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EFA"/>
            </a:solidFill>
            <a:ln xmlns:a="http://schemas.openxmlformats.org/drawingml/2006/main" w="9525">
              <a:solidFill>
                <a:srgbClr val="D6DDCC"/>
              </a:solidFill>
              <a:prstDash val="solid"/>
            </a:ln>
          </p:spPr>
        </p:sp>
        <p:sp>
          <p:nvSpPr>
            <p:cNvPr id="17" name="p9-text-232">
              <a:extLst xmlns:a="http://schemas.openxmlformats.org/drawingml/2006/main">
                <a:ext uri="{FF2B5EF4-FFF2-40B4-BE49-F238E27FC236}">
                  <a16:creationId xmlns:a16="http://schemas.microsoft.com/office/drawing/2014/main" id="{D3214567-6581-4627-8C75-68FBB146591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381750" y="2162175"/>
              <a:ext cx="4914900" cy="36461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微信朋友圈</a:t>
              </a:r>
            </a:p>
          </p:txBody>
        </p:sp>
        <p:pic>
          <p:nvPicPr>
            <p:cNvPr id="18" name="">
              <a:extLst xmlns:a="http://schemas.openxmlformats.org/drawingml/2006/main">
                <a:ext uri="{FF2B5EF4-FFF2-40B4-BE49-F238E27FC236}">
                  <a16:creationId xmlns:a16="http://schemas.microsoft.com/office/drawing/2014/main" id="{03AD97F5-5F97-4FEA-AE7A-83BB4171A549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98e204e24fff48d0"/>
            <a:stretch xmlns:a="http://schemas.openxmlformats.org/drawingml/2006/main"/>
          </p:blipFill>
          <p:spPr>
            <a:xfrm xmlns:a="http://schemas.openxmlformats.org/drawingml/2006/main">
              <a:off x="6381750" y="2724150"/>
              <a:ext cx="2190750" cy="2190750"/>
            </a:xfrm>
            <a:prstGeom xmlns:a="http://schemas.openxmlformats.org/drawingml/2006/main" prst="rect">
              <a:avLst/>
            </a:prstGeom>
          </p:spPr>
        </p:pic>
        <p:sp>
          <p:nvSpPr>
            <p:cNvPr id="19" name="p9-text-233">
              <a:extLst xmlns:a="http://schemas.openxmlformats.org/drawingml/2006/main">
                <a:ext uri="{FF2B5EF4-FFF2-40B4-BE49-F238E27FC236}">
                  <a16:creationId xmlns:a16="http://schemas.microsoft.com/office/drawing/2014/main" id="{C54EC07E-3A0F-4B8A-8C7A-86F7BBF9C70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782050" y="2924175"/>
              <a:ext cx="2505075" cy="28917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“肇庆附近的朋友，</a:t>
              </a:r>
            </a:p>
          </p:txBody>
        </p:sp>
        <p:sp>
          <p:nvSpPr>
            <p:cNvPr id="20" name="p9-text-234">
              <a:extLst xmlns:a="http://schemas.openxmlformats.org/drawingml/2006/main">
                <a:ext uri="{FF2B5EF4-FFF2-40B4-BE49-F238E27FC236}">
                  <a16:creationId xmlns:a16="http://schemas.microsoft.com/office/drawing/2014/main" id="{74B483B8-13C0-46DF-BBB3-792692AEB2A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782050" y="3296603"/>
              <a:ext cx="2505075" cy="28917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想给家里添盒贡柑的，</a:t>
              </a:r>
            </a:p>
          </p:txBody>
        </p:sp>
        <p:sp>
          <p:nvSpPr>
            <p:cNvPr id="21" name="p9-text-235">
              <a:extLst xmlns:a="http://schemas.openxmlformats.org/drawingml/2006/main">
                <a:ext uri="{FF2B5EF4-FFF2-40B4-BE49-F238E27FC236}">
                  <a16:creationId xmlns:a16="http://schemas.microsoft.com/office/drawing/2014/main" id="{18DADBCD-7668-4A29-B793-32DE7E3327D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782050" y="3669030"/>
              <a:ext cx="2505075" cy="28917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7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可以来问问我。”</a:t>
              </a:r>
            </a:p>
          </p:txBody>
        </p:sp>
        <p:sp>
          <p:nvSpPr>
            <p:cNvPr id="22" name="p9-text-236">
              <a:extLst xmlns:a="http://schemas.openxmlformats.org/drawingml/2006/main">
                <a:ext uri="{FF2B5EF4-FFF2-40B4-BE49-F238E27FC236}">
                  <a16:creationId xmlns:a16="http://schemas.microsoft.com/office/drawing/2014/main" id="{FF48A664-5FF1-45C4-AEF4-84769EBAE39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381750" y="5457825"/>
              <a:ext cx="4914900" cy="26403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5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5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5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5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5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5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5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5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5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5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5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57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像平时说话，说明数量和取货安排</a:t>
              </a:r>
            </a:p>
          </p:txBody>
        </p:sp>
      </p:grpSp>
      <p:sp>
        <p:nvSpPr>
          <p:cNvPr id="23" name="p9-text-237">
            <a:extLst xmlns:a="http://schemas.openxmlformats.org/drawingml/2006/main">
              <a:ext uri="{FF2B5EF4-FFF2-40B4-BE49-F238E27FC236}">
                <a16:creationId xmlns:a16="http://schemas.microsoft.com/office/drawing/2014/main" id="{EE7696A9-1EA4-457C-A7D5-8B95AEA3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10782300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45B42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950" b="1">
                <a:solidFill>
                  <a:srgbClr val="245B42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950" b="1">
                <a:solidFill>
                  <a:srgbClr val="245B42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950" b="1">
                <a:solidFill>
                  <a:srgbClr val="245B42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950" b="1">
                <a:solidFill>
                  <a:srgbClr val="245B42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950" b="1">
                <a:solidFill>
                  <a:srgbClr val="245B42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950" b="1">
                <a:solidFill>
                  <a:srgbClr val="245B42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950" b="1">
                <a:solidFill>
                  <a:srgbClr val="245B42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950" b="1">
                <a:solidFill>
                  <a:srgbClr val="245B42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950" b="1">
                <a:solidFill>
                  <a:srgbClr val="245B4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45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45B42"/>
                </a:solidFill>
                <a:latin typeface="Arial Unicode MS"/>
                <a:ea typeface="Arial Unicode MS"/>
                <a:cs typeface="Arial Unicode MS"/>
              </a:rPr>
              <a:t>保存图片 → 复制文案 → 本人核对 → 手动发布</a:t>
            </a:r>
          </a:p>
        </p:txBody>
      </p:sp>
    </p:spTree>
    <p:extLst>
      <p:ext uri="{BB962C8B-B14F-4D97-AF65-F5344CB8AC3E}">
        <p14:creationId xmlns:p14="http://schemas.microsoft.com/office/powerpoint/2010/main" val="1274179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44" name="模板 / 页眉页脚"/>
          <p:cNvGrpSpPr/>
          <p:nvPr/>
        </p:nvGrpSpPr>
        <p:grpSpPr>
          <ns1:xfrm xmlns:ns1="http://schemas.openxmlformats.org/drawingml/2006/main">
            <ns1:off x="685800" y="371475"/>
            <ns1:ext cx="10820400" cy="6334887"/>
            <ns1:chOff x="685800" y="371475"/>
            <ns1:chExt cx="10820400" cy="6334887"/>
          </ns1:xfrm>
        </p:grpSpPr>
        <p:sp>
          <p:nvSpPr>
            <p:cNvPr id="43" name="p10-rect-238">
              <a:extLst xmlns:a="http://schemas.openxmlformats.org/drawingml/2006/main">
                <a:ext uri="{FF2B5EF4-FFF2-40B4-BE49-F238E27FC236}">
                  <a16:creationId xmlns:a16="http://schemas.microsoft.com/office/drawing/2014/main" id="{19ED20FB-19A8-41C7-8CB1-0E9115CFDCD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371475"/>
              <a:ext cx="66675" cy="2190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245B42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" name="p10-text-239">
              <a:extLst xmlns:a="http://schemas.openxmlformats.org/drawingml/2006/main">
                <a:ext uri="{FF2B5EF4-FFF2-40B4-BE49-F238E27FC236}">
                  <a16:creationId xmlns:a16="http://schemas.microsoft.com/office/drawing/2014/main" id="{9137BFF5-D0AE-4B6A-A4B6-FC1415550F7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85825" y="390525"/>
              <a:ext cx="8239125" cy="20116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09 / 准备客户回复</a:t>
              </a:r>
            </a:p>
          </p:txBody>
        </p:sp>
        <p:sp>
          <p:nvSpPr>
            <p:cNvPr id="3" name="p10-text-240">
              <a:extLst xmlns:a="http://schemas.openxmlformats.org/drawingml/2006/main">
                <a:ext uri="{FF2B5EF4-FFF2-40B4-BE49-F238E27FC236}">
                  <a16:creationId xmlns:a16="http://schemas.microsoft.com/office/drawing/2014/main" id="{DFAAF5BD-9AE6-44AE-90C3-7B7AE2B5F0E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82200" y="381000"/>
              <a:ext cx="1524000" cy="21374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乡创引擎</a:t>
              </a:r>
            </a:p>
          </p:txBody>
        </p:sp>
        <p:sp>
          <p:nvSpPr>
            <p:cNvPr id="4" name="p10-rect-241">
              <a:extLst xmlns:a="http://schemas.openxmlformats.org/drawingml/2006/main">
                <a:ext uri="{FF2B5EF4-FFF2-40B4-BE49-F238E27FC236}">
                  <a16:creationId xmlns:a16="http://schemas.microsoft.com/office/drawing/2014/main" id="{A3AB6798-B93E-462C-A1A1-0F4B34E8378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6381750"/>
              <a:ext cx="10820400" cy="9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DDCC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5" name="p10-text-242">
              <a:extLst xmlns:a="http://schemas.openxmlformats.org/drawingml/2006/main">
                <a:ext uri="{FF2B5EF4-FFF2-40B4-BE49-F238E27FC236}">
                  <a16:creationId xmlns:a16="http://schemas.microsoft.com/office/drawing/2014/main" id="{F2433712-E38A-445C-AA59-CB886B1F410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6505575"/>
              <a:ext cx="9429750" cy="16973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农户身边的 AI 卖货助手</a:t>
              </a:r>
            </a:p>
          </p:txBody>
        </p:sp>
        <p:sp>
          <p:nvSpPr>
            <p:cNvPr id="6" name="p10-text-243">
              <a:extLst xmlns:a="http://schemas.openxmlformats.org/drawingml/2006/main">
                <a:ext uri="{FF2B5EF4-FFF2-40B4-BE49-F238E27FC236}">
                  <a16:creationId xmlns:a16="http://schemas.microsoft.com/office/drawing/2014/main" id="{65C9A1D8-D101-455C-B908-BBAF0D94E8A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029950" y="6467475"/>
              <a:ext cx="476250" cy="23888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10</a:t>
              </a:r>
            </a:p>
          </p:txBody>
        </p:sp>
      </p:grpSp>
      <p:grpSp>
        <p:nvGrpSpPr>
          <p:cNvPr id="45" name="页面标题"/>
          <p:cNvGrpSpPr/>
          <p:nvPr/>
        </p:nvGrpSpPr>
        <p:grpSpPr>
          <ns1:xfrm xmlns:ns1="http://schemas.openxmlformats.org/drawingml/2006/main">
            <ns1:off x="685800" y="866775"/>
            <ns1:ext cx="10820400" cy="817055"/>
            <ns1:chOff x="685800" y="866775"/>
            <ns1:chExt cx="10820400" cy="817055"/>
          </ns1:xfrm>
        </p:grpSpPr>
        <p:sp>
          <p:nvSpPr>
            <p:cNvPr id="7" name="p10-text-244">
              <a:extLst xmlns:a="http://schemas.openxmlformats.org/drawingml/2006/main">
                <a:ext uri="{FF2B5EF4-FFF2-40B4-BE49-F238E27FC236}">
                  <a16:creationId xmlns:a16="http://schemas.microsoft.com/office/drawing/2014/main" id="{3906FFD6-09DB-4E94-9647-B17B69ADC19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866775"/>
              <a:ext cx="10820400" cy="55321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客户问起来，回复有资料可查</a:t>
              </a:r>
            </a:p>
          </p:txBody>
        </p:sp>
        <p:sp>
          <p:nvSpPr>
            <p:cNvPr id="8" name="p10-text-245">
              <a:extLst xmlns:a="http://schemas.openxmlformats.org/drawingml/2006/main">
                <a:ext uri="{FF2B5EF4-FFF2-40B4-BE49-F238E27FC236}">
                  <a16:creationId xmlns:a16="http://schemas.microsoft.com/office/drawing/2014/main" id="{815CD1A4-D6E4-43E0-8898-042A7CC2950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5325" y="1476375"/>
              <a:ext cx="10801350" cy="20745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模拟咨询：先查这份商品资料，回复由陈叔核对后发送</a:t>
              </a:r>
            </a:p>
          </p:txBody>
        </p:sp>
      </p:grpSp>
      <p:grpSp>
        <p:nvGrpSpPr>
          <p:cNvPr id="46" name="项目界面 / 模拟客户回复"/>
          <p:cNvGrpSpPr/>
          <p:nvPr/>
        </p:nvGrpSpPr>
        <p:grpSpPr>
          <ns1:xfrm xmlns:ns1="http://schemas.openxmlformats.org/drawingml/2006/main">
            <ns1:off x="685800" y="1809750"/>
            <ns1:ext cx="10820400" cy="3981450"/>
            <ns1:chOff x="685800" y="1809750"/>
            <ns1:chExt cx="10820400" cy="3981450"/>
          </ns1:xfrm>
        </p:grpSpPr>
        <p:sp>
          <p:nvSpPr>
            <p:cNvPr id="9" name="p10-rect-246">
              <a:extLst xmlns:a="http://schemas.openxmlformats.org/drawingml/2006/main">
                <a:ext uri="{FF2B5EF4-FFF2-40B4-BE49-F238E27FC236}">
                  <a16:creationId xmlns:a16="http://schemas.microsoft.com/office/drawing/2014/main" id="{F7CDC7AC-4E4E-4F9F-B6C0-A603B52E8A6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1809750"/>
              <a:ext cx="10820400" cy="39814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8FAF6"/>
            </a:solidFill>
            <a:ln xmlns:a="http://schemas.openxmlformats.org/drawingml/2006/main" w="9525">
              <a:solidFill>
                <a:srgbClr val="E3E9DD"/>
              </a:solidFill>
              <a:prstDash val="solid"/>
            </a:ln>
          </p:spPr>
        </p:sp>
        <p:sp>
          <p:nvSpPr>
            <p:cNvPr id="10" name="p10-rect-247">
              <a:extLst xmlns:a="http://schemas.openxmlformats.org/drawingml/2006/main">
                <a:ext uri="{FF2B5EF4-FFF2-40B4-BE49-F238E27FC236}">
                  <a16:creationId xmlns:a16="http://schemas.microsoft.com/office/drawing/2014/main" id="{9177B807-0140-42D5-A005-5ABD92DE92C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1809750"/>
              <a:ext cx="1685925" cy="39814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E3E9DD"/>
              </a:solidFill>
              <a:prstDash val="solid"/>
            </a:ln>
          </p:spPr>
        </p:sp>
        <p:sp>
          <p:nvSpPr>
            <p:cNvPr id="11" name="p10-text-248">
              <a:extLst xmlns:a="http://schemas.openxmlformats.org/drawingml/2006/main">
                <a:ext uri="{FF2B5EF4-FFF2-40B4-BE49-F238E27FC236}">
                  <a16:creationId xmlns:a16="http://schemas.microsoft.com/office/drawing/2014/main" id="{566E6D62-C743-4CD2-9D4F-A375FE820A6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7250" y="2009775"/>
              <a:ext cx="1371600" cy="3143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8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8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8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8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8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8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8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8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8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8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8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乡创引擎</a:t>
              </a:r>
            </a:p>
          </p:txBody>
        </p:sp>
        <p:sp>
          <p:nvSpPr>
            <p:cNvPr id="12" name="p10-text-249">
              <a:extLst xmlns:a="http://schemas.openxmlformats.org/drawingml/2006/main">
                <a:ext uri="{FF2B5EF4-FFF2-40B4-BE49-F238E27FC236}">
                  <a16:creationId xmlns:a16="http://schemas.microsoft.com/office/drawing/2014/main" id="{91BC718C-E2DE-43B4-A157-8100BA6B119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7250" y="2371725"/>
              <a:ext cx="1400175" cy="17602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05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05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05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05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05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05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05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05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05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05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05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050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rPr>
                <a:t>我家的卖货小帮手</a:t>
              </a:r>
            </a:p>
          </p:txBody>
        </p:sp>
        <p:sp>
          <p:nvSpPr>
            <p:cNvPr id="13" name="p10-text-250">
              <a:extLst xmlns:a="http://schemas.openxmlformats.org/drawingml/2006/main">
                <a:ext uri="{FF2B5EF4-FFF2-40B4-BE49-F238E27FC236}">
                  <a16:creationId xmlns:a16="http://schemas.microsoft.com/office/drawing/2014/main" id="{4424F38A-FC8F-4BC1-B118-07DA1354805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04875" y="2752725"/>
              <a:ext cx="1323975" cy="20745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rPr>
                <a:t>开始卖产品</a:t>
              </a:r>
            </a:p>
          </p:txBody>
        </p:sp>
        <p:sp>
          <p:nvSpPr>
            <p:cNvPr id="14" name="p10-text-251">
              <a:extLst xmlns:a="http://schemas.openxmlformats.org/drawingml/2006/main">
                <a:ext uri="{FF2B5EF4-FFF2-40B4-BE49-F238E27FC236}">
                  <a16:creationId xmlns:a16="http://schemas.microsoft.com/office/drawing/2014/main" id="{1A748E88-AD6F-4D00-884D-A26C89AB2E3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04875" y="3162300"/>
              <a:ext cx="1323975" cy="20745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rPr>
                <a:t>我的产品与照片</a:t>
              </a:r>
            </a:p>
          </p:txBody>
        </p:sp>
        <p:sp>
          <p:nvSpPr>
            <p:cNvPr id="15" name="p10-text-252">
              <a:extLst xmlns:a="http://schemas.openxmlformats.org/drawingml/2006/main">
                <a:ext uri="{FF2B5EF4-FFF2-40B4-BE49-F238E27FC236}">
                  <a16:creationId xmlns:a16="http://schemas.microsoft.com/office/drawing/2014/main" id="{EE8BF256-F325-47DB-8CF1-442E4DBCBA4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04875" y="3571875"/>
              <a:ext cx="1323975" cy="20745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rPr>
                <a:t>我的卖货方案</a:t>
              </a:r>
            </a:p>
          </p:txBody>
        </p:sp>
        <p:sp>
          <p:nvSpPr>
            <p:cNvPr id="16" name="p10-rect-253">
              <a:extLst xmlns:a="http://schemas.openxmlformats.org/drawingml/2006/main">
                <a:ext uri="{FF2B5EF4-FFF2-40B4-BE49-F238E27FC236}">
                  <a16:creationId xmlns:a16="http://schemas.microsoft.com/office/drawing/2014/main" id="{39A84A9E-935A-4B7F-83D2-2AA6129D44B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1050" y="3905250"/>
              <a:ext cx="1495425" cy="3429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4E9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17" name="p10-text-254">
              <a:extLst xmlns:a="http://schemas.openxmlformats.org/drawingml/2006/main">
                <a:ext uri="{FF2B5EF4-FFF2-40B4-BE49-F238E27FC236}">
                  <a16:creationId xmlns:a16="http://schemas.microsoft.com/office/drawing/2014/main" id="{1F737458-26EE-441B-B9D7-01C8C72390D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04875" y="3981450"/>
              <a:ext cx="1323975" cy="20745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38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238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238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238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238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238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238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238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238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238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238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38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可以发布的图文</a:t>
              </a:r>
            </a:p>
          </p:txBody>
        </p:sp>
        <p:sp>
          <p:nvSpPr>
            <p:cNvPr id="18" name="p10-text-255">
              <a:extLst xmlns:a="http://schemas.openxmlformats.org/drawingml/2006/main">
                <a:ext uri="{FF2B5EF4-FFF2-40B4-BE49-F238E27FC236}">
                  <a16:creationId xmlns:a16="http://schemas.microsoft.com/office/drawing/2014/main" id="{F72D94EE-15CC-4A73-AE12-EEA42871911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04875" y="4391025"/>
              <a:ext cx="1323975" cy="20745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rPr>
                <a:t>发布前检查</a:t>
              </a:r>
            </a:p>
          </p:txBody>
        </p:sp>
        <p:sp>
          <p:nvSpPr>
            <p:cNvPr id="19" name="p10-text-256">
              <a:extLst xmlns:a="http://schemas.openxmlformats.org/drawingml/2006/main">
                <a:ext uri="{FF2B5EF4-FFF2-40B4-BE49-F238E27FC236}">
                  <a16:creationId xmlns:a16="http://schemas.microsoft.com/office/drawing/2014/main" id="{F9F77D34-4557-4008-B748-B52653FB92D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04875" y="4800600"/>
              <a:ext cx="1323975" cy="20745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rPr>
                <a:t>我的行动清单</a:t>
              </a:r>
            </a:p>
          </p:txBody>
        </p:sp>
        <p:sp>
          <p:nvSpPr>
            <p:cNvPr id="20" name="p10-text-257">
              <a:extLst xmlns:a="http://schemas.openxmlformats.org/drawingml/2006/main">
                <a:ext uri="{FF2B5EF4-FFF2-40B4-BE49-F238E27FC236}">
                  <a16:creationId xmlns:a16="http://schemas.microsoft.com/office/drawing/2014/main" id="{725C5C0F-0BF6-4CBF-AA97-0F27928169C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7250" y="5505450"/>
              <a:ext cx="1381125" cy="15716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9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9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9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9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9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9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9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9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9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9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9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938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rPr>
                <a:t>本次页面会话内保存</a:t>
              </a:r>
            </a:p>
          </p:txBody>
        </p:sp>
        <p:sp>
          <p:nvSpPr>
            <p:cNvPr id="21" name="p10-rect-258">
              <a:extLst xmlns:a="http://schemas.openxmlformats.org/drawingml/2006/main">
                <a:ext uri="{FF2B5EF4-FFF2-40B4-BE49-F238E27FC236}">
                  <a16:creationId xmlns:a16="http://schemas.microsoft.com/office/drawing/2014/main" id="{547C9FFC-F221-4400-B149-1349A1C659D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71725" y="1809750"/>
              <a:ext cx="9134475" cy="4000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E3E9DD"/>
              </a:solidFill>
              <a:prstDash val="solid"/>
            </a:ln>
          </p:spPr>
        </p:sp>
        <p:sp>
          <p:nvSpPr>
            <p:cNvPr id="22" name="p10-text-259">
              <a:extLst xmlns:a="http://schemas.openxmlformats.org/drawingml/2006/main">
                <a:ext uri="{FF2B5EF4-FFF2-40B4-BE49-F238E27FC236}">
                  <a16:creationId xmlns:a16="http://schemas.microsoft.com/office/drawing/2014/main" id="{E5D7F839-0340-4374-A228-4C1EE6A4440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552700" y="1924050"/>
              <a:ext cx="6591300" cy="18859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12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12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12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12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12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12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12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12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12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12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12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12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rPr>
                <a:t>我的卖货空间  &gt;  可以发布的图文</a:t>
              </a:r>
            </a:p>
          </p:txBody>
        </p:sp>
        <p:sp>
          <p:nvSpPr>
            <p:cNvPr id="23" name="p10-text-260">
              <a:extLst xmlns:a="http://schemas.openxmlformats.org/drawingml/2006/main">
                <a:ext uri="{FF2B5EF4-FFF2-40B4-BE49-F238E27FC236}">
                  <a16:creationId xmlns:a16="http://schemas.microsoft.com/office/drawing/2014/main" id="{5899A4EF-3412-404C-AE6B-C5754641571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201275" y="1924050"/>
              <a:ext cx="1114425" cy="18859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r">
                <a:defRPr sz="112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r">
                <a:defRPr sz="112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r">
                <a:defRPr sz="112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r">
                <a:defRPr sz="112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r">
                <a:defRPr sz="112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r">
                <a:defRPr sz="112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r">
                <a:defRPr sz="112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r">
                <a:defRPr sz="112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r">
                <a:defRPr sz="112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r">
                <a:defRPr sz="112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r">
                <a:defRPr sz="112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12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rPr>
                <a:t>本地体验版</a:t>
              </a:r>
            </a:p>
          </p:txBody>
        </p:sp>
        <p:sp>
          <p:nvSpPr>
            <p:cNvPr id="24" name="p10-text-261">
              <a:extLst xmlns:a="http://schemas.openxmlformats.org/drawingml/2006/main">
                <a:ext uri="{FF2B5EF4-FFF2-40B4-BE49-F238E27FC236}">
                  <a16:creationId xmlns:a16="http://schemas.microsoft.com/office/drawing/2014/main" id="{95B94DB0-8433-4802-8921-7586838279E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543175" y="2352675"/>
              <a:ext cx="8772525" cy="32689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9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9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9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9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9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9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9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9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9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9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9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9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客户咨询 / 模拟客服</a:t>
              </a:r>
            </a:p>
          </p:txBody>
        </p:sp>
        <p:sp>
          <p:nvSpPr>
            <p:cNvPr id="25" name="p10-rect-262">
              <a:extLst xmlns:a="http://schemas.openxmlformats.org/drawingml/2006/main">
                <a:ext uri="{FF2B5EF4-FFF2-40B4-BE49-F238E27FC236}">
                  <a16:creationId xmlns:a16="http://schemas.microsoft.com/office/drawing/2014/main" id="{5A20B6D7-66FD-4D30-8E8B-F19508B55BF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543175" y="2762250"/>
              <a:ext cx="3295650" cy="26289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4E9"/>
            </a:solidFill>
            <a:ln xmlns:a="http://schemas.openxmlformats.org/drawingml/2006/main" w="9525">
              <a:solidFill>
                <a:srgbClr val="E3E9DD"/>
              </a:solidFill>
              <a:prstDash val="solid"/>
            </a:ln>
          </p:spPr>
        </p:sp>
        <p:sp>
          <p:nvSpPr>
            <p:cNvPr id="26" name="p10-text-263">
              <a:extLst xmlns:a="http://schemas.openxmlformats.org/drawingml/2006/main">
                <a:ext uri="{FF2B5EF4-FFF2-40B4-BE49-F238E27FC236}">
                  <a16:creationId xmlns:a16="http://schemas.microsoft.com/office/drawing/2014/main" id="{AFEC4C71-4FCB-4982-93F0-A30A61DAFE0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95575" y="2924175"/>
              <a:ext cx="2990850" cy="30175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8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8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8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8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8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8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8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8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8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8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8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这次回复依据</a:t>
              </a:r>
            </a:p>
          </p:txBody>
        </p:sp>
        <p:sp>
          <p:nvSpPr>
            <p:cNvPr id="27" name="p10-text-264">
              <a:extLst xmlns:a="http://schemas.openxmlformats.org/drawingml/2006/main">
                <a:ext uri="{FF2B5EF4-FFF2-40B4-BE49-F238E27FC236}">
                  <a16:creationId xmlns:a16="http://schemas.microsoft.com/office/drawing/2014/main" id="{C1EB3611-0B11-453A-918F-5A4908B2B7C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95575" y="3390900"/>
              <a:ext cx="2990850" cy="30175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00" b="0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800" b="0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800" b="0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800" b="0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800" b="0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800" b="0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800" b="0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800" b="0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800" b="0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800" b="0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800" b="0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800" b="0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rPr>
                <a:t>贡柑家庭装</a:t>
              </a:r>
            </a:p>
          </p:txBody>
        </p:sp>
        <p:sp>
          <p:nvSpPr>
            <p:cNvPr id="28" name="p10-text-265">
              <a:extLst xmlns:a="http://schemas.openxmlformats.org/drawingml/2006/main">
                <a:ext uri="{FF2B5EF4-FFF2-40B4-BE49-F238E27FC236}">
                  <a16:creationId xmlns:a16="http://schemas.microsoft.com/office/drawing/2014/main" id="{D1C6DEB9-3EB5-4F73-B472-FC217AF8DA5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95575" y="3745230"/>
              <a:ext cx="2990850" cy="30175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00" b="0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800" b="0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800" b="0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800" b="0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800" b="0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800" b="0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800" b="0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800" b="0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800" b="0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800" b="0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800" b="0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800" b="0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rPr>
                <a:t>3 kg / 盒 · ¥59</a:t>
              </a:r>
            </a:p>
          </p:txBody>
        </p:sp>
        <p:sp>
          <p:nvSpPr>
            <p:cNvPr id="29" name="p10-text-266">
              <a:extLst xmlns:a="http://schemas.openxmlformats.org/drawingml/2006/main">
                <a:ext uri="{FF2B5EF4-FFF2-40B4-BE49-F238E27FC236}">
                  <a16:creationId xmlns:a16="http://schemas.microsoft.com/office/drawing/2014/main" id="{1167C695-9CC0-4FB5-8DA9-7E32372CD80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95575" y="4099560"/>
              <a:ext cx="2990850" cy="30175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00" b="0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800" b="0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800" b="0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800" b="0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800" b="0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800" b="0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800" b="0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800" b="0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800" b="0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800" b="0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800" b="0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800" b="0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rPr>
                <a:t>肇庆本地约定自提</a:t>
              </a:r>
            </a:p>
          </p:txBody>
        </p:sp>
        <p:sp>
          <p:nvSpPr>
            <p:cNvPr id="30" name="p10-text-267">
              <a:extLst xmlns:a="http://schemas.openxmlformats.org/drawingml/2006/main">
                <a:ext uri="{FF2B5EF4-FFF2-40B4-BE49-F238E27FC236}">
                  <a16:creationId xmlns:a16="http://schemas.microsoft.com/office/drawing/2014/main" id="{F056A6FB-BD8E-4F36-A8C9-D6C5DFDA3C7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95575" y="4453890"/>
              <a:ext cx="2990850" cy="30175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00" b="0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800" b="0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800" b="0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800" b="0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800" b="0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800" b="0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800" b="0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800" b="0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800" b="0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800" b="0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800" b="0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800" b="0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rPr>
                <a:t>暂不提供配送</a:t>
              </a:r>
            </a:p>
          </p:txBody>
        </p:sp>
        <p:sp>
          <p:nvSpPr>
            <p:cNvPr id="31" name="p10-text-268">
              <a:extLst xmlns:a="http://schemas.openxmlformats.org/drawingml/2006/main">
                <a:ext uri="{FF2B5EF4-FFF2-40B4-BE49-F238E27FC236}">
                  <a16:creationId xmlns:a16="http://schemas.microsoft.com/office/drawing/2014/main" id="{95DB0951-81A7-4A2B-977C-559DA759D0E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95575" y="5057775"/>
              <a:ext cx="2990850" cy="21374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75" b="0">
                  <a:solidFill>
                    <a:srgbClr val="7D8B79"/>
                  </a:solidFill>
                  <a:latin typeface="Arial Unicode MS"/>
                  <a:ea typeface="Arial Unicode MS"/>
                  <a:cs typeface="Arial Unicode MS"/>
                </a:rPr>
                <a:t>不是自动接单或自动发送</a:t>
              </a:r>
            </a:p>
          </p:txBody>
        </p:sp>
        <p:sp>
          <p:nvSpPr>
            <p:cNvPr id="32" name="p10-rect-269">
              <a:extLst xmlns:a="http://schemas.openxmlformats.org/drawingml/2006/main">
                <a:ext uri="{FF2B5EF4-FFF2-40B4-BE49-F238E27FC236}">
                  <a16:creationId xmlns:a16="http://schemas.microsoft.com/office/drawing/2014/main" id="{0298FDA9-161C-45ED-8108-3A76BA3E71A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38850" y="2762250"/>
              <a:ext cx="5276850" cy="26289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E3E9DD"/>
              </a:solidFill>
              <a:prstDash val="solid"/>
            </a:ln>
          </p:spPr>
        </p:sp>
        <p:sp>
          <p:nvSpPr>
            <p:cNvPr id="33" name="p10-text-270">
              <a:extLst xmlns:a="http://schemas.openxmlformats.org/drawingml/2006/main">
                <a:ext uri="{FF2B5EF4-FFF2-40B4-BE49-F238E27FC236}">
                  <a16:creationId xmlns:a16="http://schemas.microsoft.com/office/drawing/2014/main" id="{33B181DC-A566-4D00-82F8-69ECCBF1013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200775" y="2943225"/>
              <a:ext cx="4953000" cy="28917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725" b="1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725" b="1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725" b="1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725" b="1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725" b="1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725" b="1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725" b="1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725" b="1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725" b="1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725" b="1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725" b="1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725" b="1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rPr>
                <a:t>客户：59 元是一斤，还是一盒？</a:t>
              </a:r>
            </a:p>
          </p:txBody>
        </p:sp>
        <p:sp>
          <p:nvSpPr>
            <p:cNvPr id="34" name="p10-rect-271">
              <a:extLst xmlns:a="http://schemas.openxmlformats.org/drawingml/2006/main">
                <a:ext uri="{FF2B5EF4-FFF2-40B4-BE49-F238E27FC236}">
                  <a16:creationId xmlns:a16="http://schemas.microsoft.com/office/drawing/2014/main" id="{E88D828E-CDB9-4B5B-AC05-0D32916816C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200775" y="3343275"/>
              <a:ext cx="4953000" cy="6191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4E9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35" name="p10-text-272">
              <a:extLst xmlns:a="http://schemas.openxmlformats.org/drawingml/2006/main">
                <a:ext uri="{FF2B5EF4-FFF2-40B4-BE49-F238E27FC236}">
                  <a16:creationId xmlns:a16="http://schemas.microsoft.com/office/drawing/2014/main" id="{171D1572-130C-4162-BEC8-C8DB55A191C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315075" y="3438525"/>
              <a:ext cx="4724400" cy="27660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建议回复：一盒 3 公斤，59 元。</a:t>
              </a:r>
            </a:p>
          </p:txBody>
        </p:sp>
        <p:sp>
          <p:nvSpPr>
            <p:cNvPr id="36" name="p10-text-273">
              <a:extLst xmlns:a="http://schemas.openxmlformats.org/drawingml/2006/main">
                <a:ext uri="{FF2B5EF4-FFF2-40B4-BE49-F238E27FC236}">
                  <a16:creationId xmlns:a16="http://schemas.microsoft.com/office/drawing/2014/main" id="{47BF9587-76B0-4D1D-B533-B71C8BFE509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315075" y="3731895"/>
              <a:ext cx="4724400" cy="27660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自提没有运费。</a:t>
              </a:r>
            </a:p>
          </p:txBody>
        </p:sp>
        <p:sp>
          <p:nvSpPr>
            <p:cNvPr id="37" name="p10-text-274">
              <a:extLst xmlns:a="http://schemas.openxmlformats.org/drawingml/2006/main">
                <a:ext uri="{FF2B5EF4-FFF2-40B4-BE49-F238E27FC236}">
                  <a16:creationId xmlns:a16="http://schemas.microsoft.com/office/drawing/2014/main" id="{A013630F-98D8-4FEC-A4CA-7B7470F59AF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200775" y="4191000"/>
              <a:ext cx="4953000" cy="28917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725" b="1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725" b="1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725" b="1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725" b="1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725" b="1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725" b="1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725" b="1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725" b="1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725" b="1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725" b="1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725" b="1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725" b="1">
                  <a:solidFill>
                    <a:srgbClr val="294235"/>
                  </a:solidFill>
                  <a:latin typeface="Arial Unicode MS"/>
                  <a:ea typeface="Arial Unicode MS"/>
                  <a:cs typeface="Arial Unicode MS"/>
                </a:rPr>
                <a:t>客户：广州能寄吗？</a:t>
              </a:r>
            </a:p>
          </p:txBody>
        </p:sp>
        <p:sp>
          <p:nvSpPr>
            <p:cNvPr id="38" name="p10-text-275">
              <a:extLst xmlns:a="http://schemas.openxmlformats.org/drawingml/2006/main">
                <a:ext uri="{FF2B5EF4-FFF2-40B4-BE49-F238E27FC236}">
                  <a16:creationId xmlns:a16="http://schemas.microsoft.com/office/drawing/2014/main" id="{ABFA0036-393A-40CA-9EE0-577B37B247C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315075" y="4591050"/>
              <a:ext cx="4724400" cy="27660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这次只做肇庆本地约定自提。</a:t>
              </a:r>
            </a:p>
          </p:txBody>
        </p:sp>
        <p:sp>
          <p:nvSpPr>
            <p:cNvPr id="39" name="p10-text-276">
              <a:extLst xmlns:a="http://schemas.openxmlformats.org/drawingml/2006/main">
                <a:ext uri="{FF2B5EF4-FFF2-40B4-BE49-F238E27FC236}">
                  <a16:creationId xmlns:a16="http://schemas.microsoft.com/office/drawing/2014/main" id="{06170BB0-F724-413D-B202-47286EC8163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315075" y="4884420"/>
              <a:ext cx="4724400" cy="27660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650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先确认您是否方便来拿。</a:t>
              </a:r>
            </a:p>
          </p:txBody>
        </p:sp>
        <p:sp>
          <p:nvSpPr>
            <p:cNvPr id="40" name="p10-rect-277">
              <a:extLst xmlns:a="http://schemas.openxmlformats.org/drawingml/2006/main">
                <a:ext uri="{FF2B5EF4-FFF2-40B4-BE49-F238E27FC236}">
                  <a16:creationId xmlns:a16="http://schemas.microsoft.com/office/drawing/2014/main" id="{5DB8D093-B389-41DF-B23B-5C4164ED3B8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029700" y="5467350"/>
              <a:ext cx="2286000" cy="2857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245B42"/>
            </a:solidFill>
            <a:ln xmlns:a="http://schemas.openxmlformats.org/drawingml/2006/main" w="9525">
              <a:solidFill>
                <a:srgbClr val="245B42"/>
              </a:solidFill>
              <a:prstDash val="solid"/>
            </a:ln>
          </p:spPr>
        </p:sp>
        <p:sp>
          <p:nvSpPr>
            <p:cNvPr id="41" name="p10-text-278">
              <a:extLst xmlns:a="http://schemas.openxmlformats.org/drawingml/2006/main">
                <a:ext uri="{FF2B5EF4-FFF2-40B4-BE49-F238E27FC236}">
                  <a16:creationId xmlns:a16="http://schemas.microsoft.com/office/drawing/2014/main" id="{8F35FABB-C93C-44A6-B236-DF662688926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24950" y="5534025"/>
              <a:ext cx="2095500" cy="21374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275" b="1">
                  <a:solidFill>
                    <a:srgbClr val="FFFFFF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ctr">
                <a:defRPr sz="1275" b="1">
                  <a:solidFill>
                    <a:srgbClr val="FFFFFF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ctr">
                <a:defRPr sz="1275" b="1">
                  <a:solidFill>
                    <a:srgbClr val="FFFFFF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ctr">
                <a:defRPr sz="1275" b="1">
                  <a:solidFill>
                    <a:srgbClr val="FFFFFF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ctr">
                <a:defRPr sz="1275" b="1">
                  <a:solidFill>
                    <a:srgbClr val="FFFFFF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ctr">
                <a:defRPr sz="1275" b="1">
                  <a:solidFill>
                    <a:srgbClr val="FFFFFF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ctr">
                <a:defRPr sz="1275" b="1">
                  <a:solidFill>
                    <a:srgbClr val="FFFFFF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ctr">
                <a:defRPr sz="1275" b="1">
                  <a:solidFill>
                    <a:srgbClr val="FFFFFF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ctr">
                <a:defRPr sz="1275" b="1">
                  <a:solidFill>
                    <a:srgbClr val="FFFFFF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ctr">
                <a:defRPr sz="1275" b="1">
                  <a:solidFill>
                    <a:srgbClr val="FFFFFF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ctr">
                <a:defRPr sz="1275" b="1">
                  <a:solidFill>
                    <a:srgbClr val="FFFFFF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75" b="1">
                  <a:solidFill>
                    <a:srgbClr val="FFFFFF"/>
                  </a:solidFill>
                  <a:latin typeface="Arial Unicode MS"/>
                  <a:ea typeface="Arial Unicode MS"/>
                  <a:cs typeface="Arial Unicode MS"/>
                </a:rPr>
                <a:t>编辑并复制回复</a:t>
              </a:r>
            </a:p>
          </p:txBody>
        </p:sp>
      </p:grpSp>
      <p:sp>
        <p:nvSpPr>
          <p:cNvPr id="42" name="p10-text-279">
            <a:extLst xmlns:a="http://schemas.openxmlformats.org/drawingml/2006/main">
              <a:ext uri="{FF2B5EF4-FFF2-40B4-BE49-F238E27FC236}">
                <a16:creationId xmlns:a16="http://schemas.microsoft.com/office/drawing/2014/main" id="{D924CE42-4294-4842-9D48-D07FE57F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10782300" cy="301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5B42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00" b="0">
                <a:solidFill>
                  <a:srgbClr val="245B42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00" b="0">
                <a:solidFill>
                  <a:srgbClr val="245B42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00" b="0">
                <a:solidFill>
                  <a:srgbClr val="245B42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00" b="0">
                <a:solidFill>
                  <a:srgbClr val="245B42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00" b="0">
                <a:solidFill>
                  <a:srgbClr val="245B42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00" b="0">
                <a:solidFill>
                  <a:srgbClr val="245B42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00" b="0">
                <a:solidFill>
                  <a:srgbClr val="245B42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00" b="0">
                <a:solidFill>
                  <a:srgbClr val="245B42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00" b="0">
                <a:solidFill>
                  <a:srgbClr val="245B4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5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45B42"/>
                </a:solidFill>
                <a:latin typeface="Arial Unicode MS"/>
                <a:ea typeface="Arial Unicode MS"/>
                <a:cs typeface="Arial Unicode MS"/>
              </a:rPr>
              <a:t>客户问两盒明天下午能拿吗？先确认数量、地点和时间，再约定。</a:t>
            </a:r>
          </a:p>
        </p:txBody>
      </p:sp>
    </p:spTree>
    <p:extLst>
      <p:ext uri="{BB962C8B-B14F-4D97-AF65-F5344CB8AC3E}">
        <p14:creationId xmlns:p14="http://schemas.microsoft.com/office/powerpoint/2010/main" val="9528949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31" name="模板 / 页眉页脚"/>
          <p:cNvGrpSpPr/>
          <p:nvPr/>
        </p:nvGrpSpPr>
        <p:grpSpPr>
          <ns1:xfrm xmlns:ns1="http://schemas.openxmlformats.org/drawingml/2006/main">
            <ns1:off x="685800" y="371475"/>
            <ns1:ext cx="10820400" cy="6334887"/>
            <ns1:chOff x="685800" y="371475"/>
            <ns1:chExt cx="10820400" cy="6334887"/>
          </ns1:xfrm>
        </p:grpSpPr>
        <p:sp>
          <p:nvSpPr>
            <p:cNvPr id="30" name="p11-rect-280">
              <a:extLst xmlns:a="http://schemas.openxmlformats.org/drawingml/2006/main">
                <a:ext uri="{FF2B5EF4-FFF2-40B4-BE49-F238E27FC236}">
                  <a16:creationId xmlns:a16="http://schemas.microsoft.com/office/drawing/2014/main" id="{AAEFA971-1ACF-4867-A703-3B7434A6426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371475"/>
              <a:ext cx="66675" cy="2190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245B42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" name="p11-text-281">
              <a:extLst xmlns:a="http://schemas.openxmlformats.org/drawingml/2006/main">
                <a:ext uri="{FF2B5EF4-FFF2-40B4-BE49-F238E27FC236}">
                  <a16:creationId xmlns:a16="http://schemas.microsoft.com/office/drawing/2014/main" id="{AD1E5EDF-EE5D-48CF-93AF-FC9C4E64352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85825" y="390525"/>
              <a:ext cx="8239125" cy="20116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10 / 内容与商品一致</a:t>
              </a:r>
            </a:p>
          </p:txBody>
        </p:sp>
        <p:sp>
          <p:nvSpPr>
            <p:cNvPr id="3" name="p11-text-282">
              <a:extLst xmlns:a="http://schemas.openxmlformats.org/drawingml/2006/main">
                <a:ext uri="{FF2B5EF4-FFF2-40B4-BE49-F238E27FC236}">
                  <a16:creationId xmlns:a16="http://schemas.microsoft.com/office/drawing/2014/main" id="{983E83A6-39E4-478F-9938-97F65B1059D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82200" y="381000"/>
              <a:ext cx="1524000" cy="21374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乡创引擎</a:t>
              </a:r>
            </a:p>
          </p:txBody>
        </p:sp>
        <p:sp>
          <p:nvSpPr>
            <p:cNvPr id="4" name="p11-rect-283">
              <a:extLst xmlns:a="http://schemas.openxmlformats.org/drawingml/2006/main">
                <a:ext uri="{FF2B5EF4-FFF2-40B4-BE49-F238E27FC236}">
                  <a16:creationId xmlns:a16="http://schemas.microsoft.com/office/drawing/2014/main" id="{6293C3E4-E513-41D6-9A42-5859EF5353C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6381750"/>
              <a:ext cx="10820400" cy="9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DDCC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5" name="p11-text-284">
              <a:extLst xmlns:a="http://schemas.openxmlformats.org/drawingml/2006/main">
                <a:ext uri="{FF2B5EF4-FFF2-40B4-BE49-F238E27FC236}">
                  <a16:creationId xmlns:a16="http://schemas.microsoft.com/office/drawing/2014/main" id="{A9C5A29C-B298-4DB6-83C2-80727B36E6B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6505575"/>
              <a:ext cx="9429750" cy="16973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农户身边的 AI 卖货助手</a:t>
              </a:r>
            </a:p>
          </p:txBody>
        </p:sp>
        <p:sp>
          <p:nvSpPr>
            <p:cNvPr id="6" name="p11-text-285">
              <a:extLst xmlns:a="http://schemas.openxmlformats.org/drawingml/2006/main">
                <a:ext uri="{FF2B5EF4-FFF2-40B4-BE49-F238E27FC236}">
                  <a16:creationId xmlns:a16="http://schemas.microsoft.com/office/drawing/2014/main" id="{A0A28CC5-244A-44BA-8B24-8FD98E6FDC8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029950" y="6467475"/>
              <a:ext cx="476250" cy="23888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11</a:t>
              </a:r>
            </a:p>
          </p:txBody>
        </p:sp>
      </p:grpSp>
      <p:grpSp>
        <p:nvGrpSpPr>
          <p:cNvPr id="32" name="页面标题"/>
          <p:cNvGrpSpPr/>
          <p:nvPr/>
        </p:nvGrpSpPr>
        <p:grpSpPr>
          <ns1:xfrm xmlns:ns1="http://schemas.openxmlformats.org/drawingml/2006/main">
            <ns1:off x="685800" y="866775"/>
            <ns1:ext cx="10820400" cy="817055"/>
            <ns1:chOff x="685800" y="866775"/>
            <ns1:chExt cx="10820400" cy="817055"/>
          </ns1:xfrm>
        </p:grpSpPr>
        <p:sp>
          <p:nvSpPr>
            <p:cNvPr id="7" name="p11-text-286">
              <a:extLst xmlns:a="http://schemas.openxmlformats.org/drawingml/2006/main">
                <a:ext uri="{FF2B5EF4-FFF2-40B4-BE49-F238E27FC236}">
                  <a16:creationId xmlns:a16="http://schemas.microsoft.com/office/drawing/2014/main" id="{84F73DCC-3CF1-45B5-996E-A7D594E022C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866775"/>
              <a:ext cx="10820400" cy="55321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宣传有感染力，价格和承诺也要准确</a:t>
              </a:r>
            </a:p>
          </p:txBody>
        </p:sp>
        <p:sp>
          <p:nvSpPr>
            <p:cNvPr id="8" name="p11-text-287">
              <a:extLst xmlns:a="http://schemas.openxmlformats.org/drawingml/2006/main">
                <a:ext uri="{FF2B5EF4-FFF2-40B4-BE49-F238E27FC236}">
                  <a16:creationId xmlns:a16="http://schemas.microsoft.com/office/drawing/2014/main" id="{19FEA969-9C8B-4B1C-957D-688AD485208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5325" y="1476375"/>
              <a:ext cx="10801350" cy="20745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修改商品后，先更新素材；规则提示问题，再由本人修正</a:t>
              </a:r>
            </a:p>
          </p:txBody>
        </p:sp>
      </p:grpSp>
      <p:grpSp>
        <p:nvGrpSpPr>
          <p:cNvPr id="33" name="商品档案"/>
          <p:cNvGrpSpPr/>
          <p:nvPr/>
        </p:nvGrpSpPr>
        <p:grpSpPr>
          <ns1:xfrm xmlns:ns1="http://schemas.openxmlformats.org/drawingml/2006/main">
            <ns1:off x="723900" y="2257425"/>
            <ns1:ext cx="3162300" cy="2971800"/>
            <ns1:chOff x="723900" y="2257425"/>
            <ns1:chExt cx="3162300" cy="2971800"/>
          </ns1:xfrm>
        </p:grpSpPr>
        <p:sp>
          <p:nvSpPr>
            <p:cNvPr id="9" name="p11-rect-288">
              <a:extLst xmlns:a="http://schemas.openxmlformats.org/drawingml/2006/main">
                <a:ext uri="{FF2B5EF4-FFF2-40B4-BE49-F238E27FC236}">
                  <a16:creationId xmlns:a16="http://schemas.microsoft.com/office/drawing/2014/main" id="{5871AC45-3A56-4FC3-888C-A882FCCA493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2257425"/>
              <a:ext cx="3162300" cy="29718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245B42"/>
            </a:solidFill>
            <a:ln xmlns:a="http://schemas.openxmlformats.org/drawingml/2006/main" w="9525">
              <a:solidFill>
                <a:srgbClr val="D6DDCC"/>
              </a:solidFill>
              <a:prstDash val="solid"/>
            </a:ln>
          </p:spPr>
        </p:sp>
        <p:sp>
          <p:nvSpPr>
            <p:cNvPr id="10" name="p11-text-289">
              <a:extLst xmlns:a="http://schemas.openxmlformats.org/drawingml/2006/main">
                <a:ext uri="{FF2B5EF4-FFF2-40B4-BE49-F238E27FC236}">
                  <a16:creationId xmlns:a16="http://schemas.microsoft.com/office/drawing/2014/main" id="{B96B6931-DEE5-4533-B5DC-30D91EFC9CD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2500" y="2486025"/>
              <a:ext cx="2705100" cy="35204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1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1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1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1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1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1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1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1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1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1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1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rPr>
                <a:t>商品档案</a:t>
              </a:r>
            </a:p>
          </p:txBody>
        </p:sp>
        <p:sp>
          <p:nvSpPr>
            <p:cNvPr id="11" name="p11-text-290">
              <a:extLst xmlns:a="http://schemas.openxmlformats.org/drawingml/2006/main">
                <a:ext uri="{FF2B5EF4-FFF2-40B4-BE49-F238E27FC236}">
                  <a16:creationId xmlns:a16="http://schemas.microsoft.com/office/drawing/2014/main" id="{287013BD-51CD-49BA-84A7-E803BEDD935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2500" y="3086100"/>
              <a:ext cx="2705100" cy="82981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495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495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495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495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495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495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495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495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495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495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495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495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rPr>
                <a:t>¥59</a:t>
              </a:r>
            </a:p>
          </p:txBody>
        </p:sp>
        <p:sp>
          <p:nvSpPr>
            <p:cNvPr id="12" name="p11-text-291">
              <a:extLst xmlns:a="http://schemas.openxmlformats.org/drawingml/2006/main">
                <a:ext uri="{FF2B5EF4-FFF2-40B4-BE49-F238E27FC236}">
                  <a16:creationId xmlns:a16="http://schemas.microsoft.com/office/drawing/2014/main" id="{2303A81C-0518-4955-96E0-6D33260CCBD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2500" y="4200525"/>
              <a:ext cx="2705100" cy="28917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725" b="0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725" b="0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725" b="0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725" b="0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725" b="0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725" b="0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725" b="0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725" b="0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725" b="0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725" b="0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725" b="0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725" b="0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rPr>
                <a:t>贡柑家庭装</a:t>
              </a:r>
            </a:p>
          </p:txBody>
        </p:sp>
        <p:sp>
          <p:nvSpPr>
            <p:cNvPr id="13" name="p11-text-292">
              <a:extLst xmlns:a="http://schemas.openxmlformats.org/drawingml/2006/main">
                <a:ext uri="{FF2B5EF4-FFF2-40B4-BE49-F238E27FC236}">
                  <a16:creationId xmlns:a16="http://schemas.microsoft.com/office/drawing/2014/main" id="{A15E0CC4-999A-4890-A968-92602D86868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2500" y="4551045"/>
              <a:ext cx="2705100" cy="28917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725" b="0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725" b="0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725" b="0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725" b="0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725" b="0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725" b="0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725" b="0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725" b="0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725" b="0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725" b="0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725" b="0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725" b="0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rPr>
                <a:t>3 kg / 盒</a:t>
              </a:r>
            </a:p>
          </p:txBody>
        </p:sp>
      </p:grpSp>
      <p:grpSp>
        <p:nvGrpSpPr>
          <p:cNvPr id="34" name="文案误写"/>
          <p:cNvGrpSpPr/>
          <p:nvPr/>
        </p:nvGrpSpPr>
        <p:grpSpPr>
          <ns1:xfrm xmlns:ns1="http://schemas.openxmlformats.org/drawingml/2006/main">
            <ns1:off x="4533900" y="2257425"/>
            <ns1:ext cx="3162300" cy="2971800"/>
            <ns1:chOff x="4533900" y="2257425"/>
            <ns1:chExt cx="3162300" cy="2971800"/>
          </ns1:xfrm>
        </p:grpSpPr>
        <p:sp>
          <p:nvSpPr>
            <p:cNvPr id="14" name="p11-rect-293">
              <a:extLst xmlns:a="http://schemas.openxmlformats.org/drawingml/2006/main">
                <a:ext uri="{FF2B5EF4-FFF2-40B4-BE49-F238E27FC236}">
                  <a16:creationId xmlns:a16="http://schemas.microsoft.com/office/drawing/2014/main" id="{87814B4A-45A1-406D-AB06-ACC30104611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33900" y="2257425"/>
              <a:ext cx="3162300" cy="29718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0DC"/>
            </a:solidFill>
            <a:ln xmlns:a="http://schemas.openxmlformats.org/drawingml/2006/main" w="9525">
              <a:solidFill>
                <a:srgbClr val="D6DDCC"/>
              </a:solidFill>
              <a:prstDash val="solid"/>
            </a:ln>
          </p:spPr>
        </p:sp>
        <p:sp>
          <p:nvSpPr>
            <p:cNvPr id="15" name="p11-text-294">
              <a:extLst xmlns:a="http://schemas.openxmlformats.org/drawingml/2006/main">
                <a:ext uri="{FF2B5EF4-FFF2-40B4-BE49-F238E27FC236}">
                  <a16:creationId xmlns:a16="http://schemas.microsoft.com/office/drawing/2014/main" id="{9E6F0423-E9CB-407D-8CEE-E591C2D7A3E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62500" y="2486025"/>
              <a:ext cx="2705100" cy="35204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00" b="1">
                  <a:solidFill>
                    <a:srgbClr val="AC5D38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100" b="1">
                  <a:solidFill>
                    <a:srgbClr val="AC5D38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100" b="1">
                  <a:solidFill>
                    <a:srgbClr val="AC5D38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100" b="1">
                  <a:solidFill>
                    <a:srgbClr val="AC5D38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100" b="1">
                  <a:solidFill>
                    <a:srgbClr val="AC5D38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100" b="1">
                  <a:solidFill>
                    <a:srgbClr val="AC5D38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100" b="1">
                  <a:solidFill>
                    <a:srgbClr val="AC5D38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100" b="1">
                  <a:solidFill>
                    <a:srgbClr val="AC5D38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100" b="1">
                  <a:solidFill>
                    <a:srgbClr val="AC5D38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100" b="1">
                  <a:solidFill>
                    <a:srgbClr val="AC5D38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100" b="1">
                  <a:solidFill>
                    <a:srgbClr val="AC5D38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100" b="1">
                  <a:solidFill>
                    <a:srgbClr val="AC5D38"/>
                  </a:solidFill>
                  <a:latin typeface="Arial Unicode MS"/>
                  <a:ea typeface="Arial Unicode MS"/>
                  <a:cs typeface="Arial Unicode MS"/>
                </a:rPr>
                <a:t>文案误写</a:t>
              </a:r>
            </a:p>
          </p:txBody>
        </p:sp>
        <p:sp>
          <p:nvSpPr>
            <p:cNvPr id="16" name="p11-text-295">
              <a:extLst xmlns:a="http://schemas.openxmlformats.org/drawingml/2006/main">
                <a:ext uri="{FF2B5EF4-FFF2-40B4-BE49-F238E27FC236}">
                  <a16:creationId xmlns:a16="http://schemas.microsoft.com/office/drawing/2014/main" id="{B312F653-EA54-46AF-BEBE-D90DE2C501C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62500" y="3086100"/>
              <a:ext cx="2705100" cy="82981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4950" b="1">
                  <a:solidFill>
                    <a:srgbClr val="AC5D38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4950" b="1">
                  <a:solidFill>
                    <a:srgbClr val="AC5D38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4950" b="1">
                  <a:solidFill>
                    <a:srgbClr val="AC5D38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4950" b="1">
                  <a:solidFill>
                    <a:srgbClr val="AC5D38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4950" b="1">
                  <a:solidFill>
                    <a:srgbClr val="AC5D38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4950" b="1">
                  <a:solidFill>
                    <a:srgbClr val="AC5D38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4950" b="1">
                  <a:solidFill>
                    <a:srgbClr val="AC5D38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4950" b="1">
                  <a:solidFill>
                    <a:srgbClr val="AC5D38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4950" b="1">
                  <a:solidFill>
                    <a:srgbClr val="AC5D38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4950" b="1">
                  <a:solidFill>
                    <a:srgbClr val="AC5D38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4950" b="1">
                  <a:solidFill>
                    <a:srgbClr val="AC5D38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4950" b="1">
                  <a:solidFill>
                    <a:srgbClr val="AC5D38"/>
                  </a:solidFill>
                  <a:latin typeface="Arial Unicode MS"/>
                  <a:ea typeface="Arial Unicode MS"/>
                  <a:cs typeface="Arial Unicode MS"/>
                </a:rPr>
                <a:t>¥99</a:t>
              </a:r>
            </a:p>
          </p:txBody>
        </p:sp>
        <p:sp>
          <p:nvSpPr>
            <p:cNvPr id="17" name="p11-text-296">
              <a:extLst xmlns:a="http://schemas.openxmlformats.org/drawingml/2006/main">
                <a:ext uri="{FF2B5EF4-FFF2-40B4-BE49-F238E27FC236}">
                  <a16:creationId xmlns:a16="http://schemas.microsoft.com/office/drawing/2014/main" id="{2BA7D55E-D072-4292-821A-1A045EA6736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62500" y="4200525"/>
              <a:ext cx="2705100" cy="28917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725" b="0">
                  <a:solidFill>
                    <a:srgbClr val="AC5D38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725" b="0">
                  <a:solidFill>
                    <a:srgbClr val="AC5D38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725" b="0">
                  <a:solidFill>
                    <a:srgbClr val="AC5D38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725" b="0">
                  <a:solidFill>
                    <a:srgbClr val="AC5D38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725" b="0">
                  <a:solidFill>
                    <a:srgbClr val="AC5D38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725" b="0">
                  <a:solidFill>
                    <a:srgbClr val="AC5D38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725" b="0">
                  <a:solidFill>
                    <a:srgbClr val="AC5D38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725" b="0">
                  <a:solidFill>
                    <a:srgbClr val="AC5D38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725" b="0">
                  <a:solidFill>
                    <a:srgbClr val="AC5D38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725" b="0">
                  <a:solidFill>
                    <a:srgbClr val="AC5D38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725" b="0">
                  <a:solidFill>
                    <a:srgbClr val="AC5D38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725" b="0">
                  <a:solidFill>
                    <a:srgbClr val="AC5D38"/>
                  </a:solidFill>
                  <a:latin typeface="Arial Unicode MS"/>
                  <a:ea typeface="Arial Unicode MS"/>
                  <a:cs typeface="Arial Unicode MS"/>
                </a:rPr>
                <a:t>与当前商品价格不一致</a:t>
              </a:r>
            </a:p>
          </p:txBody>
        </p:sp>
        <p:sp>
          <p:nvSpPr>
            <p:cNvPr id="18" name="p11-text-297">
              <a:extLst xmlns:a="http://schemas.openxmlformats.org/drawingml/2006/main">
                <a:ext uri="{FF2B5EF4-FFF2-40B4-BE49-F238E27FC236}">
                  <a16:creationId xmlns:a16="http://schemas.microsoft.com/office/drawing/2014/main" id="{56CECCA6-57FA-4C19-9758-01848B7F96B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62500" y="4551045"/>
              <a:ext cx="2705100" cy="28917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725" b="0">
                  <a:solidFill>
                    <a:srgbClr val="AC5D38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725" b="0">
                  <a:solidFill>
                    <a:srgbClr val="AC5D38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725" b="0">
                  <a:solidFill>
                    <a:srgbClr val="AC5D38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725" b="0">
                  <a:solidFill>
                    <a:srgbClr val="AC5D38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725" b="0">
                  <a:solidFill>
                    <a:srgbClr val="AC5D38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725" b="0">
                  <a:solidFill>
                    <a:srgbClr val="AC5D38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725" b="0">
                  <a:solidFill>
                    <a:srgbClr val="AC5D38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725" b="0">
                  <a:solidFill>
                    <a:srgbClr val="AC5D38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725" b="0">
                  <a:solidFill>
                    <a:srgbClr val="AC5D38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725" b="0">
                  <a:solidFill>
                    <a:srgbClr val="AC5D38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725" b="0">
                  <a:solidFill>
                    <a:srgbClr val="AC5D38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725" b="0">
                  <a:solidFill>
                    <a:srgbClr val="AC5D38"/>
                  </a:solidFill>
                  <a:latin typeface="Arial Unicode MS"/>
                  <a:ea typeface="Arial Unicode MS"/>
                  <a:cs typeface="Arial Unicode MS"/>
                </a:rPr>
                <a:t>规则提示待修改</a:t>
              </a:r>
            </a:p>
          </p:txBody>
        </p:sp>
      </p:grpSp>
      <p:grpSp>
        <p:nvGrpSpPr>
          <p:cNvPr id="35" name="人工改回"/>
          <p:cNvGrpSpPr/>
          <p:nvPr/>
        </p:nvGrpSpPr>
        <p:grpSpPr>
          <ns1:xfrm xmlns:ns1="http://schemas.openxmlformats.org/drawingml/2006/main">
            <ns1:off x="8343900" y="2257425"/>
            <ns1:ext cx="3162300" cy="2971800"/>
            <ns1:chOff x="8343900" y="2257425"/>
            <ns1:chExt cx="3162300" cy="2971800"/>
          </ns1:xfrm>
        </p:grpSpPr>
        <p:sp>
          <p:nvSpPr>
            <p:cNvPr id="19" name="p11-rect-298">
              <a:extLst xmlns:a="http://schemas.openxmlformats.org/drawingml/2006/main">
                <a:ext uri="{FF2B5EF4-FFF2-40B4-BE49-F238E27FC236}">
                  <a16:creationId xmlns:a16="http://schemas.microsoft.com/office/drawing/2014/main" id="{0A7F24A4-EA0F-4AAF-86AC-0932EDCD844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343900" y="2257425"/>
              <a:ext cx="3162300" cy="29718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EFA"/>
            </a:solidFill>
            <a:ln xmlns:a="http://schemas.openxmlformats.org/drawingml/2006/main" w="9525">
              <a:solidFill>
                <a:srgbClr val="D6DDCC"/>
              </a:solidFill>
              <a:prstDash val="solid"/>
            </a:ln>
          </p:spPr>
        </p:sp>
        <p:sp>
          <p:nvSpPr>
            <p:cNvPr id="20" name="p11-text-299">
              <a:extLst xmlns:a="http://schemas.openxmlformats.org/drawingml/2006/main">
                <a:ext uri="{FF2B5EF4-FFF2-40B4-BE49-F238E27FC236}">
                  <a16:creationId xmlns:a16="http://schemas.microsoft.com/office/drawing/2014/main" id="{706E2BDD-A232-4012-B1DC-B189C2D5CFA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72500" y="2486025"/>
              <a:ext cx="2705100" cy="35204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人工改回</a:t>
              </a:r>
            </a:p>
          </p:txBody>
        </p:sp>
        <p:sp>
          <p:nvSpPr>
            <p:cNvPr id="21" name="p11-text-300">
              <a:extLst xmlns:a="http://schemas.openxmlformats.org/drawingml/2006/main">
                <a:ext uri="{FF2B5EF4-FFF2-40B4-BE49-F238E27FC236}">
                  <a16:creationId xmlns:a16="http://schemas.microsoft.com/office/drawing/2014/main" id="{B14C641A-2B8C-48CE-A8E9-BF40CBD1B0C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72500" y="3086100"/>
              <a:ext cx="2705100" cy="82981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49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49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49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49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49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49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49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49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49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49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49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49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¥59</a:t>
              </a:r>
            </a:p>
          </p:txBody>
        </p:sp>
        <p:sp>
          <p:nvSpPr>
            <p:cNvPr id="22" name="p11-text-301">
              <a:extLst xmlns:a="http://schemas.openxmlformats.org/drawingml/2006/main">
                <a:ext uri="{FF2B5EF4-FFF2-40B4-BE49-F238E27FC236}">
                  <a16:creationId xmlns:a16="http://schemas.microsoft.com/office/drawing/2014/main" id="{762FFD0F-459B-4DB6-A07C-57F2E042F65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72500" y="4200525"/>
              <a:ext cx="2705100" cy="28917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725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725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725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725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725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725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725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725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725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725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725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725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重新运行检查</a:t>
              </a:r>
            </a:p>
          </p:txBody>
        </p:sp>
        <p:sp>
          <p:nvSpPr>
            <p:cNvPr id="23" name="p11-text-302">
              <a:extLst xmlns:a="http://schemas.openxmlformats.org/drawingml/2006/main">
                <a:ext uri="{FF2B5EF4-FFF2-40B4-BE49-F238E27FC236}">
                  <a16:creationId xmlns:a16="http://schemas.microsoft.com/office/drawing/2014/main" id="{F5C257B1-1034-444E-B96C-C415CFD6D5A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72500" y="4551045"/>
              <a:ext cx="2705100" cy="28917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725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725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725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725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725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725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725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725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725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725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725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725" b="0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核对后再发布</a:t>
              </a:r>
            </a:p>
          </p:txBody>
        </p:sp>
      </p:grpSp>
      <p:grpSp>
        <p:nvGrpSpPr>
          <p:cNvPr id="36" name="演示主体"/>
          <p:cNvGrpSpPr/>
          <p:nvPr/>
        </p:nvGrpSpPr>
        <p:grpSpPr>
          <ns1:xfrm xmlns:ns1="http://schemas.openxmlformats.org/drawingml/2006/main">
            <ns1:off x="723900" y="3476625"/>
            <ns1:ext cx="10782300" cy="2870835"/>
            <ns1:chOff x="723900" y="3476625"/>
            <ns1:chExt cx="10782300" cy="2870835"/>
          </ns1:xfrm>
        </p:grpSpPr>
        <p:sp>
          <p:nvSpPr>
            <p:cNvPr id="24" name="p11-rect-303">
              <a:extLst xmlns:a="http://schemas.openxmlformats.org/drawingml/2006/main">
                <a:ext uri="{FF2B5EF4-FFF2-40B4-BE49-F238E27FC236}">
                  <a16:creationId xmlns:a16="http://schemas.microsoft.com/office/drawing/2014/main" id="{73A352D6-F67A-4FBB-B000-F116337E3E1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19550" y="3543300"/>
              <a:ext cx="257175" cy="285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9A3D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5" name="p11-chevron-304">
              <a:extLst xmlns:a="http://schemas.openxmlformats.org/drawingml/2006/main">
                <a:ext uri="{FF2B5EF4-FFF2-40B4-BE49-F238E27FC236}">
                  <a16:creationId xmlns:a16="http://schemas.microsoft.com/office/drawing/2014/main" id="{E660C197-6405-4583-ADC0-F8C075F872D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48150" y="3476625"/>
              <a:ext cx="123825" cy="161925"/>
            </a:xfrm>
            <a:prstGeom xmlns:a="http://schemas.openxmlformats.org/drawingml/2006/main" prst="chevron">
              <a:avLst/>
            </a:prstGeom>
            <a:solidFill xmlns:a="http://schemas.openxmlformats.org/drawingml/2006/main">
              <a:srgbClr val="E59A3D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6" name="p11-rect-305">
              <a:extLst xmlns:a="http://schemas.openxmlformats.org/drawingml/2006/main">
                <a:ext uri="{FF2B5EF4-FFF2-40B4-BE49-F238E27FC236}">
                  <a16:creationId xmlns:a16="http://schemas.microsoft.com/office/drawing/2014/main" id="{4AAD0301-D5BA-42B8-8A31-1A1D1721900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29550" y="3543300"/>
              <a:ext cx="257175" cy="285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9A3D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7" name="p11-chevron-306">
              <a:extLst xmlns:a="http://schemas.openxmlformats.org/drawingml/2006/main">
                <a:ext uri="{FF2B5EF4-FFF2-40B4-BE49-F238E27FC236}">
                  <a16:creationId xmlns:a16="http://schemas.microsoft.com/office/drawing/2014/main" id="{6D4633AA-B33E-44CF-B35E-4D52BE64CA2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058150" y="3476625"/>
              <a:ext cx="123825" cy="161925"/>
            </a:xfrm>
            <a:prstGeom xmlns:a="http://schemas.openxmlformats.org/drawingml/2006/main" prst="chevron">
              <a:avLst/>
            </a:prstGeom>
            <a:solidFill xmlns:a="http://schemas.openxmlformats.org/drawingml/2006/main">
              <a:srgbClr val="E59A3D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8" name="p11-text-307">
              <a:extLst xmlns:a="http://schemas.openxmlformats.org/drawingml/2006/main">
                <a:ext uri="{FF2B5EF4-FFF2-40B4-BE49-F238E27FC236}">
                  <a16:creationId xmlns:a16="http://schemas.microsoft.com/office/drawing/2014/main" id="{DF7DFE3D-342C-4F90-B98B-771A9F2118D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5715000"/>
              <a:ext cx="10782300" cy="35204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宣传可以有感染力，重量、售价和交付承诺必须说准确。</a:t>
              </a:r>
            </a:p>
          </p:txBody>
        </p:sp>
        <p:sp>
          <p:nvSpPr>
            <p:cNvPr id="29" name="p11-text-308">
              <a:extLst xmlns:a="http://schemas.openxmlformats.org/drawingml/2006/main">
                <a:ext uri="{FF2B5EF4-FFF2-40B4-BE49-F238E27FC236}">
                  <a16:creationId xmlns:a16="http://schemas.microsoft.com/office/drawing/2014/main" id="{9850F565-8227-4588-B04E-4ED01AED806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6096000"/>
              <a:ext cx="10782300" cy="25146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5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5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5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5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5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5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5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5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5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5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5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50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规则检查只覆盖已配置项目；实物、认证与交付安排仍由农户确认。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143641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20" name="模板 / 页眉页脚"/>
          <p:cNvGrpSpPr/>
          <p:nvPr/>
        </p:nvGrpSpPr>
        <p:grpSpPr>
          <ns1:xfrm xmlns:ns1="http://schemas.openxmlformats.org/drawingml/2006/main">
            <ns1:off x="685800" y="371475"/>
            <ns1:ext cx="10820400" cy="6334887"/>
            <ns1:chOff x="685800" y="371475"/>
            <ns1:chExt cx="10820400" cy="6334887"/>
          </ns1:xfrm>
        </p:grpSpPr>
        <p:sp>
          <p:nvSpPr>
            <p:cNvPr id="19" name="p12-rect-309">
              <a:extLst xmlns:a="http://schemas.openxmlformats.org/drawingml/2006/main">
                <a:ext uri="{FF2B5EF4-FFF2-40B4-BE49-F238E27FC236}">
                  <a16:creationId xmlns:a16="http://schemas.microsoft.com/office/drawing/2014/main" id="{1F388D58-7312-4BA4-AB2C-3D292EBA2B0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371475"/>
              <a:ext cx="66675" cy="2190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245B42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" name="p12-text-310">
              <a:extLst xmlns:a="http://schemas.openxmlformats.org/drawingml/2006/main">
                <a:ext uri="{FF2B5EF4-FFF2-40B4-BE49-F238E27FC236}">
                  <a16:creationId xmlns:a16="http://schemas.microsoft.com/office/drawing/2014/main" id="{1DB848C3-7D73-43F2-8E05-E870B7B0FD7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85825" y="390525"/>
              <a:ext cx="8239125" cy="20116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11 / 合作社推广</a:t>
              </a:r>
            </a:p>
          </p:txBody>
        </p:sp>
        <p:sp>
          <p:nvSpPr>
            <p:cNvPr id="3" name="p12-text-311">
              <a:extLst xmlns:a="http://schemas.openxmlformats.org/drawingml/2006/main">
                <a:ext uri="{FF2B5EF4-FFF2-40B4-BE49-F238E27FC236}">
                  <a16:creationId xmlns:a16="http://schemas.microsoft.com/office/drawing/2014/main" id="{B219D13D-C9EE-4375-B228-844CD9CFAF4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82200" y="381000"/>
              <a:ext cx="1524000" cy="21374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乡创引擎</a:t>
              </a:r>
            </a:p>
          </p:txBody>
        </p:sp>
        <p:sp>
          <p:nvSpPr>
            <p:cNvPr id="4" name="p12-rect-312">
              <a:extLst xmlns:a="http://schemas.openxmlformats.org/drawingml/2006/main">
                <a:ext uri="{FF2B5EF4-FFF2-40B4-BE49-F238E27FC236}">
                  <a16:creationId xmlns:a16="http://schemas.microsoft.com/office/drawing/2014/main" id="{92106726-FCE2-4DF6-AB03-BA873928967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6381750"/>
              <a:ext cx="10820400" cy="9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DDCC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5" name="p12-text-313">
              <a:extLst xmlns:a="http://schemas.openxmlformats.org/drawingml/2006/main">
                <a:ext uri="{FF2B5EF4-FFF2-40B4-BE49-F238E27FC236}">
                  <a16:creationId xmlns:a16="http://schemas.microsoft.com/office/drawing/2014/main" id="{0975A766-474E-4A65-AE6B-45B0175999E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6505575"/>
              <a:ext cx="9429750" cy="16973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农户身边的 AI 卖货助手</a:t>
              </a:r>
            </a:p>
          </p:txBody>
        </p:sp>
        <p:sp>
          <p:nvSpPr>
            <p:cNvPr id="6" name="p12-text-314">
              <a:extLst xmlns:a="http://schemas.openxmlformats.org/drawingml/2006/main">
                <a:ext uri="{FF2B5EF4-FFF2-40B4-BE49-F238E27FC236}">
                  <a16:creationId xmlns:a16="http://schemas.microsoft.com/office/drawing/2014/main" id="{BC7A1700-5753-4D2D-B6A2-73F3625671F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029950" y="6467475"/>
              <a:ext cx="476250" cy="23888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12</a:t>
              </a:r>
            </a:p>
          </p:txBody>
        </p:sp>
      </p:grpSp>
      <p:grpSp>
        <p:nvGrpSpPr>
          <p:cNvPr id="21" name="页面标题"/>
          <p:cNvGrpSpPr/>
          <p:nvPr/>
        </p:nvGrpSpPr>
        <p:grpSpPr>
          <ns1:xfrm xmlns:ns1="http://schemas.openxmlformats.org/drawingml/2006/main">
            <ns1:off x="685800" y="866775"/>
            <ns1:ext cx="10820400" cy="817055"/>
            <ns1:chOff x="685800" y="866775"/>
            <ns1:chExt cx="10820400" cy="817055"/>
          </ns1:xfrm>
        </p:grpSpPr>
        <p:sp>
          <p:nvSpPr>
            <p:cNvPr id="7" name="p12-text-315">
              <a:extLst xmlns:a="http://schemas.openxmlformats.org/drawingml/2006/main">
                <a:ext uri="{FF2B5EF4-FFF2-40B4-BE49-F238E27FC236}">
                  <a16:creationId xmlns:a16="http://schemas.microsoft.com/office/drawing/2014/main" id="{A5C8D2B3-AF4A-4B92-8361-C7B92B5F785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866775"/>
              <a:ext cx="10820400" cy="55321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从合作社切入，把工具和辅导一起带给农户</a:t>
              </a:r>
            </a:p>
          </p:txBody>
        </p:sp>
        <p:sp>
          <p:nvSpPr>
            <p:cNvPr id="8" name="p12-text-316">
              <a:extLst xmlns:a="http://schemas.openxmlformats.org/drawingml/2006/main">
                <a:ext uri="{FF2B5EF4-FFF2-40B4-BE49-F238E27FC236}">
                  <a16:creationId xmlns:a16="http://schemas.microsoft.com/office/drawing/2014/main" id="{1946C373-0355-4E2E-900A-CFDE503874D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5325" y="1476375"/>
              <a:ext cx="10801350" cy="20745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服务与试点设计：先从组织者明确、能提供辅导的合作社切入</a:t>
              </a:r>
            </a:p>
          </p:txBody>
        </p:sp>
      </p:grpSp>
      <p:grpSp>
        <p:nvGrpSpPr>
          <p:cNvPr id="22" name="演示主体"/>
          <p:cNvGrpSpPr/>
          <p:nvPr/>
        </p:nvGrpSpPr>
        <p:grpSpPr>
          <ns1:xfrm xmlns:ns1="http://schemas.openxmlformats.org/drawingml/2006/main">
            <ns1:off x="723900" y="2105025"/>
            <ns1:ext cx="10782300" cy="3984879"/>
            <ns1:chOff x="723900" y="2105025"/>
            <ns1:chExt cx="10782300" cy="3984879"/>
          </ns1:xfrm>
        </p:grpSpPr>
        <p:sp>
          <p:nvSpPr>
            <p:cNvPr id="9" name="p12-text-317">
              <a:extLst xmlns:a="http://schemas.openxmlformats.org/drawingml/2006/main">
                <a:ext uri="{FF2B5EF4-FFF2-40B4-BE49-F238E27FC236}">
                  <a16:creationId xmlns:a16="http://schemas.microsoft.com/office/drawing/2014/main" id="{725B28CF-DB48-47EE-A891-70025812715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2105025"/>
              <a:ext cx="10782300" cy="28917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7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7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7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7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7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7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7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7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7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7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7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7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首轮试点目标</a:t>
              </a:r>
            </a:p>
          </p:txBody>
        </p:sp>
        <p:sp>
          <p:nvSpPr>
            <p:cNvPr id="10" name="p12-text-318">
              <a:extLst xmlns:a="http://schemas.openxmlformats.org/drawingml/2006/main">
                <a:ext uri="{FF2B5EF4-FFF2-40B4-BE49-F238E27FC236}">
                  <a16:creationId xmlns:a16="http://schemas.microsoft.com/office/drawing/2014/main" id="{FD6A2A5E-F61D-49B8-B3CE-06D08DF0310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2524125"/>
              <a:ext cx="10782300" cy="57835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34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34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34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34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34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34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34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34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34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34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34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345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1 家合作社，10 位农户</a:t>
              </a:r>
            </a:p>
          </p:txBody>
        </p:sp>
        <p:sp>
          <p:nvSpPr>
            <p:cNvPr id="11" name="p12-text-319">
              <a:extLst xmlns:a="http://schemas.openxmlformats.org/drawingml/2006/main">
                <a:ext uri="{FF2B5EF4-FFF2-40B4-BE49-F238E27FC236}">
                  <a16:creationId xmlns:a16="http://schemas.microsoft.com/office/drawing/2014/main" id="{DFD81760-FC2D-41D0-9A00-CA42751B22D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3486150"/>
              <a:ext cx="2381250" cy="36461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农户带产品</a:t>
              </a:r>
            </a:p>
          </p:txBody>
        </p:sp>
        <p:sp>
          <p:nvSpPr>
            <p:cNvPr id="12" name="p12-text-320">
              <a:extLst xmlns:a="http://schemas.openxmlformats.org/drawingml/2006/main">
                <a:ext uri="{FF2B5EF4-FFF2-40B4-BE49-F238E27FC236}">
                  <a16:creationId xmlns:a16="http://schemas.microsoft.com/office/drawing/2014/main" id="{29A5CD3D-4A38-4C0D-AE1F-2CE2954212F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86125" y="3486150"/>
              <a:ext cx="8220075" cy="33947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0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0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0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0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0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0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0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0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0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0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0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0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用自己的照片和资料，完成一次卖货准备。</a:t>
              </a:r>
            </a:p>
          </p:txBody>
        </p:sp>
        <p:sp>
          <p:nvSpPr>
            <p:cNvPr id="13" name="p12-text-321">
              <a:extLst xmlns:a="http://schemas.openxmlformats.org/drawingml/2006/main">
                <a:ext uri="{FF2B5EF4-FFF2-40B4-BE49-F238E27FC236}">
                  <a16:creationId xmlns:a16="http://schemas.microsoft.com/office/drawing/2014/main" id="{15E5C234-7103-42EA-B08A-8571132AE84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4200525"/>
              <a:ext cx="2381250" cy="36461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合作社做辅导</a:t>
              </a:r>
            </a:p>
          </p:txBody>
        </p:sp>
        <p:sp>
          <p:nvSpPr>
            <p:cNvPr id="14" name="p12-text-322">
              <a:extLst xmlns:a="http://schemas.openxmlformats.org/drawingml/2006/main">
                <a:ext uri="{FF2B5EF4-FFF2-40B4-BE49-F238E27FC236}">
                  <a16:creationId xmlns:a16="http://schemas.microsoft.com/office/drawing/2014/main" id="{95270B63-60B6-4943-9449-8F471A38907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86125" y="4200525"/>
              <a:ext cx="8220075" cy="33947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0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0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0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0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0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0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0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0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0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0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0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0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核对资料，组织培训，记录卡住的步骤。</a:t>
              </a:r>
            </a:p>
          </p:txBody>
        </p:sp>
        <p:sp>
          <p:nvSpPr>
            <p:cNvPr id="15" name="p12-text-323">
              <a:extLst xmlns:a="http://schemas.openxmlformats.org/drawingml/2006/main">
                <a:ext uri="{FF2B5EF4-FFF2-40B4-BE49-F238E27FC236}">
                  <a16:creationId xmlns:a16="http://schemas.microsoft.com/office/drawing/2014/main" id="{E49E916D-BF33-465E-B17E-5E75624659A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4914900"/>
              <a:ext cx="2381250" cy="36461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17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平台提供服务</a:t>
              </a:r>
            </a:p>
          </p:txBody>
        </p:sp>
        <p:sp>
          <p:nvSpPr>
            <p:cNvPr id="16" name="p12-text-324">
              <a:extLst xmlns:a="http://schemas.openxmlformats.org/drawingml/2006/main">
                <a:ext uri="{FF2B5EF4-FFF2-40B4-BE49-F238E27FC236}">
                  <a16:creationId xmlns:a16="http://schemas.microsoft.com/office/drawing/2014/main" id="{F104589E-2098-4142-BCF8-6C6C1B00916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86125" y="4914900"/>
              <a:ext cx="8220075" cy="33947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0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0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0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0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0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0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0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0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0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0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0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02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维护素材和流程，建设在线 Agent 与协作能力。</a:t>
              </a:r>
            </a:p>
          </p:txBody>
        </p:sp>
        <p:sp>
          <p:nvSpPr>
            <p:cNvPr id="17" name="p12-rect-325">
              <a:extLst xmlns:a="http://schemas.openxmlformats.org/drawingml/2006/main">
                <a:ext uri="{FF2B5EF4-FFF2-40B4-BE49-F238E27FC236}">
                  <a16:creationId xmlns:a16="http://schemas.microsoft.com/office/drawing/2014/main" id="{D8A858DC-5B6C-4FC4-A769-518990B67B0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5591175"/>
              <a:ext cx="10782300" cy="9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DDCC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18" name="p12-text-326">
              <a:extLst xmlns:a="http://schemas.openxmlformats.org/drawingml/2006/main">
                <a:ext uri="{FF2B5EF4-FFF2-40B4-BE49-F238E27FC236}">
                  <a16:creationId xmlns:a16="http://schemas.microsoft.com/office/drawing/2014/main" id="{D5F00776-A4F0-4446-9B7E-44821C0714F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5800725"/>
              <a:ext cx="10782300" cy="28917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7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7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7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7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7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7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7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7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7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7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7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7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拟验证：合作社订阅与培训；核算内容维护、人工审核和模型调用成本。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0337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27" name="模板 / 页眉页脚"/>
          <p:cNvGrpSpPr/>
          <p:nvPr/>
        </p:nvGrpSpPr>
        <p:grpSpPr>
          <ns1:xfrm xmlns:ns1="http://schemas.openxmlformats.org/drawingml/2006/main">
            <ns1:off x="685800" y="371475"/>
            <ns1:ext cx="10820400" cy="6334887"/>
            <ns1:chOff x="685800" y="371475"/>
            <ns1:chExt cx="10820400" cy="6334887"/>
          </ns1:xfrm>
        </p:grpSpPr>
        <p:sp>
          <p:nvSpPr>
            <p:cNvPr id="26" name="p13-rect-327">
              <a:extLst xmlns:a="http://schemas.openxmlformats.org/drawingml/2006/main">
                <a:ext uri="{FF2B5EF4-FFF2-40B4-BE49-F238E27FC236}">
                  <a16:creationId xmlns:a16="http://schemas.microsoft.com/office/drawing/2014/main" id="{04C0B26C-41A6-402E-945B-7493DADA8CF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371475"/>
              <a:ext cx="66675" cy="2190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245B42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" name="p13-text-328">
              <a:extLst xmlns:a="http://schemas.openxmlformats.org/drawingml/2006/main">
                <a:ext uri="{FF2B5EF4-FFF2-40B4-BE49-F238E27FC236}">
                  <a16:creationId xmlns:a16="http://schemas.microsoft.com/office/drawing/2014/main" id="{06AE6695-D00F-43D0-9C9F-DDAE26CD8B0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85825" y="390525"/>
              <a:ext cx="8239125" cy="20116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12 / 验证是否好用</a:t>
              </a:r>
            </a:p>
          </p:txBody>
        </p:sp>
        <p:sp>
          <p:nvSpPr>
            <p:cNvPr id="3" name="p13-text-329">
              <a:extLst xmlns:a="http://schemas.openxmlformats.org/drawingml/2006/main">
                <a:ext uri="{FF2B5EF4-FFF2-40B4-BE49-F238E27FC236}">
                  <a16:creationId xmlns:a16="http://schemas.microsoft.com/office/drawing/2014/main" id="{67071F8A-8C57-4139-99E3-C58AE117F2A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82200" y="381000"/>
              <a:ext cx="1524000" cy="21374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乡创引擎</a:t>
              </a:r>
            </a:p>
          </p:txBody>
        </p:sp>
        <p:sp>
          <p:nvSpPr>
            <p:cNvPr id="4" name="p13-rect-330">
              <a:extLst xmlns:a="http://schemas.openxmlformats.org/drawingml/2006/main">
                <a:ext uri="{FF2B5EF4-FFF2-40B4-BE49-F238E27FC236}">
                  <a16:creationId xmlns:a16="http://schemas.microsoft.com/office/drawing/2014/main" id="{C8556CEE-7C10-4BF7-907B-F0FFE633594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6381750"/>
              <a:ext cx="10820400" cy="9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DDCC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5" name="p13-text-331">
              <a:extLst xmlns:a="http://schemas.openxmlformats.org/drawingml/2006/main">
                <a:ext uri="{FF2B5EF4-FFF2-40B4-BE49-F238E27FC236}">
                  <a16:creationId xmlns:a16="http://schemas.microsoft.com/office/drawing/2014/main" id="{20F0CC34-E520-4423-890A-98ECD5C154D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6505575"/>
              <a:ext cx="9429750" cy="16973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农户身边的 AI 卖货助手</a:t>
              </a:r>
            </a:p>
          </p:txBody>
        </p:sp>
        <p:sp>
          <p:nvSpPr>
            <p:cNvPr id="6" name="p13-text-332">
              <a:extLst xmlns:a="http://schemas.openxmlformats.org/drawingml/2006/main">
                <a:ext uri="{FF2B5EF4-FFF2-40B4-BE49-F238E27FC236}">
                  <a16:creationId xmlns:a16="http://schemas.microsoft.com/office/drawing/2014/main" id="{98DE25F4-529F-4842-A418-CCCA5B1712B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029950" y="6467475"/>
              <a:ext cx="476250" cy="23888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13</a:t>
              </a:r>
            </a:p>
          </p:txBody>
        </p:sp>
      </p:grpSp>
      <p:grpSp>
        <p:nvGrpSpPr>
          <p:cNvPr id="28" name="页面标题"/>
          <p:cNvGrpSpPr/>
          <p:nvPr/>
        </p:nvGrpSpPr>
        <p:grpSpPr>
          <ns1:xfrm xmlns:ns1="http://schemas.openxmlformats.org/drawingml/2006/main">
            <ns1:off x="685800" y="866775"/>
            <ns1:ext cx="10820400" cy="817055"/>
            <ns1:chOff x="685800" y="866775"/>
            <ns1:chExt cx="10820400" cy="817055"/>
          </ns1:xfrm>
        </p:grpSpPr>
        <p:sp>
          <p:nvSpPr>
            <p:cNvPr id="7" name="p13-text-333">
              <a:extLst xmlns:a="http://schemas.openxmlformats.org/drawingml/2006/main">
                <a:ext uri="{FF2B5EF4-FFF2-40B4-BE49-F238E27FC236}">
                  <a16:creationId xmlns:a16="http://schemas.microsoft.com/office/drawing/2014/main" id="{2E460002-26FD-4289-B321-B1C97AEF931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866775"/>
              <a:ext cx="10820400" cy="55321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用一次真实任务，验证它到底好不好用</a:t>
              </a:r>
            </a:p>
          </p:txBody>
        </p:sp>
        <p:sp>
          <p:nvSpPr>
            <p:cNvPr id="8" name="p13-text-334">
              <a:extLst xmlns:a="http://schemas.openxmlformats.org/drawingml/2006/main">
                <a:ext uri="{FF2B5EF4-FFF2-40B4-BE49-F238E27FC236}">
                  <a16:creationId xmlns:a16="http://schemas.microsoft.com/office/drawing/2014/main" id="{86368165-5A3C-4CED-9809-AE6AD3454A4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5325" y="1476375"/>
              <a:ext cx="10801350" cy="20745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首轮目标：1 家合作社、10 位农户；采用同一任务的过程观察与对照</a:t>
              </a:r>
            </a:p>
          </p:txBody>
        </p:sp>
      </p:grpSp>
      <p:grpSp>
        <p:nvGrpSpPr>
          <p:cNvPr id="29" name="演示主体"/>
          <p:cNvGrpSpPr/>
          <p:nvPr/>
        </p:nvGrpSpPr>
        <p:grpSpPr>
          <ns1:xfrm xmlns:ns1="http://schemas.openxmlformats.org/drawingml/2006/main">
            <ns1:off x="723900" y="2095500"/>
            <ns1:ext cx="10782300" cy="3968496"/>
            <ns1:chOff x="723900" y="2095500"/>
            <ns1:chExt cx="10782300" cy="3968496"/>
          </ns1:xfrm>
        </p:grpSpPr>
        <p:sp>
          <p:nvSpPr>
            <p:cNvPr id="9" name="p13-text-335">
              <a:extLst xmlns:a="http://schemas.openxmlformats.org/drawingml/2006/main">
                <a:ext uri="{FF2B5EF4-FFF2-40B4-BE49-F238E27FC236}">
                  <a16:creationId xmlns:a16="http://schemas.microsoft.com/office/drawing/2014/main" id="{AB5C43BF-6CE8-425E-9807-A9644CBE94D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2095500"/>
              <a:ext cx="2857500" cy="35204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能否自己做完</a:t>
              </a:r>
            </a:p>
          </p:txBody>
        </p:sp>
        <p:sp>
          <p:nvSpPr>
            <p:cNvPr id="10" name="p13-text-336">
              <a:extLst xmlns:a="http://schemas.openxmlformats.org/drawingml/2006/main">
                <a:ext uri="{FF2B5EF4-FFF2-40B4-BE49-F238E27FC236}">
                  <a16:creationId xmlns:a16="http://schemas.microsoft.com/office/drawing/2014/main" id="{4AE79044-38DA-4153-B8BD-E97FCC4B203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38575" y="2105025"/>
              <a:ext cx="2333625" cy="33947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独立完成率</a:t>
              </a:r>
            </a:p>
          </p:txBody>
        </p:sp>
        <p:sp>
          <p:nvSpPr>
            <p:cNvPr id="11" name="p13-text-337">
              <a:extLst xmlns:a="http://schemas.openxmlformats.org/drawingml/2006/main">
                <a:ext uri="{FF2B5EF4-FFF2-40B4-BE49-F238E27FC236}">
                  <a16:creationId xmlns:a16="http://schemas.microsoft.com/office/drawing/2014/main" id="{81B0C5E0-1288-49C4-99C7-1F67339DDE9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48425" y="2133600"/>
              <a:ext cx="5057775" cy="27660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无需他人代操作的完成户数 / 参与户数</a:t>
              </a:r>
            </a:p>
          </p:txBody>
        </p:sp>
        <p:sp>
          <p:nvSpPr>
            <p:cNvPr id="12" name="p13-rect-338">
              <a:extLst xmlns:a="http://schemas.openxmlformats.org/drawingml/2006/main">
                <a:ext uri="{FF2B5EF4-FFF2-40B4-BE49-F238E27FC236}">
                  <a16:creationId xmlns:a16="http://schemas.microsoft.com/office/drawing/2014/main" id="{1F1A75A7-EC5B-49BC-98F7-AACBA0AC126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2724150"/>
              <a:ext cx="10782300" cy="9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DDCC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13" name="p13-text-339">
              <a:extLst xmlns:a="http://schemas.openxmlformats.org/drawingml/2006/main">
                <a:ext uri="{FF2B5EF4-FFF2-40B4-BE49-F238E27FC236}">
                  <a16:creationId xmlns:a16="http://schemas.microsoft.com/office/drawing/2014/main" id="{8CCE5114-CB00-4265-A95D-5AC31F8CD2F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2933700"/>
              <a:ext cx="2857500" cy="35204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准备是否更省事</a:t>
              </a:r>
            </a:p>
          </p:txBody>
        </p:sp>
        <p:sp>
          <p:nvSpPr>
            <p:cNvPr id="14" name="p13-text-340">
              <a:extLst xmlns:a="http://schemas.openxmlformats.org/drawingml/2006/main">
                <a:ext uri="{FF2B5EF4-FFF2-40B4-BE49-F238E27FC236}">
                  <a16:creationId xmlns:a16="http://schemas.microsoft.com/office/drawing/2014/main" id="{AD470B31-2C19-41C5-BCE7-4AB990DBBCF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38575" y="2943225"/>
              <a:ext cx="2333625" cy="33947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时间与求助点</a:t>
              </a:r>
            </a:p>
          </p:txBody>
        </p:sp>
        <p:sp>
          <p:nvSpPr>
            <p:cNvPr id="15" name="p13-text-341">
              <a:extLst xmlns:a="http://schemas.openxmlformats.org/drawingml/2006/main">
                <a:ext uri="{FF2B5EF4-FFF2-40B4-BE49-F238E27FC236}">
                  <a16:creationId xmlns:a16="http://schemas.microsoft.com/office/drawing/2014/main" id="{96095C08-31E9-4238-9A5E-3B9307B5176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48425" y="2971800"/>
              <a:ext cx="5057775" cy="27660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记录开始、完成、卡住步骤与人工帮助</a:t>
              </a:r>
            </a:p>
          </p:txBody>
        </p:sp>
        <p:sp>
          <p:nvSpPr>
            <p:cNvPr id="16" name="p13-rect-342">
              <a:extLst xmlns:a="http://schemas.openxmlformats.org/drawingml/2006/main">
                <a:ext uri="{FF2B5EF4-FFF2-40B4-BE49-F238E27FC236}">
                  <a16:creationId xmlns:a16="http://schemas.microsoft.com/office/drawing/2014/main" id="{21F6EA00-5568-4DC5-A8AD-A126EE108F1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3562350"/>
              <a:ext cx="10782300" cy="9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DDCC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17" name="p13-text-343">
              <a:extLst xmlns:a="http://schemas.openxmlformats.org/drawingml/2006/main">
                <a:ext uri="{FF2B5EF4-FFF2-40B4-BE49-F238E27FC236}">
                  <a16:creationId xmlns:a16="http://schemas.microsoft.com/office/drawing/2014/main" id="{71DEC752-2399-4089-A7B8-3D45B4B7E42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3771900"/>
              <a:ext cx="2857500" cy="35204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内容是否能用</a:t>
              </a:r>
            </a:p>
          </p:txBody>
        </p:sp>
        <p:sp>
          <p:nvSpPr>
            <p:cNvPr id="18" name="p13-text-344">
              <a:extLst xmlns:a="http://schemas.openxmlformats.org/drawingml/2006/main">
                <a:ext uri="{FF2B5EF4-FFF2-40B4-BE49-F238E27FC236}">
                  <a16:creationId xmlns:a16="http://schemas.microsoft.com/office/drawing/2014/main" id="{6CDBF94A-2C12-4700-B708-995C1CB9C6C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38575" y="3781425"/>
              <a:ext cx="2333625" cy="33947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修改次数</a:t>
              </a:r>
            </a:p>
          </p:txBody>
        </p:sp>
        <p:sp>
          <p:nvSpPr>
            <p:cNvPr id="19" name="p13-text-345">
              <a:extLst xmlns:a="http://schemas.openxmlformats.org/drawingml/2006/main">
                <a:ext uri="{FF2B5EF4-FFF2-40B4-BE49-F238E27FC236}">
                  <a16:creationId xmlns:a16="http://schemas.microsoft.com/office/drawing/2014/main" id="{324EB71C-9FF5-496F-B541-B74F8B14F89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48425" y="3810000"/>
              <a:ext cx="5057775" cy="27660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分开记录事实纠正与表达修改</a:t>
              </a:r>
            </a:p>
          </p:txBody>
        </p:sp>
        <p:sp>
          <p:nvSpPr>
            <p:cNvPr id="20" name="p13-rect-346">
              <a:extLst xmlns:a="http://schemas.openxmlformats.org/drawingml/2006/main">
                <a:ext uri="{FF2B5EF4-FFF2-40B4-BE49-F238E27FC236}">
                  <a16:creationId xmlns:a16="http://schemas.microsoft.com/office/drawing/2014/main" id="{3DA5ADE4-93E1-4C53-8E8D-2C24FBB7B4D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4400550"/>
              <a:ext cx="10782300" cy="9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DDCC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1" name="p13-text-347">
              <a:extLst xmlns:a="http://schemas.openxmlformats.org/drawingml/2006/main">
                <a:ext uri="{FF2B5EF4-FFF2-40B4-BE49-F238E27FC236}">
                  <a16:creationId xmlns:a16="http://schemas.microsoft.com/office/drawing/2014/main" id="{EAED9620-E1E1-4CEF-9C34-CD7FBB788CB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4610100"/>
              <a:ext cx="2857500" cy="35204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是否愿意发布</a:t>
              </a:r>
            </a:p>
          </p:txBody>
        </p:sp>
        <p:sp>
          <p:nvSpPr>
            <p:cNvPr id="22" name="p13-text-348">
              <a:extLst xmlns:a="http://schemas.openxmlformats.org/drawingml/2006/main">
                <a:ext uri="{FF2B5EF4-FFF2-40B4-BE49-F238E27FC236}">
                  <a16:creationId xmlns:a16="http://schemas.microsoft.com/office/drawing/2014/main" id="{1412747F-F4BB-40D1-B91E-4DB39783E8E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38575" y="4619625"/>
              <a:ext cx="2333625" cy="33947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025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发布意愿与行为</a:t>
              </a:r>
            </a:p>
          </p:txBody>
        </p:sp>
        <p:sp>
          <p:nvSpPr>
            <p:cNvPr id="23" name="p13-text-349">
              <a:extLst xmlns:a="http://schemas.openxmlformats.org/drawingml/2006/main">
                <a:ext uri="{FF2B5EF4-FFF2-40B4-BE49-F238E27FC236}">
                  <a16:creationId xmlns:a16="http://schemas.microsoft.com/office/drawing/2014/main" id="{6D84EDE2-21CC-493D-B887-8DE04A22E56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48425" y="4648200"/>
              <a:ext cx="5057775" cy="27660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先询问意愿，发布后再记录实际情况</a:t>
              </a:r>
            </a:p>
          </p:txBody>
        </p:sp>
        <p:sp>
          <p:nvSpPr>
            <p:cNvPr id="24" name="p13-rect-350">
              <a:extLst xmlns:a="http://schemas.openxmlformats.org/drawingml/2006/main">
                <a:ext uri="{FF2B5EF4-FFF2-40B4-BE49-F238E27FC236}">
                  <a16:creationId xmlns:a16="http://schemas.microsoft.com/office/drawing/2014/main" id="{ABA038BB-37C4-4CEE-B140-A14C010F311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5238750"/>
              <a:ext cx="10782300" cy="9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DDCC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5" name="p13-text-351">
              <a:extLst xmlns:a="http://schemas.openxmlformats.org/drawingml/2006/main">
                <a:ext uri="{FF2B5EF4-FFF2-40B4-BE49-F238E27FC236}">
                  <a16:creationId xmlns:a16="http://schemas.microsoft.com/office/drawing/2014/main" id="{9DFBEDEF-FE03-45A9-9D95-EAC666855AC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5724525"/>
              <a:ext cx="10782300" cy="33947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0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0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0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0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0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0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0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0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0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0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0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025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先记录完成过程；传播、成交和付费效果，分别采集数据验证。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61105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245B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4" name="模板 / 页眉页脚"/>
          <p:cNvGrpSpPr/>
          <p:nvPr/>
        </p:nvGrpSpPr>
        <p:grpSpPr>
          <ns1:xfrm xmlns:ns1="http://schemas.openxmlformats.org/drawingml/2006/main">
            <ns1:off x="685800" y="371475"/>
            <ns1:ext cx="10820400" cy="6334887"/>
            <ns1:chOff x="685800" y="371475"/>
            <ns1:chExt cx="10820400" cy="6334887"/>
          </ns1:xfrm>
        </p:grpSpPr>
        <p:sp>
          <p:nvSpPr>
            <p:cNvPr id="13" name="p14-rect-352">
              <a:extLst xmlns:a="http://schemas.openxmlformats.org/drawingml/2006/main">
                <a:ext uri="{FF2B5EF4-FFF2-40B4-BE49-F238E27FC236}">
                  <a16:creationId xmlns:a16="http://schemas.microsoft.com/office/drawing/2014/main" id="{5E62A074-BCF6-409B-BFA6-6C9BA9ED23E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371475"/>
              <a:ext cx="66675" cy="2190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9A3D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" name="p14-text-353">
              <a:extLst xmlns:a="http://schemas.openxmlformats.org/drawingml/2006/main">
                <a:ext uri="{FF2B5EF4-FFF2-40B4-BE49-F238E27FC236}">
                  <a16:creationId xmlns:a16="http://schemas.microsoft.com/office/drawing/2014/main" id="{BD4B40F1-1413-4330-8A6D-00718F4BDAB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85825" y="390525"/>
              <a:ext cx="8239125" cy="20116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00" b="1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200" b="1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200" b="1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200" b="1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200" b="1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200" b="1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200" b="1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200" b="1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200" b="1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200" b="1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200" b="1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00" b="1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rPr>
                <a:t>让家里的好产品，迈出被看见的第一步</a:t>
              </a:r>
            </a:p>
          </p:txBody>
        </p:sp>
        <p:sp>
          <p:nvSpPr>
            <p:cNvPr id="3" name="p14-text-354">
              <a:extLst xmlns:a="http://schemas.openxmlformats.org/drawingml/2006/main">
                <a:ext uri="{FF2B5EF4-FFF2-40B4-BE49-F238E27FC236}">
                  <a16:creationId xmlns:a16="http://schemas.microsoft.com/office/drawing/2014/main" id="{F670034E-97EB-4033-8F11-53BF39212CE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82200" y="381000"/>
              <a:ext cx="1524000" cy="21374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r">
                <a:defRPr sz="1275" b="1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r">
                <a:defRPr sz="1275" b="1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r">
                <a:defRPr sz="1275" b="1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r">
                <a:defRPr sz="1275" b="1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r">
                <a:defRPr sz="1275" b="1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r">
                <a:defRPr sz="1275" b="1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r">
                <a:defRPr sz="1275" b="1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r">
                <a:defRPr sz="1275" b="1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r">
                <a:defRPr sz="1275" b="1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r">
                <a:defRPr sz="1275" b="1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r">
                <a:defRPr sz="1275" b="1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75" b="1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rPr>
                <a:t>乡创引擎</a:t>
              </a:r>
            </a:p>
          </p:txBody>
        </p:sp>
        <p:sp>
          <p:nvSpPr>
            <p:cNvPr id="4" name="p14-rect-355">
              <a:extLst xmlns:a="http://schemas.openxmlformats.org/drawingml/2006/main">
                <a:ext uri="{FF2B5EF4-FFF2-40B4-BE49-F238E27FC236}">
                  <a16:creationId xmlns:a16="http://schemas.microsoft.com/office/drawing/2014/main" id="{090028A3-7FC8-439E-B5B9-E0247120C89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6381750"/>
              <a:ext cx="10820400" cy="9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2745E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5" name="p14-text-356">
              <a:extLst xmlns:a="http://schemas.openxmlformats.org/drawingml/2006/main">
                <a:ext uri="{FF2B5EF4-FFF2-40B4-BE49-F238E27FC236}">
                  <a16:creationId xmlns:a16="http://schemas.microsoft.com/office/drawing/2014/main" id="{4F2EBAD7-742D-42BD-8035-A790032D591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6505575"/>
              <a:ext cx="9429750" cy="16973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013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013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013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013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013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013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013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013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013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013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013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013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rPr>
                <a:t>农户身边的 AI 卖货助手</a:t>
              </a:r>
            </a:p>
          </p:txBody>
        </p:sp>
        <p:sp>
          <p:nvSpPr>
            <p:cNvPr id="6" name="p14-text-357">
              <a:extLst xmlns:a="http://schemas.openxmlformats.org/drawingml/2006/main">
                <a:ext uri="{FF2B5EF4-FFF2-40B4-BE49-F238E27FC236}">
                  <a16:creationId xmlns:a16="http://schemas.microsoft.com/office/drawing/2014/main" id="{49080A31-1F08-4281-A30F-6505F66008F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029950" y="6467475"/>
              <a:ext cx="476250" cy="23888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r">
                <a:defRPr sz="1425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r">
                <a:defRPr sz="1425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r">
                <a:defRPr sz="1425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r">
                <a:defRPr sz="1425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r">
                <a:defRPr sz="1425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r">
                <a:defRPr sz="1425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r">
                <a:defRPr sz="1425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r">
                <a:defRPr sz="1425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r">
                <a:defRPr sz="1425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r">
                <a:defRPr sz="1425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r">
                <a:defRPr sz="1425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425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rPr>
                <a:t>14</a:t>
              </a:r>
            </a:p>
          </p:txBody>
        </p:sp>
      </p:grpSp>
      <p:grpSp>
        <p:nvGrpSpPr>
          <p:cNvPr id="15" name="演示主体"/>
          <p:cNvGrpSpPr/>
          <p:nvPr/>
        </p:nvGrpSpPr>
        <p:grpSpPr>
          <ns1:xfrm xmlns:ns1="http://schemas.openxmlformats.org/drawingml/2006/main">
            <ns1:off x="723900" y="1076325"/>
            <ns1:ext cx="10782300" cy="5266944"/>
            <ns1:chOff x="723900" y="1076325"/>
            <ns1:chExt cx="10782300" cy="5266944"/>
          </ns1:xfrm>
        </p:grpSpPr>
        <p:sp>
          <p:nvSpPr>
            <p:cNvPr id="7" name="p14-text-358">
              <a:extLst xmlns:a="http://schemas.openxmlformats.org/drawingml/2006/main">
                <a:ext uri="{FF2B5EF4-FFF2-40B4-BE49-F238E27FC236}">
                  <a16:creationId xmlns:a16="http://schemas.microsoft.com/office/drawing/2014/main" id="{53E05051-CED8-4ED7-927E-D87025086C7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1076325"/>
              <a:ext cx="10782300" cy="70408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42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42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42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42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42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42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42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42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42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42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42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42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rPr>
                <a:t>让农户带着产品来，</a:t>
              </a:r>
            </a:p>
          </p:txBody>
        </p:sp>
        <p:sp>
          <p:nvSpPr>
            <p:cNvPr id="8" name="p14-text-359">
              <a:extLst xmlns:a="http://schemas.openxmlformats.org/drawingml/2006/main">
                <a:ext uri="{FF2B5EF4-FFF2-40B4-BE49-F238E27FC236}">
                  <a16:creationId xmlns:a16="http://schemas.microsoft.com/office/drawing/2014/main" id="{0F524A4C-37D9-4A3B-A337-7996C46534E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1823085"/>
              <a:ext cx="10782300" cy="70408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42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42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42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42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42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42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42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42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42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42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42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4200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rPr>
                <a:t>带着卖货内容走。</a:t>
              </a:r>
            </a:p>
          </p:txBody>
        </p:sp>
        <p:pic>
          <p:nvPicPr>
            <p:cNvPr id="9" name="">
              <a:extLst xmlns:a="http://schemas.openxmlformats.org/drawingml/2006/main">
                <a:ext uri="{FF2B5EF4-FFF2-40B4-BE49-F238E27FC236}">
                  <a16:creationId xmlns:a16="http://schemas.microsoft.com/office/drawing/2014/main" id="{1D38BD12-F4D7-49B8-AF0E-304499AF714F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a4274a562db043c0"/>
            <a:srcRect xmlns:a="http://schemas.openxmlformats.org/drawingml/2006/main" l="0" t="2760" r="0" b="2760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>
              <a:off x="723900" y="3038475"/>
              <a:ext cx="4400550" cy="2771775"/>
            </a:xfrm>
            <a:prstGeom xmlns:a="http://schemas.openxmlformats.org/drawingml/2006/main" prst="rect">
              <a:avLst/>
            </a:prstGeom>
          </p:spPr>
        </p:pic>
        <p:pic>
          <p:nvPicPr>
            <p:cNvPr id="10" name="">
              <a:extLst xmlns:a="http://schemas.openxmlformats.org/drawingml/2006/main">
                <a:ext uri="{FF2B5EF4-FFF2-40B4-BE49-F238E27FC236}">
                  <a16:creationId xmlns:a16="http://schemas.microsoft.com/office/drawing/2014/main" id="{464E2A10-A5D4-4077-B43B-DEDA53D315E2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2807920620d24a14"/>
            <a:srcRect xmlns:a="http://schemas.openxmlformats.org/drawingml/2006/main" l="0" t="0" r="0" b="0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>
              <a:off x="5372100" y="3038475"/>
              <a:ext cx="3695700" cy="2771775"/>
            </a:xfrm>
            <a:prstGeom xmlns:a="http://schemas.openxmlformats.org/drawingml/2006/main" prst="rect">
              <a:avLst/>
            </a:prstGeom>
          </p:spPr>
        </p:pic>
        <p:pic>
          <p:nvPic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4750769E-517D-4EC2-88AD-DDBCBB4DB6F8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75209afc6be74a42"/>
            <a:stretch xmlns:a="http://schemas.openxmlformats.org/drawingml/2006/main"/>
          </p:blipFill>
          <p:spPr>
            <a:xfrm xmlns:a="http://schemas.openxmlformats.org/drawingml/2006/main">
              <a:off x="9324975" y="3040062"/>
              <a:ext cx="2076450" cy="2768600"/>
            </a:xfrm>
            <a:prstGeom xmlns:a="http://schemas.openxmlformats.org/drawingml/2006/main" prst="rect">
              <a:avLst/>
            </a:prstGeom>
          </p:spPr>
        </p:pic>
        <p:sp>
          <p:nvSpPr>
            <p:cNvPr id="12" name="p14-text-360">
              <a:extLst xmlns:a="http://schemas.openxmlformats.org/drawingml/2006/main">
                <a:ext uri="{FF2B5EF4-FFF2-40B4-BE49-F238E27FC236}">
                  <a16:creationId xmlns:a16="http://schemas.microsoft.com/office/drawing/2014/main" id="{3155172E-A515-4440-AC5D-F20167A1E54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5991225"/>
              <a:ext cx="10782300" cy="35204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00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100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100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100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100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100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100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100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100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100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100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100" b="0">
                  <a:solidFill>
                    <a:srgbClr val="CBD8C7"/>
                  </a:solidFill>
                  <a:latin typeface="Arial Unicode MS"/>
                  <a:ea typeface="Arial Unicode MS"/>
                  <a:cs typeface="Arial Unicode MS"/>
                </a:rPr>
                <a:t>AI Agent：把宣传图、好文案和客户回复一起准备好。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5016179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3" name="模板 / 页眉页脚"/>
          <p:cNvGrpSpPr/>
          <p:nvPr/>
        </p:nvGrpSpPr>
        <p:grpSpPr>
          <ns1:xfrm xmlns:ns1="http://schemas.openxmlformats.org/drawingml/2006/main">
            <ns1:off x="685800" y="371475"/>
            <ns1:ext cx="10820400" cy="6334887"/>
            <ns1:chOff x="685800" y="371475"/>
            <ns1:chExt cx="10820400" cy="6334887"/>
          </ns1:xfrm>
        </p:grpSpPr>
        <p:sp>
          <p:nvSpPr>
            <p:cNvPr id="12" name="p15-rect-361">
              <a:extLst xmlns:a="http://schemas.openxmlformats.org/drawingml/2006/main">
                <a:ext uri="{FF2B5EF4-FFF2-40B4-BE49-F238E27FC236}">
                  <a16:creationId xmlns:a16="http://schemas.microsoft.com/office/drawing/2014/main" id="{097115BC-F97C-469B-815C-C0E3260846E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371475"/>
              <a:ext cx="66675" cy="2190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245B42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" name="p15-text-362">
              <a:extLst xmlns:a="http://schemas.openxmlformats.org/drawingml/2006/main">
                <a:ext uri="{FF2B5EF4-FFF2-40B4-BE49-F238E27FC236}">
                  <a16:creationId xmlns:a16="http://schemas.microsoft.com/office/drawing/2014/main" id="{681A2D69-EC05-40A4-8A15-09685C01C3A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85825" y="390525"/>
              <a:ext cx="8239125" cy="20116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附录 A / 数据与调研依据</a:t>
              </a:r>
            </a:p>
          </p:txBody>
        </p:sp>
        <p:sp>
          <p:nvSpPr>
            <p:cNvPr id="3" name="p15-text-363">
              <a:extLst xmlns:a="http://schemas.openxmlformats.org/drawingml/2006/main">
                <a:ext uri="{FF2B5EF4-FFF2-40B4-BE49-F238E27FC236}">
                  <a16:creationId xmlns:a16="http://schemas.microsoft.com/office/drawing/2014/main" id="{27072913-58C2-4D42-8759-353C510DB54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82200" y="381000"/>
              <a:ext cx="1524000" cy="21374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乡创引擎</a:t>
              </a:r>
            </a:p>
          </p:txBody>
        </p:sp>
        <p:sp>
          <p:nvSpPr>
            <p:cNvPr id="4" name="p15-rect-364">
              <a:extLst xmlns:a="http://schemas.openxmlformats.org/drawingml/2006/main">
                <a:ext uri="{FF2B5EF4-FFF2-40B4-BE49-F238E27FC236}">
                  <a16:creationId xmlns:a16="http://schemas.microsoft.com/office/drawing/2014/main" id="{47C42CCE-8C34-4B62-AFEE-9DE43DE38AB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6381750"/>
              <a:ext cx="10820400" cy="9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DDCC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5" name="p15-text-365">
              <a:extLst xmlns:a="http://schemas.openxmlformats.org/drawingml/2006/main">
                <a:ext uri="{FF2B5EF4-FFF2-40B4-BE49-F238E27FC236}">
                  <a16:creationId xmlns:a16="http://schemas.microsoft.com/office/drawing/2014/main" id="{98FF9178-94A1-461E-8DE3-1664BD1A67C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6505575"/>
              <a:ext cx="9429750" cy="16973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答辩附录</a:t>
              </a:r>
            </a:p>
          </p:txBody>
        </p:sp>
        <p:sp>
          <p:nvSpPr>
            <p:cNvPr id="6" name="p15-text-366">
              <a:extLst xmlns:a="http://schemas.openxmlformats.org/drawingml/2006/main">
                <a:ext uri="{FF2B5EF4-FFF2-40B4-BE49-F238E27FC236}">
                  <a16:creationId xmlns:a16="http://schemas.microsoft.com/office/drawing/2014/main" id="{CEC1A575-D1AA-4464-9462-4442129C83F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029950" y="6467475"/>
              <a:ext cx="476250" cy="23888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15</a:t>
              </a:r>
            </a:p>
          </p:txBody>
        </p:sp>
      </p:grpSp>
      <p:grpSp>
        <p:nvGrpSpPr>
          <p:cNvPr id="14" name="页面标题"/>
          <p:cNvGrpSpPr/>
          <p:nvPr/>
        </p:nvGrpSpPr>
        <p:grpSpPr>
          <ns1:xfrm xmlns:ns1="http://schemas.openxmlformats.org/drawingml/2006/main">
            <ns1:off x="685800" y="866775"/>
            <ns1:ext cx="10820400" cy="817055"/>
            <ns1:chOff x="685800" y="866775"/>
            <ns1:chExt cx="10820400" cy="817055"/>
          </ns1:xfrm>
        </p:grpSpPr>
        <p:sp>
          <p:nvSpPr>
            <p:cNvPr id="7" name="p15-text-367">
              <a:extLst xmlns:a="http://schemas.openxmlformats.org/drawingml/2006/main">
                <a:ext uri="{FF2B5EF4-FFF2-40B4-BE49-F238E27FC236}">
                  <a16:creationId xmlns:a16="http://schemas.microsoft.com/office/drawing/2014/main" id="{92C426E5-C739-4765-8EC4-AC26773B445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866775"/>
              <a:ext cx="10820400" cy="55321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数据从哪里来，各自能说明什么</a:t>
              </a:r>
            </a:p>
          </p:txBody>
        </p:sp>
        <p:sp>
          <p:nvSpPr>
            <p:cNvPr id="8" name="p15-text-368">
              <a:extLst xmlns:a="http://schemas.openxmlformats.org/drawingml/2006/main">
                <a:ext uri="{FF2B5EF4-FFF2-40B4-BE49-F238E27FC236}">
                  <a16:creationId xmlns:a16="http://schemas.microsoft.com/office/drawing/2014/main" id="{573E3C49-5340-4573-BFB6-CD557E10B4C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5325" y="1476375"/>
              <a:ext cx="10801350" cy="20745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完整来源保留在备注和交付资料中，年份与对象分别标明</a:t>
              </a:r>
            </a:p>
          </p:txBody>
        </p:sp>
      </p:grp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3DB451-E9EB-4D7B-8C7E-235C00A38164}"/>
              </a:ext>
            </a:extLst>
          </p:cNvPr>
          <p:cNvGraphicFramePr/>
          <p:nvPr/>
        </p:nvGraphicFramePr>
        <p:xfrm>
          <a:off xmlns:a="http://schemas.openxmlformats.org/drawingml/2006/main" x="723900" y="2038350"/>
          <a:ext xmlns:a="http://schemas.openxmlformats.org/drawingml/2006/main" cx="10782300" cy="3429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76500"/>
                <a:gridCol w="3619500"/>
                <a:gridCol w="4686300"/>
              </a:tblGrid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EF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依据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CC"/>
                      </a:solidFill>
                      <a:prstDash val="solid"/>
                    </a:lnL>
                    <a:lnR w="9525">
                      <a:solidFill>
                        <a:srgbClr val="D6DDCC"/>
                      </a:solidFill>
                      <a:prstDash val="solid"/>
                    </a:lnR>
                    <a:lnT w="9525">
                      <a:solidFill>
                        <a:srgbClr val="D6DDCC"/>
                      </a:solidFill>
                      <a:prstDash val="solid"/>
                    </a:lnT>
                    <a:lnB w="9525">
                      <a:solidFill>
                        <a:srgbClr val="D6DDCC"/>
                      </a:solidFill>
                      <a:prstDash val="solid"/>
                    </a:lnB>
                    <a:solidFill>
                      <a:srgbClr val="245B42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EF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采用数据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CC"/>
                      </a:solidFill>
                      <a:prstDash val="solid"/>
                    </a:lnR>
                    <a:lnT w="9525">
                      <a:solidFill>
                        <a:srgbClr val="D6DDCC"/>
                      </a:solidFill>
                      <a:prstDash val="solid"/>
                    </a:lnT>
                    <a:lnB w="9525">
                      <a:solidFill>
                        <a:srgbClr val="D6DDCC"/>
                      </a:solidFill>
                      <a:prstDash val="solid"/>
                    </a:lnB>
                    <a:solidFill>
                      <a:srgbClr val="245B42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EF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对象与解释范围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CC"/>
                      </a:solidFill>
                      <a:prstDash val="solid"/>
                    </a:lnR>
                    <a:lnT w="9525">
                      <a:solidFill>
                        <a:srgbClr val="D6DDCC"/>
                      </a:solidFill>
                      <a:prstDash val="solid"/>
                    </a:lnT>
                    <a:lnB w="9525">
                      <a:solidFill>
                        <a:srgbClr val="D6DDCC"/>
                      </a:solidFill>
                      <a:prstDash val="solid"/>
                    </a:lnB>
                    <a:solidFill>
                      <a:srgbClr val="245B42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53C3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[1] 商务大数据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CC"/>
                      </a:solidFill>
                      <a:prstDash val="solid"/>
                    </a:lnL>
                    <a:lnR w="9525">
                      <a:solidFill>
                        <a:srgbClr val="D6DDCC"/>
                      </a:solidFill>
                      <a:prstDash val="solid"/>
                    </a:lnR>
                    <a:lnB w="9525">
                      <a:solidFill>
                        <a:srgbClr val="D6DDCC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53C3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2025 年 7833.1 亿元；增长 9.9%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CC"/>
                      </a:solidFill>
                      <a:prstDash val="solid"/>
                    </a:lnR>
                    <a:lnB w="9525">
                      <a:solidFill>
                        <a:srgbClr val="D6DDCC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53C3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全国农产品网络零售；说明市场场景，不是项目收入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CC"/>
                      </a:solidFill>
                      <a:prstDash val="solid"/>
                    </a:lnR>
                    <a:lnB w="9525">
                      <a:solidFill>
                        <a:srgbClr val="D6DDCC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53C3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[2] CNNIC 第 57 次报告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CC"/>
                      </a:solidFill>
                      <a:prstDash val="solid"/>
                    </a:lnL>
                    <a:lnR w="9525">
                      <a:solidFill>
                        <a:srgbClr val="D6DDCC"/>
                      </a:solidFill>
                      <a:prstDash val="solid"/>
                    </a:lnR>
                    <a:lnB w="9525">
                      <a:solidFill>
                        <a:srgbClr val="D6DDCC"/>
                      </a:solidFill>
                      <a:prstDash val="solid"/>
                    </a:lnB>
                    <a:solidFill>
                      <a:srgbClr val="E8EEDD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53C3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2025 年底，农村互联网普及率 69.5%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CC"/>
                      </a:solidFill>
                      <a:prstDash val="solid"/>
                    </a:lnR>
                    <a:lnB w="9525">
                      <a:solidFill>
                        <a:srgbClr val="D6DDCC"/>
                      </a:solidFill>
                      <a:prstDash val="solid"/>
                    </a:lnB>
                    <a:solidFill>
                      <a:srgbClr val="E8EEDD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53C3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农村居民的互联网普及，不代表营销技能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CC"/>
                      </a:solidFill>
                      <a:prstDash val="solid"/>
                    </a:lnR>
                    <a:lnB w="9525">
                      <a:solidFill>
                        <a:srgbClr val="D6DDCC"/>
                      </a:solidFill>
                      <a:prstDash val="solid"/>
                    </a:lnB>
                    <a:solidFill>
                      <a:srgbClr val="E8EEDD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53C3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[3] 数字素养报告（2024）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CC"/>
                      </a:solidFill>
                      <a:prstDash val="solid"/>
                    </a:lnL>
                    <a:lnR w="9525">
                      <a:solidFill>
                        <a:srgbClr val="D6DDCC"/>
                      </a:solidFill>
                      <a:prstDash val="solid"/>
                    </a:lnR>
                    <a:lnB w="9525">
                      <a:solidFill>
                        <a:srgbClr val="D6DDCC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53C3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城镇 65.92%；农村 50.57%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CC"/>
                      </a:solidFill>
                      <a:prstDash val="solid"/>
                    </a:lnR>
                    <a:lnB w="9525">
                      <a:solidFill>
                        <a:srgbClr val="D6DDCC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53C3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18—69 岁，初级及以上；差值 15.35 个百分点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CC"/>
                      </a:solidFill>
                      <a:prstDash val="solid"/>
                    </a:lnR>
                    <a:lnB w="9525">
                      <a:solidFill>
                        <a:srgbClr val="D6DDCC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53C3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[4] 湘粤农户研究（2023）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CC"/>
                      </a:solidFill>
                      <a:prstDash val="solid"/>
                    </a:lnL>
                    <a:lnR w="9525">
                      <a:solidFill>
                        <a:srgbClr val="D6DDCC"/>
                      </a:solidFill>
                      <a:prstDash val="solid"/>
                    </a:lnR>
                    <a:lnB w="9525">
                      <a:solidFill>
                        <a:srgbClr val="D6DDCC"/>
                      </a:solidFill>
                      <a:prstDash val="solid"/>
                    </a:lnB>
                    <a:solidFill>
                      <a:srgbClr val="E8EEDD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53C3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528 份农户调查数据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CC"/>
                      </a:solidFill>
                      <a:prstDash val="solid"/>
                    </a:lnR>
                    <a:lnB w="9525">
                      <a:solidFill>
                        <a:srgbClr val="D6DDCC"/>
                      </a:solidFill>
                      <a:prstDash val="solid"/>
                    </a:lnB>
                    <a:solidFill>
                      <a:srgbClr val="E8EEDD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53C3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数字素养、培训与电商参与；不是本团队调研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CC"/>
                      </a:solidFill>
                      <a:prstDash val="solid"/>
                    </a:lnR>
                    <a:lnB w="9525">
                      <a:solidFill>
                        <a:srgbClr val="D6DDCC"/>
                      </a:solidFill>
                      <a:prstDash val="solid"/>
                    </a:lnB>
                    <a:solidFill>
                      <a:srgbClr val="E8EEDD"/>
                    </a:solidFill>
                  </a:tcPr>
                </a:tc>
              </a:tr>
            </a:tbl>
          </a:graphicData>
        </a:graphic>
      </p:graphicFrame>
      <p:sp>
        <p:nvSpPr>
          <p:cNvPr id="10" name="p15-text-369">
            <a:extLst xmlns:a="http://schemas.openxmlformats.org/drawingml/2006/main">
              <a:ext uri="{FF2B5EF4-FFF2-40B4-BE49-F238E27FC236}">
                <a16:creationId xmlns:a16="http://schemas.microsoft.com/office/drawing/2014/main" id="{2F7034E8-DF26-4EFA-A1B3-873A540A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43550"/>
            <a:ext cx="10782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5B42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75" b="1">
                <a:solidFill>
                  <a:srgbClr val="245B42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75" b="1">
                <a:solidFill>
                  <a:srgbClr val="245B42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75" b="1">
                <a:solidFill>
                  <a:srgbClr val="245B42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75" b="1">
                <a:solidFill>
                  <a:srgbClr val="245B42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75" b="1">
                <a:solidFill>
                  <a:srgbClr val="245B42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75" b="1">
                <a:solidFill>
                  <a:srgbClr val="245B42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75" b="1">
                <a:solidFill>
                  <a:srgbClr val="245B42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75" b="1">
                <a:solidFill>
                  <a:srgbClr val="245B42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75" b="1">
                <a:solidFill>
                  <a:srgbClr val="245B42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5B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45B42"/>
                </a:solidFill>
                <a:latin typeface="Arial Unicode MS"/>
                <a:ea typeface="Arial Unicode MS"/>
                <a:cs typeface="Arial Unicode MS"/>
              </a:rPr>
              <a:t>任务分析：做图、文案、回复三项困难，仍需目标农户试用核实。</a:t>
            </a:r>
          </a:p>
        </p:txBody>
      </p:sp>
      <p:sp>
        <p:nvSpPr>
          <p:cNvPr id="11" name="p15-text-370">
            <a:extLst xmlns:a="http://schemas.openxmlformats.org/drawingml/2006/main">
              <a:ext uri="{FF2B5EF4-FFF2-40B4-BE49-F238E27FC236}">
                <a16:creationId xmlns:a16="http://schemas.microsoft.com/office/drawing/2014/main" id="{C961C53D-6DE6-4B14-A513-A16A6FBD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24575"/>
            <a:ext cx="10782300" cy="1948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163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163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163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163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163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163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163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163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163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163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63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rPr>
              <a:t>公开资料检索：2026-10-19。详细文献、URL、指标定义与使用限制见“数据来源与口径.md”。</a:t>
            </a:r>
          </a:p>
        </p:txBody>
      </p:sp>
    </p:spTree>
    <p:extLst>
      <p:ext uri="{BB962C8B-B14F-4D97-AF65-F5344CB8AC3E}">
        <p14:creationId xmlns:p14="http://schemas.microsoft.com/office/powerpoint/2010/main" val="86425266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35" name="模板 / 页眉页脚"/>
          <p:cNvGrpSpPr/>
          <p:nvPr/>
        </p:nvGrpSpPr>
        <p:grpSpPr>
          <ns1:xfrm xmlns:ns1="http://schemas.openxmlformats.org/drawingml/2006/main">
            <ns1:off x="685800" y="371475"/>
            <ns1:ext cx="10820400" cy="6334887"/>
            <ns1:chOff x="685800" y="371475"/>
            <ns1:chExt cx="10820400" cy="6334887"/>
          </ns1:xfrm>
        </p:grpSpPr>
        <p:sp>
          <p:nvSpPr>
            <p:cNvPr id="34" name="p16-rect-371">
              <a:extLst xmlns:a="http://schemas.openxmlformats.org/drawingml/2006/main">
                <a:ext uri="{FF2B5EF4-FFF2-40B4-BE49-F238E27FC236}">
                  <a16:creationId xmlns:a16="http://schemas.microsoft.com/office/drawing/2014/main" id="{459C5DEE-FE0B-4F06-A587-06E16852FDE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371475"/>
              <a:ext cx="66675" cy="2190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245B42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" name="p16-text-372">
              <a:extLst xmlns:a="http://schemas.openxmlformats.org/drawingml/2006/main">
                <a:ext uri="{FF2B5EF4-FFF2-40B4-BE49-F238E27FC236}">
                  <a16:creationId xmlns:a16="http://schemas.microsoft.com/office/drawing/2014/main" id="{AB54DE58-811C-408F-83DF-D4B3D0AD2C1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85825" y="390525"/>
              <a:ext cx="8239125" cy="20116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附录 B / 技术设计</a:t>
              </a:r>
            </a:p>
          </p:txBody>
        </p:sp>
        <p:sp>
          <p:nvSpPr>
            <p:cNvPr id="3" name="p16-text-373">
              <a:extLst xmlns:a="http://schemas.openxmlformats.org/drawingml/2006/main">
                <a:ext uri="{FF2B5EF4-FFF2-40B4-BE49-F238E27FC236}">
                  <a16:creationId xmlns:a16="http://schemas.microsoft.com/office/drawing/2014/main" id="{FBC6BC50-987C-4678-8EEA-C28C938D2A3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82200" y="381000"/>
              <a:ext cx="1524000" cy="21374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乡创引擎</a:t>
              </a:r>
            </a:p>
          </p:txBody>
        </p:sp>
        <p:sp>
          <p:nvSpPr>
            <p:cNvPr id="4" name="p16-rect-374">
              <a:extLst xmlns:a="http://schemas.openxmlformats.org/drawingml/2006/main">
                <a:ext uri="{FF2B5EF4-FFF2-40B4-BE49-F238E27FC236}">
                  <a16:creationId xmlns:a16="http://schemas.microsoft.com/office/drawing/2014/main" id="{663E9D1A-F786-42DA-9120-6E4253623A0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6381750"/>
              <a:ext cx="10820400" cy="9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DDCC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5" name="p16-text-375">
              <a:extLst xmlns:a="http://schemas.openxmlformats.org/drawingml/2006/main">
                <a:ext uri="{FF2B5EF4-FFF2-40B4-BE49-F238E27FC236}">
                  <a16:creationId xmlns:a16="http://schemas.microsoft.com/office/drawing/2014/main" id="{DB6CFA69-37C2-43BB-82E3-3BDF4541CEE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6505575"/>
              <a:ext cx="9429750" cy="16973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答辩附录</a:t>
              </a:r>
            </a:p>
          </p:txBody>
        </p:sp>
        <p:sp>
          <p:nvSpPr>
            <p:cNvPr id="6" name="p16-text-376">
              <a:extLst xmlns:a="http://schemas.openxmlformats.org/drawingml/2006/main">
                <a:ext uri="{FF2B5EF4-FFF2-40B4-BE49-F238E27FC236}">
                  <a16:creationId xmlns:a16="http://schemas.microsoft.com/office/drawing/2014/main" id="{A2E7C4EE-AA43-4F77-97B0-C0CDA4EE093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029950" y="6467475"/>
              <a:ext cx="476250" cy="23888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16</a:t>
              </a:r>
            </a:p>
          </p:txBody>
        </p:sp>
      </p:grpSp>
      <p:grpSp>
        <p:nvGrpSpPr>
          <p:cNvPr id="36" name="页面标题"/>
          <p:cNvGrpSpPr/>
          <p:nvPr/>
        </p:nvGrpSpPr>
        <p:grpSpPr>
          <ns1:xfrm xmlns:ns1="http://schemas.openxmlformats.org/drawingml/2006/main">
            <ns1:off x="685800" y="866775"/>
            <ns1:ext cx="10820400" cy="817055"/>
            <ns1:chOff x="685800" y="866775"/>
            <ns1:chExt cx="10820400" cy="817055"/>
          </ns1:xfrm>
        </p:grpSpPr>
        <p:sp>
          <p:nvSpPr>
            <p:cNvPr id="7" name="p16-text-377">
              <a:extLst xmlns:a="http://schemas.openxmlformats.org/drawingml/2006/main">
                <a:ext uri="{FF2B5EF4-FFF2-40B4-BE49-F238E27FC236}">
                  <a16:creationId xmlns:a16="http://schemas.microsoft.com/office/drawing/2014/main" id="{4C144E51-9589-476C-9EBB-58FF112B9CC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866775"/>
              <a:ext cx="10820400" cy="55321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三类能力，共用商品事实与版本</a:t>
              </a:r>
            </a:p>
          </p:txBody>
        </p:sp>
        <p:sp>
          <p:nvSpPr>
            <p:cNvPr id="8" name="p16-text-378">
              <a:extLst xmlns:a="http://schemas.openxmlformats.org/drawingml/2006/main">
                <a:ext uri="{FF2B5EF4-FFF2-40B4-BE49-F238E27FC236}">
                  <a16:creationId xmlns:a16="http://schemas.microsoft.com/office/drawing/2014/main" id="{3A154C47-DBF5-451A-951C-3DD4F2A6FB6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5325" y="1476375"/>
              <a:ext cx="10801350" cy="20745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目标架构：前端任务界面 + 商品事实 + Agent 调度 + 内容工具</a:t>
              </a:r>
            </a:p>
          </p:txBody>
        </p:sp>
      </p:grpSp>
      <p:grpSp>
        <p:nvGrpSpPr>
          <p:cNvPr id="37" name="演示主体"/>
          <p:cNvGrpSpPr/>
          <p:nvPr/>
        </p:nvGrpSpPr>
        <p:grpSpPr>
          <ns1:xfrm xmlns:ns1="http://schemas.openxmlformats.org/drawingml/2006/main">
            <ns1:off x="723900" y="2047875"/>
            <ns1:ext cx="10782300" cy="4000881"/>
            <ns1:chOff x="723900" y="2047875"/>
            <ns1:chExt cx="10782300" cy="4000881"/>
          </ns1:xfrm>
        </p:grpSpPr>
        <p:sp>
          <p:nvSpPr>
            <p:cNvPr id="9" name="p16-rect-379">
              <a:extLst xmlns:a="http://schemas.openxmlformats.org/drawingml/2006/main">
                <a:ext uri="{FF2B5EF4-FFF2-40B4-BE49-F238E27FC236}">
                  <a16:creationId xmlns:a16="http://schemas.microsoft.com/office/drawing/2014/main" id="{278F4B82-E394-4601-AD52-92286B20738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2047875"/>
              <a:ext cx="10782300" cy="6381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245B42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10" name="p16-text-380">
              <a:extLst xmlns:a="http://schemas.openxmlformats.org/drawingml/2006/main">
                <a:ext uri="{FF2B5EF4-FFF2-40B4-BE49-F238E27FC236}">
                  <a16:creationId xmlns:a16="http://schemas.microsoft.com/office/drawing/2014/main" id="{916E8550-0436-45C0-8CDA-2BB16D27F67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23925" y="2190750"/>
              <a:ext cx="10382250" cy="36461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75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175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175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175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175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175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175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175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175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175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175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175" b="1">
                  <a:solidFill>
                    <a:srgbClr val="FFFEFA"/>
                  </a:solidFill>
                  <a:latin typeface="Arial Unicode MS"/>
                  <a:ea typeface="Arial Unicode MS"/>
                  <a:cs typeface="Arial Unicode MS"/>
                </a:rPr>
                <a:t>农户界面：上传与填资料 / 看素材 / 模拟咨询 / 人工确认</a:t>
              </a:r>
            </a:p>
          </p:txBody>
        </p:sp>
        <p:sp>
          <p:nvSpPr>
            <p:cNvPr id="11" name="p16-rect-381">
              <a:extLst xmlns:a="http://schemas.openxmlformats.org/drawingml/2006/main">
                <a:ext uri="{FF2B5EF4-FFF2-40B4-BE49-F238E27FC236}">
                  <a16:creationId xmlns:a16="http://schemas.microsoft.com/office/drawing/2014/main" id="{7C0E19DD-EEF9-4ABD-A69F-4BECD984EA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3019425"/>
              <a:ext cx="3124200" cy="22860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8EEDD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12" name="p16-text-382">
              <a:extLst xmlns:a="http://schemas.openxmlformats.org/drawingml/2006/main">
                <a:ext uri="{FF2B5EF4-FFF2-40B4-BE49-F238E27FC236}">
                  <a16:creationId xmlns:a16="http://schemas.microsoft.com/office/drawing/2014/main" id="{6EDD655D-E0E6-484D-BAEA-E23BC88D4E7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3209925"/>
              <a:ext cx="2743200" cy="35204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商品事实与版本</a:t>
              </a:r>
            </a:p>
          </p:txBody>
        </p:sp>
        <p:sp>
          <p:nvSpPr>
            <p:cNvPr id="13" name="p16-text-383">
              <a:extLst xmlns:a="http://schemas.openxmlformats.org/drawingml/2006/main">
                <a:ext uri="{FF2B5EF4-FFF2-40B4-BE49-F238E27FC236}">
                  <a16:creationId xmlns:a16="http://schemas.microsoft.com/office/drawing/2014/main" id="{E3DAC7F5-4FBB-4474-BF88-14E546CFFF9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3743325"/>
              <a:ext cx="2743200" cy="3143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用户确认的产品字段</a:t>
              </a:r>
            </a:p>
          </p:txBody>
        </p:sp>
        <p:sp>
          <p:nvSpPr>
            <p:cNvPr id="14" name="p16-text-384">
              <a:extLst xmlns:a="http://schemas.openxmlformats.org/drawingml/2006/main">
                <a:ext uri="{FF2B5EF4-FFF2-40B4-BE49-F238E27FC236}">
                  <a16:creationId xmlns:a16="http://schemas.microsoft.com/office/drawing/2014/main" id="{C6C05960-7717-48B3-82DA-68BB0B84D57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4100513"/>
              <a:ext cx="2743200" cy="3143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照片来源与使用范围</a:t>
              </a:r>
            </a:p>
          </p:txBody>
        </p:sp>
        <p:sp>
          <p:nvSpPr>
            <p:cNvPr id="15" name="p16-text-385">
              <a:extLst xmlns:a="http://schemas.openxmlformats.org/drawingml/2006/main">
                <a:ext uri="{FF2B5EF4-FFF2-40B4-BE49-F238E27FC236}">
                  <a16:creationId xmlns:a16="http://schemas.microsoft.com/office/drawing/2014/main" id="{55122C3D-AE59-436D-86AC-5B938731FE7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4457700"/>
              <a:ext cx="2743200" cy="3143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草稿版本与待办</a:t>
              </a:r>
            </a:p>
          </p:txBody>
        </p:sp>
        <p:sp>
          <p:nvSpPr>
            <p:cNvPr id="16" name="p16-text-386">
              <a:extLst xmlns:a="http://schemas.openxmlformats.org/drawingml/2006/main">
                <a:ext uri="{FF2B5EF4-FFF2-40B4-BE49-F238E27FC236}">
                  <a16:creationId xmlns:a16="http://schemas.microsoft.com/office/drawing/2014/main" id="{BB3F87E2-5CBA-49DF-868A-B47D3BA198A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4814888"/>
              <a:ext cx="2743200" cy="3143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检查结果</a:t>
              </a:r>
            </a:p>
          </p:txBody>
        </p:sp>
        <p:sp>
          <p:nvSpPr>
            <p:cNvPr id="17" name="p16-rect-387">
              <a:extLst xmlns:a="http://schemas.openxmlformats.org/drawingml/2006/main">
                <a:ext uri="{FF2B5EF4-FFF2-40B4-BE49-F238E27FC236}">
                  <a16:creationId xmlns:a16="http://schemas.microsoft.com/office/drawing/2014/main" id="{9775F914-AAAE-4EB5-BED7-F3E8B845226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43400" y="3019425"/>
              <a:ext cx="3219450" cy="22860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EFA"/>
            </a:solidFill>
            <a:ln xmlns:a="http://schemas.openxmlformats.org/drawingml/2006/main" w="9525">
              <a:solidFill>
                <a:srgbClr val="D6DDCC"/>
              </a:solidFill>
              <a:prstDash val="solid"/>
            </a:ln>
          </p:spPr>
        </p:sp>
        <p:sp>
          <p:nvSpPr>
            <p:cNvPr id="18" name="p16-text-388">
              <a:extLst xmlns:a="http://schemas.openxmlformats.org/drawingml/2006/main">
                <a:ext uri="{FF2B5EF4-FFF2-40B4-BE49-F238E27FC236}">
                  <a16:creationId xmlns:a16="http://schemas.microsoft.com/office/drawing/2014/main" id="{69643686-9BCF-450F-9813-B47CE15F737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33900" y="3209925"/>
              <a:ext cx="2838450" cy="35204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Agent 任务协调</a:t>
              </a:r>
            </a:p>
          </p:txBody>
        </p:sp>
        <p:sp>
          <p:nvSpPr>
            <p:cNvPr id="19" name="p16-text-389">
              <a:extLst xmlns:a="http://schemas.openxmlformats.org/drawingml/2006/main">
                <a:ext uri="{FF2B5EF4-FFF2-40B4-BE49-F238E27FC236}">
                  <a16:creationId xmlns:a16="http://schemas.microsoft.com/office/drawing/2014/main" id="{55680EEA-A9B9-4E05-BA07-C089E6BA5BA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33900" y="3743325"/>
              <a:ext cx="2838450" cy="3143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确认目标、拆解任务</a:t>
              </a:r>
            </a:p>
          </p:txBody>
        </p:sp>
        <p:sp>
          <p:nvSpPr>
            <p:cNvPr id="20" name="p16-text-390">
              <a:extLst xmlns:a="http://schemas.openxmlformats.org/drawingml/2006/main">
                <a:ext uri="{FF2B5EF4-FFF2-40B4-BE49-F238E27FC236}">
                  <a16:creationId xmlns:a16="http://schemas.microsoft.com/office/drawing/2014/main" id="{4C0D261A-B5A6-433F-8FEF-212EA17CC82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33900" y="4100513"/>
              <a:ext cx="2838450" cy="3143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调用内容与检查工具</a:t>
              </a:r>
            </a:p>
          </p:txBody>
        </p:sp>
        <p:sp>
          <p:nvSpPr>
            <p:cNvPr id="21" name="p16-text-391">
              <a:extLst xmlns:a="http://schemas.openxmlformats.org/drawingml/2006/main">
                <a:ext uri="{FF2B5EF4-FFF2-40B4-BE49-F238E27FC236}">
                  <a16:creationId xmlns:a16="http://schemas.microsoft.com/office/drawing/2014/main" id="{3CE27EFB-CA34-42AC-B0BF-870BD25A584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33900" y="4457700"/>
              <a:ext cx="2838450" cy="3143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记录结果、等待确认</a:t>
              </a:r>
            </a:p>
          </p:txBody>
        </p:sp>
        <p:sp>
          <p:nvSpPr>
            <p:cNvPr id="22" name="p16-text-392">
              <a:extLst xmlns:a="http://schemas.openxmlformats.org/drawingml/2006/main">
                <a:ext uri="{FF2B5EF4-FFF2-40B4-BE49-F238E27FC236}">
                  <a16:creationId xmlns:a16="http://schemas.microsoft.com/office/drawing/2014/main" id="{F9FB31B3-033A-491B-AEA4-98909BF2F0E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33900" y="4814888"/>
              <a:ext cx="2838450" cy="3143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接收修改后更新</a:t>
              </a:r>
            </a:p>
          </p:txBody>
        </p:sp>
        <p:sp>
          <p:nvSpPr>
            <p:cNvPr id="23" name="p16-rect-393">
              <a:extLst xmlns:a="http://schemas.openxmlformats.org/drawingml/2006/main">
                <a:ext uri="{FF2B5EF4-FFF2-40B4-BE49-F238E27FC236}">
                  <a16:creationId xmlns:a16="http://schemas.microsoft.com/office/drawing/2014/main" id="{797C805F-4CE5-4692-B3F1-7C3B98B967F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067675" y="3019425"/>
              <a:ext cx="3438525" cy="22860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EFA"/>
            </a:solidFill>
            <a:ln xmlns:a="http://schemas.openxmlformats.org/drawingml/2006/main" w="9525">
              <a:solidFill>
                <a:srgbClr val="D6DDCC"/>
              </a:solidFill>
              <a:prstDash val="solid"/>
            </a:ln>
          </p:spPr>
        </p:sp>
        <p:sp>
          <p:nvSpPr>
            <p:cNvPr id="24" name="p16-text-394">
              <a:extLst xmlns:a="http://schemas.openxmlformats.org/drawingml/2006/main">
                <a:ext uri="{FF2B5EF4-FFF2-40B4-BE49-F238E27FC236}">
                  <a16:creationId xmlns:a16="http://schemas.microsoft.com/office/drawing/2014/main" id="{E2FF3993-08D5-4F21-86A6-7BC3F16FEFA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258175" y="3209925"/>
              <a:ext cx="3057525" cy="35204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2100" b="1">
                  <a:solidFill>
                    <a:srgbClr val="245B42"/>
                  </a:solidFill>
                  <a:latin typeface="Arial Unicode MS"/>
                  <a:ea typeface="Arial Unicode MS"/>
                  <a:cs typeface="Arial Unicode MS"/>
                </a:rPr>
                <a:t>工具与服务</a:t>
              </a:r>
            </a:p>
          </p:txBody>
        </p:sp>
        <p:sp>
          <p:nvSpPr>
            <p:cNvPr id="25" name="p16-text-395">
              <a:extLst xmlns:a="http://schemas.openxmlformats.org/drawingml/2006/main">
                <a:ext uri="{FF2B5EF4-FFF2-40B4-BE49-F238E27FC236}">
                  <a16:creationId xmlns:a16="http://schemas.microsoft.com/office/drawing/2014/main" id="{2DA20293-6797-41BF-B153-AAF241FCC42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258175" y="3743325"/>
              <a:ext cx="3057525" cy="3143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图像生成与版式导出</a:t>
              </a:r>
            </a:p>
          </p:txBody>
        </p:sp>
        <p:sp>
          <p:nvSpPr>
            <p:cNvPr id="26" name="p16-text-396">
              <a:extLst xmlns:a="http://schemas.openxmlformats.org/drawingml/2006/main">
                <a:ext uri="{FF2B5EF4-FFF2-40B4-BE49-F238E27FC236}">
                  <a16:creationId xmlns:a16="http://schemas.microsoft.com/office/drawing/2014/main" id="{9F5344A4-0367-4A20-B164-F53BBE41079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258175" y="4100513"/>
              <a:ext cx="3057525" cy="3143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分渠道文案创作</a:t>
              </a:r>
            </a:p>
          </p:txBody>
        </p:sp>
        <p:sp>
          <p:nvSpPr>
            <p:cNvPr id="27" name="p16-text-397">
              <a:extLst xmlns:a="http://schemas.openxmlformats.org/drawingml/2006/main">
                <a:ext uri="{FF2B5EF4-FFF2-40B4-BE49-F238E27FC236}">
                  <a16:creationId xmlns:a16="http://schemas.microsoft.com/office/drawing/2014/main" id="{EC5672B2-9D69-4E39-9FCE-129DBECCF0C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258175" y="4457700"/>
              <a:ext cx="3057525" cy="3143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商品问答与回复建议</a:t>
              </a:r>
            </a:p>
          </p:txBody>
        </p:sp>
        <p:sp>
          <p:nvSpPr>
            <p:cNvPr id="28" name="p16-text-398">
              <a:extLst xmlns:a="http://schemas.openxmlformats.org/drawingml/2006/main">
                <a:ext uri="{FF2B5EF4-FFF2-40B4-BE49-F238E27FC236}">
                  <a16:creationId xmlns:a16="http://schemas.microsoft.com/office/drawing/2014/main" id="{FFA39FA9-48E3-446F-8B2A-980CB512930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258175" y="4814888"/>
              <a:ext cx="3057525" cy="3143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875" b="0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一致性规则检查</a:t>
              </a:r>
            </a:p>
          </p:txBody>
        </p:sp>
        <p:sp>
          <p:nvSpPr>
            <p:cNvPr id="29" name="p16-rect-399">
              <a:extLst xmlns:a="http://schemas.openxmlformats.org/drawingml/2006/main">
                <a:ext uri="{FF2B5EF4-FFF2-40B4-BE49-F238E27FC236}">
                  <a16:creationId xmlns:a16="http://schemas.microsoft.com/office/drawing/2014/main" id="{1C74379B-8B6F-4D05-87C2-219E755C234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05250" y="4114800"/>
              <a:ext cx="266700" cy="285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9A3D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30" name="p16-chevron-400">
              <a:extLst xmlns:a="http://schemas.openxmlformats.org/drawingml/2006/main">
                <a:ext uri="{FF2B5EF4-FFF2-40B4-BE49-F238E27FC236}">
                  <a16:creationId xmlns:a16="http://schemas.microsoft.com/office/drawing/2014/main" id="{C11EE120-3CF8-4B01-9127-8D5C7C275CA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43375" y="4048125"/>
              <a:ext cx="123825" cy="161925"/>
            </a:xfrm>
            <a:prstGeom xmlns:a="http://schemas.openxmlformats.org/drawingml/2006/main" prst="chevron">
              <a:avLst/>
            </a:prstGeom>
            <a:solidFill xmlns:a="http://schemas.openxmlformats.org/drawingml/2006/main">
              <a:srgbClr val="E59A3D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31" name="p16-rect-401">
              <a:extLst xmlns:a="http://schemas.openxmlformats.org/drawingml/2006/main">
                <a:ext uri="{FF2B5EF4-FFF2-40B4-BE49-F238E27FC236}">
                  <a16:creationId xmlns:a16="http://schemas.microsoft.com/office/drawing/2014/main" id="{3E3E2DE0-14BC-407C-8C8C-20A8BBF2D17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39050" y="4114800"/>
              <a:ext cx="266700" cy="285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59A3D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32" name="p16-chevron-402">
              <a:extLst xmlns:a="http://schemas.openxmlformats.org/drawingml/2006/main">
                <a:ext uri="{FF2B5EF4-FFF2-40B4-BE49-F238E27FC236}">
                  <a16:creationId xmlns:a16="http://schemas.microsoft.com/office/drawing/2014/main" id="{222200F6-1DA8-41A0-B31C-0D87E5783DD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77175" y="4048125"/>
              <a:ext cx="123825" cy="161925"/>
            </a:xfrm>
            <a:prstGeom xmlns:a="http://schemas.openxmlformats.org/drawingml/2006/main" prst="chevron">
              <a:avLst/>
            </a:prstGeom>
            <a:solidFill xmlns:a="http://schemas.openxmlformats.org/drawingml/2006/main">
              <a:srgbClr val="E59A3D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33" name="p16-text-403">
              <a:extLst xmlns:a="http://schemas.openxmlformats.org/drawingml/2006/main">
                <a:ext uri="{FF2B5EF4-FFF2-40B4-BE49-F238E27FC236}">
                  <a16:creationId xmlns:a16="http://schemas.microsoft.com/office/drawing/2014/main" id="{8AA46704-AFCD-4AAD-9359-5E25F687F53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5772150"/>
              <a:ext cx="10782300" cy="27660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650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当前：React + TypeScript + Vite；本地会话资料、AI 预写内容、规则与静态 PNG。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071388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2" name="模板 / 页眉页脚"/>
          <p:cNvGrpSpPr/>
          <p:nvPr/>
        </p:nvGrpSpPr>
        <p:grpSpPr>
          <ns1:xfrm xmlns:ns1="http://schemas.openxmlformats.org/drawingml/2006/main">
            <ns1:off x="685800" y="371475"/>
            <ns1:ext cx="10820400" cy="6334887"/>
            <ns1:chOff x="685800" y="371475"/>
            <ns1:chExt cx="10820400" cy="6334887"/>
          </ns1:xfrm>
        </p:grpSpPr>
        <p:sp>
          <p:nvSpPr>
            <p:cNvPr id="11" name="p17-rect-404">
              <a:extLst xmlns:a="http://schemas.openxmlformats.org/drawingml/2006/main">
                <a:ext uri="{FF2B5EF4-FFF2-40B4-BE49-F238E27FC236}">
                  <a16:creationId xmlns:a16="http://schemas.microsoft.com/office/drawing/2014/main" id="{77D12628-0079-4EAB-9FA8-237DE9D60AF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371475"/>
              <a:ext cx="66675" cy="2190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245B42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" name="p17-text-405">
              <a:extLst xmlns:a="http://schemas.openxmlformats.org/drawingml/2006/main">
                <a:ext uri="{FF2B5EF4-FFF2-40B4-BE49-F238E27FC236}">
                  <a16:creationId xmlns:a16="http://schemas.microsoft.com/office/drawing/2014/main" id="{E5965D43-4A80-45A1-A10F-BAA2FB2D616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85825" y="390525"/>
              <a:ext cx="8239125" cy="20116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附录 C / 演示案例与来源</a:t>
              </a:r>
            </a:p>
          </p:txBody>
        </p:sp>
        <p:sp>
          <p:nvSpPr>
            <p:cNvPr id="3" name="p17-text-406">
              <a:extLst xmlns:a="http://schemas.openxmlformats.org/drawingml/2006/main">
                <a:ext uri="{FF2B5EF4-FFF2-40B4-BE49-F238E27FC236}">
                  <a16:creationId xmlns:a16="http://schemas.microsoft.com/office/drawing/2014/main" id="{008A0A3E-513C-4960-811B-2A862937E91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82200" y="381000"/>
              <a:ext cx="1524000" cy="21374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乡创引擎</a:t>
              </a:r>
            </a:p>
          </p:txBody>
        </p:sp>
        <p:sp>
          <p:nvSpPr>
            <p:cNvPr id="4" name="p17-rect-407">
              <a:extLst xmlns:a="http://schemas.openxmlformats.org/drawingml/2006/main">
                <a:ext uri="{FF2B5EF4-FFF2-40B4-BE49-F238E27FC236}">
                  <a16:creationId xmlns:a16="http://schemas.microsoft.com/office/drawing/2014/main" id="{3422DF38-FC9A-4230-8D88-51CE87D8BEF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6381750"/>
              <a:ext cx="10820400" cy="9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DDCC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5" name="p17-text-408">
              <a:extLst xmlns:a="http://schemas.openxmlformats.org/drawingml/2006/main">
                <a:ext uri="{FF2B5EF4-FFF2-40B4-BE49-F238E27FC236}">
                  <a16:creationId xmlns:a16="http://schemas.microsoft.com/office/drawing/2014/main" id="{19B8B7B7-E6F0-4888-8B89-836F0D99F29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6505575"/>
              <a:ext cx="9429750" cy="16973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答辩附录</a:t>
              </a:r>
            </a:p>
          </p:txBody>
        </p:sp>
        <p:sp>
          <p:nvSpPr>
            <p:cNvPr id="6" name="p17-text-409">
              <a:extLst xmlns:a="http://schemas.openxmlformats.org/drawingml/2006/main">
                <a:ext uri="{FF2B5EF4-FFF2-40B4-BE49-F238E27FC236}">
                  <a16:creationId xmlns:a16="http://schemas.microsoft.com/office/drawing/2014/main" id="{828FA4B6-9F00-4EB9-B95B-76144F510B7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029950" y="6467475"/>
              <a:ext cx="476250" cy="23888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17</a:t>
              </a:r>
            </a:p>
          </p:txBody>
        </p:sp>
      </p:grpSp>
      <p:grpSp>
        <p:nvGrpSpPr>
          <p:cNvPr id="13" name="页面标题"/>
          <p:cNvGrpSpPr/>
          <p:nvPr/>
        </p:nvGrpSpPr>
        <p:grpSpPr>
          <ns1:xfrm xmlns:ns1="http://schemas.openxmlformats.org/drawingml/2006/main">
            <ns1:off x="685800" y="866775"/>
            <ns1:ext cx="10820400" cy="817055"/>
            <ns1:chOff x="685800" y="866775"/>
            <ns1:chExt cx="10820400" cy="817055"/>
          </ns1:xfrm>
        </p:grpSpPr>
        <p:sp>
          <p:nvSpPr>
            <p:cNvPr id="7" name="p17-text-410">
              <a:extLst xmlns:a="http://schemas.openxmlformats.org/drawingml/2006/main">
                <a:ext uri="{FF2B5EF4-FFF2-40B4-BE49-F238E27FC236}">
                  <a16:creationId xmlns:a16="http://schemas.microsoft.com/office/drawing/2014/main" id="{B6DD9769-88AC-431C-8B7B-34DB28C0847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866775"/>
              <a:ext cx="10820400" cy="55321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陈叔这次卖什么，素材从哪里来</a:t>
              </a:r>
            </a:p>
          </p:txBody>
        </p:sp>
        <p:sp>
          <p:nvSpPr>
            <p:cNvPr id="8" name="p17-text-411">
              <a:extLst xmlns:a="http://schemas.openxmlformats.org/drawingml/2006/main">
                <a:ext uri="{FF2B5EF4-FFF2-40B4-BE49-F238E27FC236}">
                  <a16:creationId xmlns:a16="http://schemas.microsoft.com/office/drawing/2014/main" id="{2E1FC5C5-7750-4A93-9EC8-7133E997D07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5325" y="1476375"/>
              <a:ext cx="10801350" cy="20745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主讲人物、商品资料、发布情境和客户询问统一按 Mock 管理</a:t>
              </a:r>
            </a:p>
          </p:txBody>
        </p:sp>
      </p:grp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ADDB6D-4128-4EC3-800C-781D22103099}"/>
              </a:ext>
            </a:extLst>
          </p:cNvPr>
          <p:cNvGraphicFramePr/>
          <p:nvPr/>
        </p:nvGraphicFramePr>
        <p:xfrm>
          <a:off xmlns:a="http://schemas.openxmlformats.org/drawingml/2006/main" x="723900" y="2057400"/>
          <a:ext xmlns:a="http://schemas.openxmlformats.org/drawingml/2006/main" cx="10782300" cy="3429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76500"/>
                <a:gridCol w="8305800"/>
              </a:tblGrid>
              <a:tr h="5715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EF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资料或素材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CC"/>
                      </a:solidFill>
                      <a:prstDash val="solid"/>
                    </a:lnL>
                    <a:lnR w="9525">
                      <a:solidFill>
                        <a:srgbClr val="D6DDCC"/>
                      </a:solidFill>
                      <a:prstDash val="solid"/>
                    </a:lnR>
                    <a:lnT w="9525">
                      <a:solidFill>
                        <a:srgbClr val="D6DDCC"/>
                      </a:solidFill>
                      <a:prstDash val="solid"/>
                    </a:lnT>
                    <a:lnB w="9525">
                      <a:solidFill>
                        <a:srgbClr val="D6DDCC"/>
                      </a:solidFill>
                      <a:prstDash val="solid"/>
                    </a:lnB>
                    <a:solidFill>
                      <a:srgbClr val="245B42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EF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本次采用内容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CC"/>
                      </a:solidFill>
                      <a:prstDash val="solid"/>
                    </a:lnR>
                    <a:lnT w="9525">
                      <a:solidFill>
                        <a:srgbClr val="D6DDCC"/>
                      </a:solidFill>
                      <a:prstDash val="solid"/>
                    </a:lnT>
                    <a:lnB w="9525">
                      <a:solidFill>
                        <a:srgbClr val="D6DDCC"/>
                      </a:solidFill>
                      <a:prstDash val="solid"/>
                    </a:lnB>
                    <a:solidFill>
                      <a:srgbClr val="245B42"/>
                    </a:solidFill>
                  </a:tcPr>
                </a:tc>
              </a:tr>
              <a:tr h="5715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3C3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陈叔商品档案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CC"/>
                      </a:solidFill>
                      <a:prstDash val="solid"/>
                    </a:lnL>
                    <a:lnR w="9525">
                      <a:solidFill>
                        <a:srgbClr val="D6DDCC"/>
                      </a:solidFill>
                      <a:prstDash val="solid"/>
                    </a:lnR>
                    <a:lnB w="9525">
                      <a:solidFill>
                        <a:srgbClr val="D6DDCC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3C3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广东肇庆 · 贡柑家庭装 · 3 kg / 盒 · ¥59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CC"/>
                      </a:solidFill>
                      <a:prstDash val="solid"/>
                    </a:lnR>
                    <a:lnB w="9525">
                      <a:solidFill>
                        <a:srgbClr val="D6DDCC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</a:tr>
              <a:tr h="5715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3C3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数量与交付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CC"/>
                      </a:solidFill>
                      <a:prstDash val="solid"/>
                    </a:lnL>
                    <a:lnR w="9525">
                      <a:solidFill>
                        <a:srgbClr val="D6DDCC"/>
                      </a:solidFill>
                      <a:prstDash val="solid"/>
                    </a:lnR>
                    <a:lnB w="9525">
                      <a:solidFill>
                        <a:srgbClr val="D6DDCC"/>
                      </a:solidFill>
                      <a:prstDash val="solid"/>
                    </a:lnB>
                    <a:solidFill>
                      <a:srgbClr val="E8EEDD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3C3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60 盒 · 11 月中旬 · 本地自提，确认后约次日下午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CC"/>
                      </a:solidFill>
                      <a:prstDash val="solid"/>
                    </a:lnR>
                    <a:lnB w="9525">
                      <a:solidFill>
                        <a:srgbClr val="D6DDCC"/>
                      </a:solidFill>
                      <a:prstDash val="solid"/>
                    </a:lnB>
                    <a:solidFill>
                      <a:srgbClr val="E8EEDD"/>
                    </a:solidFill>
                  </a:tcPr>
                </a:tc>
              </a:tr>
              <a:tr h="5715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3C3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图片与文案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CC"/>
                      </a:solidFill>
                      <a:prstDash val="solid"/>
                    </a:lnL>
                    <a:lnR w="9525">
                      <a:solidFill>
                        <a:srgbClr val="D6DDCC"/>
                      </a:solidFill>
                      <a:prstDash val="solid"/>
                    </a:lnR>
                    <a:lnB w="9525">
                      <a:solidFill>
                        <a:srgbClr val="D6DDCC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3C3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AI 提前生成场景图、创作完整稿；本套图卡重新排版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CC"/>
                      </a:solidFill>
                      <a:prstDash val="solid"/>
                    </a:lnR>
                    <a:lnB w="9525">
                      <a:solidFill>
                        <a:srgbClr val="D6DDCC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</a:tr>
              <a:tr h="5715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3C3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界面与咨询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CC"/>
                      </a:solidFill>
                      <a:prstDash val="solid"/>
                    </a:lnL>
                    <a:lnR w="9525">
                      <a:solidFill>
                        <a:srgbClr val="D6DDCC"/>
                      </a:solidFill>
                      <a:prstDash val="solid"/>
                    </a:lnR>
                    <a:lnB w="9525">
                      <a:solidFill>
                        <a:srgbClr val="D6DDCC"/>
                      </a:solidFill>
                      <a:prstDash val="solid"/>
                    </a:lnB>
                    <a:solidFill>
                      <a:srgbClr val="E8EEDD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3C3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按现有字段、按钮和模拟客服重排；发布与询问为模拟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CC"/>
                      </a:solidFill>
                      <a:prstDash val="solid"/>
                    </a:lnR>
                    <a:lnB w="9525">
                      <a:solidFill>
                        <a:srgbClr val="D6DDCC"/>
                      </a:solidFill>
                      <a:prstDash val="solid"/>
                    </a:lnB>
                    <a:solidFill>
                      <a:srgbClr val="E8EEDD"/>
                    </a:solidFill>
                  </a:tcPr>
                </a:tc>
              </a:tr>
              <a:tr h="5715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3C3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其他案例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CC"/>
                      </a:solidFill>
                      <a:prstDash val="solid"/>
                    </a:lnL>
                    <a:lnR w="9525">
                      <a:solidFill>
                        <a:srgbClr val="D6DDCC"/>
                      </a:solidFill>
                      <a:prstDash val="solid"/>
                    </a:lnR>
                    <a:lnB w="9525">
                      <a:solidFill>
                        <a:srgbClr val="D6DDCC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53C3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广东茂名荔枝：2.5 kg / 盒 ¥129；英德红茶：100 g / 盒 ¥79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CC"/>
                      </a:solidFill>
                      <a:prstDash val="solid"/>
                    </a:lnR>
                    <a:lnB w="9525">
                      <a:solidFill>
                        <a:srgbClr val="D6DDCC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</a:tr>
            </a:tbl>
          </a:graphicData>
        </a:graphic>
      </p:graphicFrame>
      <p:sp>
        <p:nvSpPr>
          <p:cNvPr id="10" name="p17-text-412">
            <a:extLst xmlns:a="http://schemas.openxmlformats.org/drawingml/2006/main">
              <a:ext uri="{FF2B5EF4-FFF2-40B4-BE49-F238E27FC236}">
                <a16:creationId xmlns:a16="http://schemas.microsoft.com/office/drawing/2014/main" id="{24B3B460-8FA6-4F40-9273-48C08F69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10782300" cy="276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650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650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650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650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650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650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650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650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650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rPr>
              <a:t>图内不加 AI 文字水印；来源记录保留在附录、备注和交付说明。</a:t>
            </a:r>
          </a:p>
        </p:txBody>
      </p:sp>
    </p:spTree>
    <p:extLst>
      <p:ext uri="{BB962C8B-B14F-4D97-AF65-F5344CB8AC3E}">
        <p14:creationId xmlns:p14="http://schemas.microsoft.com/office/powerpoint/2010/main" val="193864848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2" name="模板 / 页眉页脚"/>
          <p:cNvGrpSpPr/>
          <p:nvPr/>
        </p:nvGrpSpPr>
        <p:grpSpPr>
          <ns1:xfrm xmlns:ns1="http://schemas.openxmlformats.org/drawingml/2006/main">
            <ns1:off x="685800" y="371475"/>
            <ns1:ext cx="10820400" cy="6334887"/>
            <ns1:chOff x="685800" y="371475"/>
            <ns1:chExt cx="10820400" cy="6334887"/>
          </ns1:xfrm>
        </p:grpSpPr>
        <p:sp>
          <p:nvSpPr>
            <p:cNvPr id="11" name="p18-rect-413">
              <a:extLst xmlns:a="http://schemas.openxmlformats.org/drawingml/2006/main">
                <a:ext uri="{FF2B5EF4-FFF2-40B4-BE49-F238E27FC236}">
                  <a16:creationId xmlns:a16="http://schemas.microsoft.com/office/drawing/2014/main" id="{CB49755C-80BE-4BC5-8469-E144C4813EB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371475"/>
              <a:ext cx="66675" cy="2190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245B42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" name="p18-text-414">
              <a:extLst xmlns:a="http://schemas.openxmlformats.org/drawingml/2006/main">
                <a:ext uri="{FF2B5EF4-FFF2-40B4-BE49-F238E27FC236}">
                  <a16:creationId xmlns:a16="http://schemas.microsoft.com/office/drawing/2014/main" id="{69729826-8871-48A8-B9AA-1B8D0BB9DFF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85825" y="390525"/>
              <a:ext cx="8239125" cy="20116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00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附录 D / 试点与商业验证</a:t>
              </a:r>
            </a:p>
          </p:txBody>
        </p:sp>
        <p:sp>
          <p:nvSpPr>
            <p:cNvPr id="3" name="p18-text-415">
              <a:extLst xmlns:a="http://schemas.openxmlformats.org/drawingml/2006/main">
                <a:ext uri="{FF2B5EF4-FFF2-40B4-BE49-F238E27FC236}">
                  <a16:creationId xmlns:a16="http://schemas.microsoft.com/office/drawing/2014/main" id="{1006C4EF-DF49-4532-B037-2259482CA70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82200" y="381000"/>
              <a:ext cx="1524000" cy="21374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r">
                <a:def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75" b="1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乡创引擎</a:t>
              </a:r>
            </a:p>
          </p:txBody>
        </p:sp>
        <p:sp>
          <p:nvSpPr>
            <p:cNvPr id="4" name="p18-rect-416">
              <a:extLst xmlns:a="http://schemas.openxmlformats.org/drawingml/2006/main">
                <a:ext uri="{FF2B5EF4-FFF2-40B4-BE49-F238E27FC236}">
                  <a16:creationId xmlns:a16="http://schemas.microsoft.com/office/drawing/2014/main" id="{F5DB6ED6-A400-4462-9F01-071FF1FF7EF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6381750"/>
              <a:ext cx="10820400" cy="95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DDCC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5" name="p18-text-417">
              <a:extLst xmlns:a="http://schemas.openxmlformats.org/drawingml/2006/main">
                <a:ext uri="{FF2B5EF4-FFF2-40B4-BE49-F238E27FC236}">
                  <a16:creationId xmlns:a16="http://schemas.microsoft.com/office/drawing/2014/main" id="{209BA1E3-146E-4F33-AEB5-198D0D0DFCA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6505575"/>
              <a:ext cx="9429750" cy="16973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013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答辩附录</a:t>
              </a:r>
            </a:p>
          </p:txBody>
        </p:sp>
        <p:sp>
          <p:nvSpPr>
            <p:cNvPr id="6" name="p18-text-418">
              <a:extLst xmlns:a="http://schemas.openxmlformats.org/drawingml/2006/main">
                <a:ext uri="{FF2B5EF4-FFF2-40B4-BE49-F238E27FC236}">
                  <a16:creationId xmlns:a16="http://schemas.microsoft.com/office/drawing/2014/main" id="{8091E550-1705-4CC1-B4DA-F3FF8D98BB0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029950" y="6467475"/>
              <a:ext cx="476250" cy="23888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r">
                <a:def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425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18</a:t>
              </a:r>
            </a:p>
          </p:txBody>
        </p:sp>
      </p:grpSp>
      <p:grpSp>
        <p:nvGrpSpPr>
          <p:cNvPr id="13" name="页面标题"/>
          <p:cNvGrpSpPr/>
          <p:nvPr/>
        </p:nvGrpSpPr>
        <p:grpSpPr>
          <ns1:xfrm xmlns:ns1="http://schemas.openxmlformats.org/drawingml/2006/main">
            <ns1:off x="685800" y="866775"/>
            <ns1:ext cx="10820400" cy="817055"/>
            <ns1:chOff x="685800" y="866775"/>
            <ns1:chExt cx="10820400" cy="817055"/>
          </ns1:xfrm>
        </p:grpSpPr>
        <p:sp>
          <p:nvSpPr>
            <p:cNvPr id="7" name="p18-text-419">
              <a:extLst xmlns:a="http://schemas.openxmlformats.org/drawingml/2006/main">
                <a:ext uri="{FF2B5EF4-FFF2-40B4-BE49-F238E27FC236}">
                  <a16:creationId xmlns:a16="http://schemas.microsoft.com/office/drawing/2014/main" id="{A7528A8B-760E-4E63-B9D9-AF4EBF5B170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866775"/>
              <a:ext cx="10820400" cy="55321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3300" b="1">
                  <a:solidFill>
                    <a:srgbClr val="253C31"/>
                  </a:solidFill>
                  <a:latin typeface="Arial Unicode MS"/>
                  <a:ea typeface="Arial Unicode MS"/>
                  <a:cs typeface="Arial Unicode MS"/>
                </a:rPr>
                <a:t>试点与商业验证，分别怎样记录</a:t>
              </a:r>
            </a:p>
          </p:txBody>
        </p:sp>
        <p:sp>
          <p:nvSpPr>
            <p:cNvPr id="8" name="p18-text-420">
              <a:extLst xmlns:a="http://schemas.openxmlformats.org/drawingml/2006/main">
                <a:ext uri="{FF2B5EF4-FFF2-40B4-BE49-F238E27FC236}">
                  <a16:creationId xmlns:a16="http://schemas.microsoft.com/office/drawing/2014/main" id="{E99B95B0-FE43-4717-9A5A-59D32542468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5325" y="1476375"/>
              <a:ext cx="10801350" cy="20745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defPPr>
              <a:lvl1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1pPr>
              <a:lvl2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2pPr>
              <a:lvl3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3pPr>
              <a:lvl4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4pPr>
              <a:lvl5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5pPr>
              <a:lvl6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6pPr>
              <a:lvl7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7pPr>
              <a:lvl8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8pPr>
              <a:lvl9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lvl9pPr>
            </a:lstStyle>
            <a:p xmlns:a="http://schemas.openxmlformats.org/drawingml/2006/main">
              <a:pPr algn="l">
                <a:def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defRPr>
              </a:pPr>
              <a:r>
                <a:rPr sz="1238" b="0">
                  <a:solidFill>
                    <a:srgbClr val="748470"/>
                  </a:solidFill>
                  <a:latin typeface="Arial Unicode MS"/>
                  <a:ea typeface="Arial Unicode MS"/>
                  <a:cs typeface="Arial Unicode MS"/>
                </a:rPr>
                <a:t>把过程、发布效果与付费意愿分开记录</a:t>
              </a:r>
            </a:p>
          </p:txBody>
        </p:sp>
      </p:grp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5BADAD-CA5D-440E-8622-6A2E402CE5D9}"/>
              </a:ext>
            </a:extLst>
          </p:cNvPr>
          <p:cNvGraphicFramePr/>
          <p:nvPr/>
        </p:nvGraphicFramePr>
        <p:xfrm>
          <a:off xmlns:a="http://schemas.openxmlformats.org/drawingml/2006/main" x="723900" y="2057400"/>
          <a:ext xmlns:a="http://schemas.openxmlformats.org/drawingml/2006/main" cx="10782300" cy="3486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905000"/>
                <a:gridCol w="4343400"/>
                <a:gridCol w="4533900"/>
              </a:tblGrid>
              <a:tr h="58102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EF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问题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CC"/>
                      </a:solidFill>
                      <a:prstDash val="solid"/>
                    </a:lnL>
                    <a:lnR w="9525">
                      <a:solidFill>
                        <a:srgbClr val="D6DDCC"/>
                      </a:solidFill>
                      <a:prstDash val="solid"/>
                    </a:lnR>
                    <a:lnT w="9525">
                      <a:solidFill>
                        <a:srgbClr val="D6DDCC"/>
                      </a:solidFill>
                      <a:prstDash val="solid"/>
                    </a:lnT>
                    <a:lnB w="9525">
                      <a:solidFill>
                        <a:srgbClr val="D6DDCC"/>
                      </a:solidFill>
                      <a:prstDash val="solid"/>
                    </a:lnB>
                    <a:solidFill>
                      <a:srgbClr val="245B42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EF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拟采集记录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CC"/>
                      </a:solidFill>
                      <a:prstDash val="solid"/>
                    </a:lnR>
                    <a:lnT w="9525">
                      <a:solidFill>
                        <a:srgbClr val="D6DDCC"/>
                      </a:solidFill>
                      <a:prstDash val="solid"/>
                    </a:lnT>
                    <a:lnB w="9525">
                      <a:solidFill>
                        <a:srgbClr val="D6DDCC"/>
                      </a:solidFill>
                      <a:prstDash val="solid"/>
                    </a:lnB>
                    <a:solidFill>
                      <a:srgbClr val="245B42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EF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判断依据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CC"/>
                      </a:solidFill>
                      <a:prstDash val="solid"/>
                    </a:lnR>
                    <a:lnT w="9525">
                      <a:solidFill>
                        <a:srgbClr val="D6DDCC"/>
                      </a:solidFill>
                      <a:prstDash val="solid"/>
                    </a:lnT>
                    <a:lnB w="9525">
                      <a:solidFill>
                        <a:srgbClr val="D6DDCC"/>
                      </a:solidFill>
                      <a:prstDash val="solid"/>
                    </a:lnB>
                    <a:solidFill>
                      <a:srgbClr val="245B42"/>
                    </a:solidFill>
                  </a:tcPr>
                </a:tc>
              </a:tr>
              <a:tr h="58102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C3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农户能否做完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CC"/>
                      </a:solidFill>
                      <a:prstDash val="solid"/>
                    </a:lnL>
                    <a:lnR w="9525">
                      <a:solidFill>
                        <a:srgbClr val="D6DDCC"/>
                      </a:solidFill>
                      <a:prstDash val="solid"/>
                    </a:lnR>
                    <a:lnB w="9525">
                      <a:solidFill>
                        <a:srgbClr val="D6DDCC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C3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完成 / 退出、求助点与代操作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CC"/>
                      </a:solidFill>
                      <a:prstDash val="solid"/>
                    </a:lnR>
                    <a:lnB w="9525">
                      <a:solidFill>
                        <a:srgbClr val="D6DDCC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C3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独立完成率与失败步骤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CC"/>
                      </a:solidFill>
                      <a:prstDash val="solid"/>
                    </a:lnR>
                    <a:lnB w="9525">
                      <a:solidFill>
                        <a:srgbClr val="D6DDCC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</a:tr>
              <a:tr h="58102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C3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素材是否可用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CC"/>
                      </a:solidFill>
                      <a:prstDash val="solid"/>
                    </a:lnL>
                    <a:lnR w="9525">
                      <a:solidFill>
                        <a:srgbClr val="D6DDCC"/>
                      </a:solidFill>
                      <a:prstDash val="solid"/>
                    </a:lnR>
                    <a:lnB w="9525">
                      <a:solidFill>
                        <a:srgbClr val="D6DDCC"/>
                      </a:solidFill>
                      <a:prstDash val="solid"/>
                    </a:lnB>
                    <a:solidFill>
                      <a:srgbClr val="E8EEDD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C3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事实纠正、表达修改、准备时长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CC"/>
                      </a:solidFill>
                      <a:prstDash val="solid"/>
                    </a:lnR>
                    <a:lnB w="9525">
                      <a:solidFill>
                        <a:srgbClr val="D6DDCC"/>
                      </a:solidFill>
                      <a:prstDash val="solid"/>
                    </a:lnB>
                    <a:solidFill>
                      <a:srgbClr val="E8EEDD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C3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修改次数、耗时与发布意愿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CC"/>
                      </a:solidFill>
                      <a:prstDash val="solid"/>
                    </a:lnR>
                    <a:lnB w="9525">
                      <a:solidFill>
                        <a:srgbClr val="D6DDCC"/>
                      </a:solidFill>
                      <a:prstDash val="solid"/>
                    </a:lnB>
                    <a:solidFill>
                      <a:srgbClr val="E8EEDD"/>
                    </a:solidFill>
                  </a:tcPr>
                </a:tc>
              </a:tr>
              <a:tr h="58102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C3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发布是否有效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CC"/>
                      </a:solidFill>
                      <a:prstDash val="solid"/>
                    </a:lnL>
                    <a:lnR w="9525">
                      <a:solidFill>
                        <a:srgbClr val="D6DDCC"/>
                      </a:solidFill>
                      <a:prstDash val="solid"/>
                    </a:lnR>
                    <a:lnB w="9525">
                      <a:solidFill>
                        <a:srgbClr val="D6DDCC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C3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发布后平台记录、咨询与成交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CC"/>
                      </a:solidFill>
                      <a:prstDash val="solid"/>
                    </a:lnR>
                    <a:lnB w="9525">
                      <a:solidFill>
                        <a:srgbClr val="D6DDCC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C3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与准备效率分开评估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CC"/>
                      </a:solidFill>
                      <a:prstDash val="solid"/>
                    </a:lnR>
                    <a:lnB w="9525">
                      <a:solidFill>
                        <a:srgbClr val="D6DDCC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</a:tr>
              <a:tr h="58102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C3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合作社是否愿付费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CC"/>
                      </a:solidFill>
                      <a:prstDash val="solid"/>
                    </a:lnL>
                    <a:lnR w="9525">
                      <a:solidFill>
                        <a:srgbClr val="D6DDCC"/>
                      </a:solidFill>
                      <a:prstDash val="solid"/>
                    </a:lnR>
                    <a:lnB w="9525">
                      <a:solidFill>
                        <a:srgbClr val="D6DDCC"/>
                      </a:solidFill>
                      <a:prstDash val="solid"/>
                    </a:lnB>
                    <a:solidFill>
                      <a:srgbClr val="E8EEDD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C3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服务访谈、报价反馈、购买意向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CC"/>
                      </a:solidFill>
                      <a:prstDash val="solid"/>
                    </a:lnR>
                    <a:lnB w="9525">
                      <a:solidFill>
                        <a:srgbClr val="D6DDCC"/>
                      </a:solidFill>
                      <a:prstDash val="solid"/>
                    </a:lnB>
                    <a:solidFill>
                      <a:srgbClr val="E8EEDD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C3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验证订阅与培训假设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CC"/>
                      </a:solidFill>
                      <a:prstDash val="solid"/>
                    </a:lnR>
                    <a:lnB w="9525">
                      <a:solidFill>
                        <a:srgbClr val="D6DDCC"/>
                      </a:solidFill>
                      <a:prstDash val="solid"/>
                    </a:lnB>
                    <a:solidFill>
                      <a:srgbClr val="E8EEDD"/>
                    </a:solidFill>
                  </a:tcPr>
                </a:tc>
              </a:tr>
              <a:tr h="58102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C3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成本能否覆盖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CC"/>
                      </a:solidFill>
                      <a:prstDash val="solid"/>
                    </a:lnL>
                    <a:lnR w="9525">
                      <a:solidFill>
                        <a:srgbClr val="D6DDCC"/>
                      </a:solidFill>
                      <a:prstDash val="solid"/>
                    </a:lnR>
                    <a:lnB w="9525">
                      <a:solidFill>
                        <a:srgbClr val="D6DDCC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C3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内容维护、人工审核、模型调用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CC"/>
                      </a:solidFill>
                      <a:prstDash val="solid"/>
                    </a:lnR>
                    <a:lnB w="9525">
                      <a:solidFill>
                        <a:srgbClr val="D6DDCC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53C3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按服务户数测算成本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CC"/>
                      </a:solidFill>
                      <a:prstDash val="solid"/>
                    </a:lnR>
                    <a:lnB w="9525">
                      <a:solidFill>
                        <a:srgbClr val="D6DDCC"/>
                      </a:solidFill>
                      <a:prstDash val="solid"/>
                    </a:lnB>
                    <a:solidFill>
                      <a:srgbClr val="FFFEFA"/>
                    </a:solidFill>
                  </a:tcPr>
                </a:tc>
              </a:tr>
            </a:tbl>
          </a:graphicData>
        </a:graphic>
      </p:graphicFrame>
      <p:sp>
        <p:nvSpPr>
          <p:cNvPr id="10" name="p18-text-421">
            <a:extLst xmlns:a="http://schemas.openxmlformats.org/drawingml/2006/main">
              <a:ext uri="{FF2B5EF4-FFF2-40B4-BE49-F238E27FC236}">
                <a16:creationId xmlns:a16="http://schemas.microsoft.com/office/drawing/2014/main" id="{D9B398DD-B2E5-4FA5-AA48-B9C757DA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10782300" cy="276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650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650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650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650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650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650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650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650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650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748470"/>
                </a:solidFill>
                <a:latin typeface="Arial Unicode MS"/>
                <a:ea typeface="Arial Unicode MS"/>
                <a:cs typeface="Arial Unicode MS"/>
              </a:rPr>
              <a:t>试点目标、付费方案与营销效果均需数据验证，答辩时按相应口径说明。</a:t>
            </a:r>
          </a:p>
        </p:txBody>
      </p:sp>
    </p:spTree>
    <p:extLst>
      <p:ext uri="{BB962C8B-B14F-4D97-AF65-F5344CB8AC3E}">
        <p14:creationId xmlns:p14="http://schemas.microsoft.com/office/powerpoint/2010/main" val="12422908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2026-10-19T14:30:14.2300000Z</dcterms:created>
  <dcterms:modified xsi:type="dcterms:W3CDTF">2026-10-19T14:30:14.2300000Z</dcterms:modified>
</coreProperties>
</file>